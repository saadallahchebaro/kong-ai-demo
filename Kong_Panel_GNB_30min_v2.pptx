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  <p:sldMasterId id="2147483696" r:id="rId2"/>
    <p:sldMasterId id="2147483697" r:id="rId3"/>
  </p:sldMasterIdLst>
  <p:notesMasterIdLst>
    <p:notesMasterId r:id="rId33"/>
  </p:notesMasterIdLst>
  <p:sldIdLst>
    <p:sldId id="272" r:id="rId4"/>
    <p:sldId id="355" r:id="rId5"/>
    <p:sldId id="274" r:id="rId6"/>
    <p:sldId id="343" r:id="rId7"/>
    <p:sldId id="332" r:id="rId8"/>
    <p:sldId id="318" r:id="rId9"/>
    <p:sldId id="345" r:id="rId10"/>
    <p:sldId id="356" r:id="rId11"/>
    <p:sldId id="346" r:id="rId12"/>
    <p:sldId id="354" r:id="rId13"/>
    <p:sldId id="353" r:id="rId14"/>
    <p:sldId id="347" r:id="rId15"/>
    <p:sldId id="340" r:id="rId16"/>
    <p:sldId id="358" r:id="rId17"/>
    <p:sldId id="359" r:id="rId18"/>
    <p:sldId id="360" r:id="rId19"/>
    <p:sldId id="361" r:id="rId20"/>
    <p:sldId id="362" r:id="rId21"/>
    <p:sldId id="341" r:id="rId22"/>
    <p:sldId id="344" r:id="rId23"/>
    <p:sldId id="348" r:id="rId24"/>
    <p:sldId id="352" r:id="rId25"/>
    <p:sldId id="363" r:id="rId26"/>
    <p:sldId id="276" r:id="rId27"/>
    <p:sldId id="296" r:id="rId28"/>
    <p:sldId id="298" r:id="rId29"/>
    <p:sldId id="299" r:id="rId30"/>
    <p:sldId id="302" r:id="rId31"/>
    <p:sldId id="349" r:id="rId3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  <p:embeddedFont>
      <p:font typeface="Space Grotesk"/>
      <p:regular r:id="rId42"/>
      <p:bold r:id="rId43"/>
    </p:embeddedFont>
    <p:embeddedFont>
      <p:font typeface="Space Grotesk Medium" pitchFamily="2" charset="77"/>
      <p:regular r:id="rId44"/>
      <p:bold r:id="rId45"/>
    </p:embeddedFont>
    <p:embeddedFont>
      <p:font typeface="Urbanist" panose="020B0A04040200000203" pitchFamily="34" charset="77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Opening" id="{E0E2715B-8645-453D-A6A6-15EBD24B4F3B}">
          <p14:sldIdLst>
            <p14:sldId id="272"/>
            <p14:sldId id="355"/>
            <p14:sldId id="274"/>
          </p14:sldIdLst>
        </p14:section>
        <p14:section name="1 The story" id="{46044BF8-BB8C-47DB-B526-3BC559EF2C9E}">
          <p14:sldIdLst>
            <p14:sldId id="343"/>
            <p14:sldId id="332"/>
            <p14:sldId id="318"/>
            <p14:sldId id="345"/>
            <p14:sldId id="356"/>
          </p14:sldIdLst>
        </p14:section>
        <p14:section name="2 How Kong meets it" id="{1653E72E-4CB6-46DC-9919-1AE8C206DF9C}">
          <p14:sldIdLst>
            <p14:sldId id="346"/>
            <p14:sldId id="354"/>
            <p14:sldId id="353"/>
            <p14:sldId id="347"/>
          </p14:sldIdLst>
        </p14:section>
        <p14:section name="3 Proof" id="{4C6A0407-FE06-490F-8C9A-731465186797}">
          <p14:sldIdLst>
            <p14:sldId id="340"/>
            <p14:sldId id="358"/>
            <p14:sldId id="359"/>
            <p14:sldId id="360"/>
            <p14:sldId id="361"/>
            <p14:sldId id="362"/>
            <p14:sldId id="341"/>
            <p14:sldId id="344"/>
            <p14:sldId id="348"/>
            <p14:sldId id="352"/>
          </p14:sldIdLst>
        </p14:section>
        <p14:section name="Close" id="{15A89F06-11D8-4AB6-9497-82890781B7FA}">
          <p14:sldIdLst>
            <p14:sldId id="363"/>
            <p14:sldId id="276"/>
          </p14:sldIdLst>
        </p14:section>
        <p14:section name="Appendix" id="{D96BFC75-7E37-46D3-9855-3817AF618621}">
          <p14:sldIdLst>
            <p14:sldId id="296"/>
            <p14:sldId id="298"/>
            <p14:sldId id="299"/>
            <p14:sldId id="302"/>
            <p14:sldId id="349"/>
          </p14:sldIdLst>
        </p14:section>
        <p14:section name="Appendix · cut from the 30-min flow" id="{E5112ED2-73E5-43BD-88DB-4158A0617BA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2"/>
    <p:restoredTop sz="87847"/>
  </p:normalViewPr>
  <p:slideViewPr>
    <p:cSldViewPr snapToGrid="0">
      <p:cViewPr varScale="1">
        <p:scale>
          <a:sx n="122" d="100"/>
          <a:sy n="122" d="100"/>
        </p:scale>
        <p:origin x="9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6.fntdata"/><Relationship Id="rId21" Type="http://schemas.openxmlformats.org/officeDocument/2006/relationships/slide" Target="slides/slide18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7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1">
  <p:cSld name="CUSTOM_6_1">
    <p:bg>
      <p:bgPr>
        <a:solidFill>
          <a:srgbClr val="00140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-1950" y="0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0014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57;p1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1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/>
          <p:nvPr/>
        </p:nvSpPr>
        <p:spPr>
          <a:xfrm>
            <a:off x="324250" y="324353"/>
            <a:ext cx="1567800" cy="658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8601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13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" name="Google Shape;69;p13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" name="Google Shape;70;p13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3" name="Google Shape;73;p1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3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8601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25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3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3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image25.png"/>
          <p:cNvPicPr preferRelativeResize="0"/>
          <p:nvPr/>
        </p:nvPicPr>
        <p:blipFill rotWithShape="1">
          <a:blip r:embed="rId2">
            <a:alphaModFix/>
          </a:blip>
          <a:srcRect l="26231" t="41206" r="2796" b="21308"/>
          <a:stretch/>
        </p:blipFill>
        <p:spPr>
          <a:xfrm flipH="1">
            <a:off x="328800" y="330700"/>
            <a:ext cx="8486400" cy="44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325525" y="1675500"/>
            <a:ext cx="8497500" cy="1792500"/>
          </a:xfrm>
          <a:prstGeom prst="rect">
            <a:avLst/>
          </a:prstGeom>
          <a:solidFill>
            <a:srgbClr val="001408">
              <a:alpha val="80000"/>
            </a:srgbClr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23150" y="2014350"/>
            <a:ext cx="8486400" cy="1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a bold, compelling statement about what the company wants to </a:t>
            </a:r>
            <a:r>
              <a:rPr lang="en" sz="3600"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achieve.</a:t>
            </a:r>
            <a:endParaRPr sz="3600" b="1">
              <a:solidFill>
                <a:srgbClr val="CC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23150" y="33717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Our mission</a:t>
            </a:r>
            <a:endParaRPr b="1">
              <a:solidFill>
                <a:srgbClr val="CC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 3 columns">
  <p:cSld name="Ca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161050" y="323151"/>
            <a:ext cx="2834700" cy="14997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1" name="Google Shape;111;p16"/>
          <p:cNvSpPr/>
          <p:nvPr/>
        </p:nvSpPr>
        <p:spPr>
          <a:xfrm>
            <a:off x="3161050" y="1821901"/>
            <a:ext cx="2834700" cy="14997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2" name="Google Shape;112;p16"/>
          <p:cNvSpPr/>
          <p:nvPr/>
        </p:nvSpPr>
        <p:spPr>
          <a:xfrm>
            <a:off x="3161050" y="3324551"/>
            <a:ext cx="2834700" cy="14997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3" name="Google Shape;113;p16"/>
          <p:cNvSpPr/>
          <p:nvPr/>
        </p:nvSpPr>
        <p:spPr>
          <a:xfrm>
            <a:off x="5987150" y="323150"/>
            <a:ext cx="2834700" cy="29985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4" name="Google Shape;114;p16"/>
          <p:cNvSpPr/>
          <p:nvPr/>
        </p:nvSpPr>
        <p:spPr>
          <a:xfrm>
            <a:off x="5989550" y="3321600"/>
            <a:ext cx="2832300" cy="1505100"/>
          </a:xfrm>
          <a:prstGeom prst="roundRect">
            <a:avLst>
              <a:gd name="adj" fmla="val 0"/>
            </a:avLst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2"/>
          </p:nvPr>
        </p:nvSpPr>
        <p:spPr>
          <a:xfrm>
            <a:off x="6191250" y="1033400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6"/>
          <p:cNvSpPr>
            <a:spLocks noGrp="1"/>
          </p:cNvSpPr>
          <p:nvPr>
            <p:ph type="pic" idx="3"/>
          </p:nvPr>
        </p:nvSpPr>
        <p:spPr>
          <a:xfrm>
            <a:off x="7465172" y="1033400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6"/>
          <p:cNvSpPr>
            <a:spLocks noGrp="1"/>
          </p:cNvSpPr>
          <p:nvPr>
            <p:ph type="pic" idx="4"/>
          </p:nvPr>
        </p:nvSpPr>
        <p:spPr>
          <a:xfrm>
            <a:off x="6191250" y="2110852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6"/>
          <p:cNvSpPr>
            <a:spLocks noGrp="1"/>
          </p:cNvSpPr>
          <p:nvPr>
            <p:ph type="pic" idx="5"/>
          </p:nvPr>
        </p:nvSpPr>
        <p:spPr>
          <a:xfrm>
            <a:off x="7465172" y="2110852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6"/>
          <p:cNvSpPr/>
          <p:nvPr/>
        </p:nvSpPr>
        <p:spPr>
          <a:xfrm>
            <a:off x="8789725" y="479257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5908" y="3324550"/>
            <a:ext cx="2832301" cy="1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4 column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57185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6705075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244870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555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/>
          <p:nvPr/>
        </p:nvCxnSpPr>
        <p:spPr>
          <a:xfrm>
            <a:off x="323850" y="1600200"/>
            <a:ext cx="8505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>
            <a:stCxn id="130" idx="2"/>
          </p:cNvCxnSpPr>
          <p:nvPr/>
        </p:nvCxnSpPr>
        <p:spPr>
          <a:xfrm rot="10800000">
            <a:off x="2448711" y="1614400"/>
            <a:ext cx="0" cy="32514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>
            <a:stCxn id="132" idx="0"/>
            <a:endCxn id="133" idx="2"/>
          </p:cNvCxnSpPr>
          <p:nvPr/>
        </p:nvCxnSpPr>
        <p:spPr>
          <a:xfrm rot="10800000">
            <a:off x="4571861" y="1627900"/>
            <a:ext cx="0" cy="31734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7"/>
          <p:cNvCxnSpPr>
            <a:stCxn id="135" idx="0"/>
            <a:endCxn id="136" idx="2"/>
          </p:cNvCxnSpPr>
          <p:nvPr/>
        </p:nvCxnSpPr>
        <p:spPr>
          <a:xfrm rot="10800000">
            <a:off x="6695011" y="1627900"/>
            <a:ext cx="0" cy="31734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7"/>
          <p:cNvSpPr/>
          <p:nvPr/>
        </p:nvSpPr>
        <p:spPr>
          <a:xfrm>
            <a:off x="666276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453961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241646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66276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53961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41646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ards">
  <p:cSld name="Blank_5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title="image5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326237" y="351432"/>
            <a:ext cx="8491525" cy="44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324750" y="1511300"/>
            <a:ext cx="8492700" cy="2590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>
            <a:off x="4575200" y="1511300"/>
            <a:ext cx="0" cy="25908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18"/>
          <p:cNvSpPr/>
          <p:nvPr/>
        </p:nvSpPr>
        <p:spPr>
          <a:xfrm>
            <a:off x="4542961" y="148012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542961" y="407092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2">
  <p:cSld name="Blank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5618100" y="1075000"/>
            <a:ext cx="3198600" cy="22110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47" name="Google Shape;147;p19"/>
          <p:cNvSpPr/>
          <p:nvPr/>
        </p:nvSpPr>
        <p:spPr>
          <a:xfrm>
            <a:off x="2423700" y="1075000"/>
            <a:ext cx="3198600" cy="3743100"/>
          </a:xfrm>
          <a:prstGeom prst="roundRect">
            <a:avLst>
              <a:gd name="adj" fmla="val 0"/>
            </a:avLst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7975" y="1075000"/>
            <a:ext cx="2095725" cy="37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2423700" y="2276176"/>
            <a:ext cx="31944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19"/>
          <p:cNvCxnSpPr/>
          <p:nvPr/>
        </p:nvCxnSpPr>
        <p:spPr>
          <a:xfrm>
            <a:off x="2423700" y="3285887"/>
            <a:ext cx="31944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AAB4BB"/>
                </a:solidFill>
              </a:defRPr>
            </a:lvl1pPr>
            <a:lvl2pPr lvl="1">
              <a:buNone/>
              <a:defRPr>
                <a:solidFill>
                  <a:srgbClr val="AAB4BB"/>
                </a:solidFill>
              </a:defRPr>
            </a:lvl2pPr>
            <a:lvl3pPr lvl="2">
              <a:buNone/>
              <a:defRPr>
                <a:solidFill>
                  <a:srgbClr val="AAB4BB"/>
                </a:solidFill>
              </a:defRPr>
            </a:lvl3pPr>
            <a:lvl4pPr lvl="3">
              <a:buNone/>
              <a:defRPr>
                <a:solidFill>
                  <a:srgbClr val="AAB4BB"/>
                </a:solidFill>
              </a:defRPr>
            </a:lvl4pPr>
            <a:lvl5pPr lvl="4">
              <a:buNone/>
              <a:defRPr>
                <a:solidFill>
                  <a:srgbClr val="AAB4BB"/>
                </a:solidFill>
              </a:defRPr>
            </a:lvl5pPr>
            <a:lvl6pPr lvl="5">
              <a:buNone/>
              <a:defRPr>
                <a:solidFill>
                  <a:srgbClr val="AAB4BB"/>
                </a:solidFill>
              </a:defRPr>
            </a:lvl6pPr>
            <a:lvl7pPr lvl="6">
              <a:buNone/>
              <a:defRPr>
                <a:solidFill>
                  <a:srgbClr val="AAB4BB"/>
                </a:solidFill>
              </a:defRPr>
            </a:lvl7pPr>
            <a:lvl8pPr lvl="7">
              <a:buNone/>
              <a:defRPr>
                <a:solidFill>
                  <a:srgbClr val="AAB4BB"/>
                </a:solidFill>
              </a:defRPr>
            </a:lvl8pPr>
            <a:lvl9pPr lvl="8">
              <a:buNone/>
              <a:defRPr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7325" y="1074988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9"/>
          <p:cNvSpPr/>
          <p:nvPr/>
        </p:nvSpPr>
        <p:spPr>
          <a:xfrm>
            <a:off x="8789725" y="104273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Blank_3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696075" y="2597550"/>
            <a:ext cx="3119750" cy="22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691950" y="2597550"/>
            <a:ext cx="3127800" cy="22257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58" name="Google Shape;158;p20"/>
          <p:cNvSpPr/>
          <p:nvPr/>
        </p:nvSpPr>
        <p:spPr>
          <a:xfrm>
            <a:off x="5691950" y="1349550"/>
            <a:ext cx="3127800" cy="12480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59" name="Google Shape;159;p20"/>
          <p:cNvSpPr/>
          <p:nvPr/>
        </p:nvSpPr>
        <p:spPr>
          <a:xfrm>
            <a:off x="3594875" y="1349550"/>
            <a:ext cx="2101200" cy="3473700"/>
          </a:xfrm>
          <a:prstGeom prst="roundRect">
            <a:avLst>
              <a:gd name="adj" fmla="val 0"/>
            </a:avLst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cxnSp>
        <p:nvCxnSpPr>
          <p:cNvPr id="160" name="Google Shape;160;p20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0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8789725" y="479285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0"/>
          <p:cNvSpPr>
            <a:spLocks noGrp="1"/>
          </p:cNvSpPr>
          <p:nvPr>
            <p:ph type="pic" idx="2"/>
          </p:nvPr>
        </p:nvSpPr>
        <p:spPr>
          <a:xfrm>
            <a:off x="3676400" y="1428750"/>
            <a:ext cx="1938000" cy="329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- 3 columns">
  <p:cSld name="Blank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7" name="Google Shape;167;p21"/>
          <p:cNvCxnSpPr/>
          <p:nvPr/>
        </p:nvCxnSpPr>
        <p:spPr>
          <a:xfrm>
            <a:off x="3060575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1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1"/>
          <p:cNvCxnSpPr/>
          <p:nvPr/>
        </p:nvCxnSpPr>
        <p:spPr>
          <a:xfrm>
            <a:off x="5989550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1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8475" y="1354615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2400" y="1354625"/>
            <a:ext cx="2738174" cy="161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9550" y="1354615"/>
            <a:ext cx="2832301" cy="161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- 2 columns">
  <p:cSld name="Blank_2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7" name="Google Shape;177;p22"/>
          <p:cNvCxnSpPr/>
          <p:nvPr/>
        </p:nvCxnSpPr>
        <p:spPr>
          <a:xfrm>
            <a:off x="4579325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2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2400" y="1354625"/>
            <a:ext cx="4256925" cy="231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559340" y="1354625"/>
            <a:ext cx="4256925" cy="231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 title="image23-halfsize.png"/>
          <p:cNvPicPr preferRelativeResize="0"/>
          <p:nvPr/>
        </p:nvPicPr>
        <p:blipFill rotWithShape="1">
          <a:blip r:embed="rId2">
            <a:alphaModFix/>
          </a:blip>
          <a:srcRect l="35615" t="25776" r="8746" b="42476"/>
          <a:stretch/>
        </p:blipFill>
        <p:spPr>
          <a:xfrm rot="10800000" flipH="1">
            <a:off x="325375" y="343350"/>
            <a:ext cx="8489101" cy="447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/>
          <p:nvPr/>
        </p:nvSpPr>
        <p:spPr>
          <a:xfrm>
            <a:off x="325525" y="328925"/>
            <a:ext cx="8497500" cy="41733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">
  <p:cSld name="Image onl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>
            <a:spLocks noGrp="1"/>
          </p:cNvSpPr>
          <p:nvPr>
            <p:ph type="pic" idx="2"/>
          </p:nvPr>
        </p:nvSpPr>
        <p:spPr>
          <a:xfrm>
            <a:off x="327275" y="1069825"/>
            <a:ext cx="8505000" cy="3745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89" name="Google Shape;189;p24"/>
          <p:cNvGrpSpPr/>
          <p:nvPr/>
        </p:nvGrpSpPr>
        <p:grpSpPr>
          <a:xfrm>
            <a:off x="25" y="1039175"/>
            <a:ext cx="9147900" cy="64500"/>
            <a:chOff x="25" y="510925"/>
            <a:chExt cx="9147900" cy="64500"/>
          </a:xfrm>
        </p:grpSpPr>
        <p:cxnSp>
          <p:nvCxnSpPr>
            <p:cNvPr id="190" name="Google Shape;190;p2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" name="Google Shape;191;p2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ards center">
  <p:cSld name="CUSTOM_6_2">
    <p:bg>
      <p:bgPr>
        <a:solidFill>
          <a:srgbClr val="001408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 title="image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600" y="323275"/>
            <a:ext cx="8492800" cy="449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2925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2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03" name="Google Shape;203;p2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" name="Google Shape;204;p2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" name="Google Shape;206;p25"/>
          <p:cNvSpPr/>
          <p:nvPr/>
        </p:nvSpPr>
        <p:spPr>
          <a:xfrm>
            <a:off x="324750" y="1667975"/>
            <a:ext cx="8492700" cy="1807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07" name="Google Shape;207;p25"/>
          <p:cNvCxnSpPr/>
          <p:nvPr/>
        </p:nvCxnSpPr>
        <p:spPr>
          <a:xfrm>
            <a:off x="6696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5"/>
          <p:cNvCxnSpPr/>
          <p:nvPr/>
        </p:nvCxnSpPr>
        <p:spPr>
          <a:xfrm>
            <a:off x="8820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5"/>
          <p:cNvCxnSpPr/>
          <p:nvPr/>
        </p:nvCxnSpPr>
        <p:spPr>
          <a:xfrm>
            <a:off x="457200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5"/>
          <p:cNvCxnSpPr/>
          <p:nvPr/>
        </p:nvCxnSpPr>
        <p:spPr>
          <a:xfrm>
            <a:off x="2448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324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5"/>
          <p:cNvSpPr/>
          <p:nvPr/>
        </p:nvSpPr>
        <p:spPr>
          <a:xfrm>
            <a:off x="6664061" y="163407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664061" y="344517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4540511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4540511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292499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292499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8791436" y="163407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8791436" y="344517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2416511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2416511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6_2_9">
    <p:bg>
      <p:bgPr>
        <a:solidFill>
          <a:srgbClr val="001408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2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6" name="Google Shape;22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8" name="Google Shape;228;p2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2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31" name="Google Shape;231;p2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" name="Google Shape;232;p2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wo columns">
  <p:cSld name="CUSTOM_6_2_9_1">
    <p:bg>
      <p:bgPr>
        <a:solidFill>
          <a:srgbClr val="001408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2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8" name="Google Shape;23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2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43" name="Google Shape;243;p2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4" name="Google Shape;244;p2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27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77427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body" idx="2"/>
          </p:nvPr>
        </p:nvSpPr>
        <p:spPr>
          <a:xfrm>
            <a:off x="4757734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body" idx="3"/>
          </p:nvPr>
        </p:nvSpPr>
        <p:spPr>
          <a:xfrm>
            <a:off x="620500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op title">
  <p:cSld name="CUSTOM_6_2_9_1_4">
    <p:bg>
      <p:bgPr>
        <a:solidFill>
          <a:srgbClr val="001408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4" name="Google Shape;25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6" name="Google Shape;256;p2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2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59" name="Google Shape;259;p2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0" name="Google Shape;260;p2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subTitle" idx="1"/>
          </p:nvPr>
        </p:nvSpPr>
        <p:spPr>
          <a:xfrm>
            <a:off x="468100" y="387311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4" name="Google Shape;264;p28"/>
          <p:cNvGrpSpPr/>
          <p:nvPr/>
        </p:nvGrpSpPr>
        <p:grpSpPr>
          <a:xfrm>
            <a:off x="25" y="824350"/>
            <a:ext cx="9147900" cy="64500"/>
            <a:chOff x="25" y="510925"/>
            <a:chExt cx="9147900" cy="64500"/>
          </a:xfrm>
        </p:grpSpPr>
        <p:cxnSp>
          <p:nvCxnSpPr>
            <p:cNvPr id="265" name="Google Shape;265;p2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6" name="Google Shape;266;p2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hree columns">
  <p:cSld name="CUSTOM_6_2_9_1_3">
    <p:bg>
      <p:bgPr>
        <a:solidFill>
          <a:srgbClr val="001408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1" name="Google Shape;27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76" name="Google Shape;276;p2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29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29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78768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body" idx="2"/>
          </p:nvPr>
        </p:nvSpPr>
        <p:spPr>
          <a:xfrm>
            <a:off x="3366275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body" idx="3"/>
          </p:nvPr>
        </p:nvSpPr>
        <p:spPr>
          <a:xfrm>
            <a:off x="620500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4" name="Google Shape;284;p29"/>
          <p:cNvSpPr txBox="1">
            <a:spLocks noGrp="1"/>
          </p:cNvSpPr>
          <p:nvPr>
            <p:ph type="body" idx="4"/>
          </p:nvPr>
        </p:nvSpPr>
        <p:spPr>
          <a:xfrm>
            <a:off x="6112053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one columns + image">
  <p:cSld name="CUSTOM_6_2_9_1_2">
    <p:bg>
      <p:bgPr>
        <a:solidFill>
          <a:srgbClr val="001408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30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0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8" name="Google Shape;28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0" name="Google Shape;290;p30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30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93" name="Google Shape;293;p3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4" name="Google Shape;294;p3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30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3605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0"/>
          <p:cNvSpPr>
            <a:spLocks noGrp="1"/>
          </p:cNvSpPr>
          <p:nvPr>
            <p:ph type="pic" idx="2"/>
          </p:nvPr>
        </p:nvSpPr>
        <p:spPr>
          <a:xfrm>
            <a:off x="4618950" y="322300"/>
            <a:ext cx="4213200" cy="449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00" name="Google Shape;300;p30"/>
          <p:cNvCxnSpPr>
            <a:endCxn id="301" idx="2"/>
          </p:cNvCxnSpPr>
          <p:nvPr/>
        </p:nvCxnSpPr>
        <p:spPr>
          <a:xfrm rot="10800000">
            <a:off x="46122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0"/>
          <p:cNvSpPr/>
          <p:nvPr/>
        </p:nvSpPr>
        <p:spPr>
          <a:xfrm>
            <a:off x="45799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45799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body" idx="3"/>
          </p:nvPr>
        </p:nvSpPr>
        <p:spPr>
          <a:xfrm>
            <a:off x="620500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wo columns divided">
  <p:cSld name="CUSTOM_6_2_9_1_2_1">
    <p:bg>
      <p:bgPr>
        <a:solidFill>
          <a:srgbClr val="001408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31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1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7" name="Google Shape;30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9" name="Google Shape;309;p31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31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31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12" name="Google Shape;312;p31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3" name="Google Shape;313;p31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31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title"/>
          </p:nvPr>
        </p:nvSpPr>
        <p:spPr>
          <a:xfrm>
            <a:off x="621000" y="2203500"/>
            <a:ext cx="36054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subTitle" idx="1"/>
          </p:nvPr>
        </p:nvSpPr>
        <p:spPr>
          <a:xfrm>
            <a:off x="621000" y="1707525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8" name="Google Shape;318;p31"/>
          <p:cNvCxnSpPr>
            <a:endCxn id="319" idx="2"/>
          </p:cNvCxnSpPr>
          <p:nvPr/>
        </p:nvCxnSpPr>
        <p:spPr>
          <a:xfrm rot="10800000">
            <a:off x="46122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31"/>
          <p:cNvSpPr/>
          <p:nvPr/>
        </p:nvSpPr>
        <p:spPr>
          <a:xfrm>
            <a:off x="45799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45799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body" idx="2"/>
          </p:nvPr>
        </p:nvSpPr>
        <p:spPr>
          <a:xfrm>
            <a:off x="4914200" y="2230201"/>
            <a:ext cx="3605400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●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○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Calibri"/>
              <a:buChar char="■"/>
              <a:defRPr sz="11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subTitle" idx="3"/>
          </p:nvPr>
        </p:nvSpPr>
        <p:spPr>
          <a:xfrm>
            <a:off x="4914200" y="168930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3" name="Google Shape;323;p31"/>
          <p:cNvPicPr preferRelativeResize="0"/>
          <p:nvPr/>
        </p:nvPicPr>
        <p:blipFill rotWithShape="1">
          <a:blip r:embed="rId3">
            <a:alphaModFix/>
          </a:blip>
          <a:srcRect l="-3247" t="62315" r="60694"/>
          <a:stretch/>
        </p:blipFill>
        <p:spPr>
          <a:xfrm>
            <a:off x="4644450" y="336325"/>
            <a:ext cx="4166450" cy="36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itle">
  <p:cSld name="CUSTOM_6_2_9_1_1">
    <p:bg>
      <p:bgPr>
        <a:solidFill>
          <a:srgbClr val="001408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32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2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7" name="Google Shape;32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2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9" name="Google Shape;329;p32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32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32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32" name="Google Shape;332;p32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3" name="Google Shape;333;p32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32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620500" y="1883825"/>
            <a:ext cx="77427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4300"/>
              <a:buFont typeface="Calibri"/>
              <a:buNone/>
              <a:defRPr sz="43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000"/>
              <a:buNone/>
              <a:defRPr sz="1000">
                <a:solidFill>
                  <a:srgbClr val="CCFF00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subTitle" idx="1"/>
          </p:nvPr>
        </p:nvSpPr>
        <p:spPr>
          <a:xfrm>
            <a:off x="620600" y="2798175"/>
            <a:ext cx="77427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">
  <p:cSld name="CUSTOM_6_2_8">
    <p:bg>
      <p:bgPr>
        <a:solidFill>
          <a:srgbClr val="001408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3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1" name="Google Shape;34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3"/>
          <p:cNvSpPr/>
          <p:nvPr/>
        </p:nvSpPr>
        <p:spPr>
          <a:xfrm>
            <a:off x="292007" y="47922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3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" name="Google Shape;345;p3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46" name="Google Shape;346;p3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7" name="Google Shape;347;p3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3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0" name="Google Shape;350;p33" title="image6.png"/>
          <p:cNvPicPr preferRelativeResize="0"/>
          <p:nvPr/>
        </p:nvPicPr>
        <p:blipFill rotWithShape="1">
          <a:blip r:embed="rId3">
            <a:alphaModFix/>
          </a:blip>
          <a:srcRect t="288" b="288"/>
          <a:stretch/>
        </p:blipFill>
        <p:spPr>
          <a:xfrm>
            <a:off x="5061900" y="324750"/>
            <a:ext cx="3758625" cy="4494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33"/>
          <p:cNvCxnSpPr>
            <a:endCxn id="352" idx="2"/>
          </p:cNvCxnSpPr>
          <p:nvPr/>
        </p:nvCxnSpPr>
        <p:spPr>
          <a:xfrm rot="10800000">
            <a:off x="50619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2" name="Google Shape;352;p33"/>
          <p:cNvSpPr/>
          <p:nvPr/>
        </p:nvSpPr>
        <p:spPr>
          <a:xfrm>
            <a:off x="50296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3"/>
          <p:cNvSpPr/>
          <p:nvPr/>
        </p:nvSpPr>
        <p:spPr>
          <a:xfrm>
            <a:off x="50296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rows">
  <p:cSld name="CUSTOM_6_2_7">
    <p:bg>
      <p:bgPr>
        <a:solidFill>
          <a:srgbClr val="001408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Google Shape;355;p3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7" name="Google Shape;35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4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9" name="Google Shape;359;p3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3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3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62" name="Google Shape;362;p3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3" name="Google Shape;363;p3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3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6" name="Google Shape;366;p34"/>
          <p:cNvCxnSpPr/>
          <p:nvPr/>
        </p:nvCxnSpPr>
        <p:spPr>
          <a:xfrm>
            <a:off x="323850" y="2281350"/>
            <a:ext cx="84771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34"/>
          <p:cNvCxnSpPr/>
          <p:nvPr/>
        </p:nvCxnSpPr>
        <p:spPr>
          <a:xfrm>
            <a:off x="323850" y="3714850"/>
            <a:ext cx="84771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2">
  <p:cSld name="CUSTOM_6_2_6">
    <p:bg>
      <p:bgPr>
        <a:solidFill>
          <a:srgbClr val="001408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3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3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1" name="Google Shape;37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292007" y="47922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3" name="Google Shape;373;p3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p3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3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76" name="Google Shape;376;p3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3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5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35" title="image4.png"/>
          <p:cNvPicPr preferRelativeResize="0"/>
          <p:nvPr/>
        </p:nvPicPr>
        <p:blipFill rotWithShape="1">
          <a:blip r:embed="rId3">
            <a:alphaModFix/>
          </a:blip>
          <a:srcRect t="358" b="308"/>
          <a:stretch/>
        </p:blipFill>
        <p:spPr>
          <a:xfrm>
            <a:off x="5061900" y="328150"/>
            <a:ext cx="3758625" cy="4489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5"/>
          <p:cNvSpPr txBox="1"/>
          <p:nvPr/>
        </p:nvSpPr>
        <p:spPr>
          <a:xfrm>
            <a:off x="606450" y="3288350"/>
            <a:ext cx="4041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Summarize why this partnership would be beneficial for both parties. Show how your values and goals align, and explain how the partnership could help you realise these goals.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5"/>
          <p:cNvCxnSpPr/>
          <p:nvPr/>
        </p:nvCxnSpPr>
        <p:spPr>
          <a:xfrm rot="10800000">
            <a:off x="5061900" y="0"/>
            <a:ext cx="0" cy="48261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35"/>
          <p:cNvSpPr/>
          <p:nvPr/>
        </p:nvSpPr>
        <p:spPr>
          <a:xfrm>
            <a:off x="50296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50296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3">
  <p:cSld name="CUSTOM_6_2_5">
    <p:bg>
      <p:bgPr>
        <a:solidFill>
          <a:srgbClr val="001408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3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3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8" name="Google Shape;388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3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0" name="Google Shape;390;p3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91" name="Google Shape;391;p3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2" name="Google Shape;392;p3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36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326225" y="2455875"/>
            <a:ext cx="2835000" cy="2377800"/>
          </a:xfrm>
          <a:prstGeom prst="roundRect">
            <a:avLst>
              <a:gd name="adj" fmla="val 0"/>
            </a:avLst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6" name="Google Shape;396;p36"/>
          <p:cNvSpPr/>
          <p:nvPr/>
        </p:nvSpPr>
        <p:spPr>
          <a:xfrm>
            <a:off x="3161156" y="2455875"/>
            <a:ext cx="2831400" cy="2377800"/>
          </a:xfrm>
          <a:prstGeom prst="roundRect">
            <a:avLst>
              <a:gd name="adj" fmla="val 0"/>
            </a:avLst>
          </a:prstGeom>
          <a:solidFill>
            <a:srgbClr val="CCFF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7" name="Google Shape;397;p36"/>
          <p:cNvSpPr/>
          <p:nvPr/>
        </p:nvSpPr>
        <p:spPr>
          <a:xfrm>
            <a:off x="5992450" y="2455875"/>
            <a:ext cx="2831400" cy="11889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8" name="Google Shape;398;p36"/>
          <p:cNvSpPr/>
          <p:nvPr/>
        </p:nvSpPr>
        <p:spPr>
          <a:xfrm>
            <a:off x="5992450" y="3644775"/>
            <a:ext cx="2831400" cy="1188900"/>
          </a:xfrm>
          <a:prstGeom prst="roundRect">
            <a:avLst>
              <a:gd name="adj" fmla="val 0"/>
            </a:avLst>
          </a:prstGeom>
          <a:solidFill>
            <a:srgbClr val="30352F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9" name="Google Shape;399;p36"/>
          <p:cNvSpPr/>
          <p:nvPr/>
        </p:nvSpPr>
        <p:spPr>
          <a:xfrm>
            <a:off x="292007" y="48005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2">
  <p:cSld name="CUSTOM_6_2_4">
    <p:bg>
      <p:bgPr>
        <a:solidFill>
          <a:srgbClr val="001408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7" title="image25.png"/>
          <p:cNvPicPr preferRelativeResize="0"/>
          <p:nvPr/>
        </p:nvPicPr>
        <p:blipFill rotWithShape="1">
          <a:blip r:embed="rId2">
            <a:alphaModFix/>
          </a:blip>
          <a:srcRect l="49754" t="77453" r="16997" b="-7148"/>
          <a:stretch/>
        </p:blipFill>
        <p:spPr>
          <a:xfrm rot="10800000" flipH="1">
            <a:off x="0" y="-14426"/>
            <a:ext cx="5752550" cy="5137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3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5" name="Google Shape;4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7" name="Google Shape;407;p3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3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3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410" name="Google Shape;410;p3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1" name="Google Shape;411;p3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37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3733175" y="1942334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5" name="Google Shape;415;p37"/>
          <p:cNvSpPr/>
          <p:nvPr/>
        </p:nvSpPr>
        <p:spPr>
          <a:xfrm>
            <a:off x="3733175" y="323225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6" name="Google Shape;416;p37"/>
          <p:cNvSpPr>
            <a:spLocks noGrp="1"/>
          </p:cNvSpPr>
          <p:nvPr>
            <p:ph type="pic" idx="2"/>
          </p:nvPr>
        </p:nvSpPr>
        <p:spPr>
          <a:xfrm>
            <a:off x="3831225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37"/>
          <p:cNvSpPr/>
          <p:nvPr/>
        </p:nvSpPr>
        <p:spPr>
          <a:xfrm>
            <a:off x="5431252" y="1942334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8" name="Google Shape;418;p37"/>
          <p:cNvSpPr/>
          <p:nvPr/>
        </p:nvSpPr>
        <p:spPr>
          <a:xfrm>
            <a:off x="5431252" y="323225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9" name="Google Shape;419;p37"/>
          <p:cNvSpPr>
            <a:spLocks noGrp="1"/>
          </p:cNvSpPr>
          <p:nvPr>
            <p:ph type="pic" idx="3"/>
          </p:nvPr>
        </p:nvSpPr>
        <p:spPr>
          <a:xfrm>
            <a:off x="5529302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37"/>
          <p:cNvSpPr/>
          <p:nvPr/>
        </p:nvSpPr>
        <p:spPr>
          <a:xfrm>
            <a:off x="7128923" y="1942334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1" name="Google Shape;421;p37"/>
          <p:cNvSpPr/>
          <p:nvPr/>
        </p:nvSpPr>
        <p:spPr>
          <a:xfrm>
            <a:off x="7128923" y="323225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2" name="Google Shape;422;p37"/>
          <p:cNvSpPr>
            <a:spLocks noGrp="1"/>
          </p:cNvSpPr>
          <p:nvPr>
            <p:ph type="pic" idx="4"/>
          </p:nvPr>
        </p:nvSpPr>
        <p:spPr>
          <a:xfrm>
            <a:off x="7226973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/>
        </p:nvSpPr>
        <p:spPr>
          <a:xfrm>
            <a:off x="3733175" y="4192699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4" name="Google Shape;424;p37"/>
          <p:cNvSpPr/>
          <p:nvPr/>
        </p:nvSpPr>
        <p:spPr>
          <a:xfrm>
            <a:off x="3733475" y="2573565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5" name="Google Shape;425;p37"/>
          <p:cNvSpPr>
            <a:spLocks noGrp="1"/>
          </p:cNvSpPr>
          <p:nvPr>
            <p:ph type="pic" idx="5"/>
          </p:nvPr>
        </p:nvSpPr>
        <p:spPr>
          <a:xfrm>
            <a:off x="3831225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7"/>
          <p:cNvSpPr/>
          <p:nvPr/>
        </p:nvSpPr>
        <p:spPr>
          <a:xfrm>
            <a:off x="5431252" y="4192699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7" name="Google Shape;427;p37"/>
          <p:cNvSpPr/>
          <p:nvPr/>
        </p:nvSpPr>
        <p:spPr>
          <a:xfrm>
            <a:off x="5431252" y="2573590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8" name="Google Shape;428;p37"/>
          <p:cNvSpPr>
            <a:spLocks noGrp="1"/>
          </p:cNvSpPr>
          <p:nvPr>
            <p:ph type="pic" idx="6"/>
          </p:nvPr>
        </p:nvSpPr>
        <p:spPr>
          <a:xfrm>
            <a:off x="5529302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7"/>
          <p:cNvSpPr/>
          <p:nvPr/>
        </p:nvSpPr>
        <p:spPr>
          <a:xfrm>
            <a:off x="7128923" y="4192699"/>
            <a:ext cx="1698000" cy="631200"/>
          </a:xfrm>
          <a:prstGeom prst="rect">
            <a:avLst/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30" name="Google Shape;430;p37"/>
          <p:cNvSpPr/>
          <p:nvPr/>
        </p:nvSpPr>
        <p:spPr>
          <a:xfrm>
            <a:off x="7128923" y="2573590"/>
            <a:ext cx="1698000" cy="1619100"/>
          </a:xfrm>
          <a:prstGeom prst="rect">
            <a:avLst/>
          </a:prstGeom>
          <a:solidFill>
            <a:srgbClr val="001408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31" name="Google Shape;431;p37"/>
          <p:cNvSpPr>
            <a:spLocks noGrp="1"/>
          </p:cNvSpPr>
          <p:nvPr>
            <p:ph type="pic" idx="7"/>
          </p:nvPr>
        </p:nvSpPr>
        <p:spPr>
          <a:xfrm>
            <a:off x="7226973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7"/>
          <p:cNvSpPr/>
          <p:nvPr/>
        </p:nvSpPr>
        <p:spPr>
          <a:xfrm>
            <a:off x="8789361" y="29195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7"/>
          <p:cNvSpPr/>
          <p:nvPr/>
        </p:nvSpPr>
        <p:spPr>
          <a:xfrm>
            <a:off x="7096757" y="254131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5398186" y="2541313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1">
  <p:cSld name="CUSTOM_6_2_3">
    <p:bg>
      <p:bgPr>
        <a:solidFill>
          <a:srgbClr val="001408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8" title="image25.png"/>
          <p:cNvPicPr preferRelativeResize="0"/>
          <p:nvPr/>
        </p:nvPicPr>
        <p:blipFill rotWithShape="1">
          <a:blip r:embed="rId2">
            <a:alphaModFix/>
          </a:blip>
          <a:srcRect l="17351" t="13178" r="37650" b="52866"/>
          <a:stretch/>
        </p:blipFill>
        <p:spPr>
          <a:xfrm flipH="1">
            <a:off x="2752300" y="0"/>
            <a:ext cx="6391700" cy="482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p3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3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0" name="Google Shape;4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3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2" name="Google Shape;442;p3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444" name="Google Shape;444;p3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5" name="Google Shape;445;p3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7" name="Google Shape;447;p38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326575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49" name="Google Shape;449;p38"/>
          <p:cNvSpPr/>
          <p:nvPr/>
        </p:nvSpPr>
        <p:spPr>
          <a:xfrm>
            <a:off x="326575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0" name="Google Shape;450;p38"/>
          <p:cNvSpPr>
            <a:spLocks noGrp="1"/>
          </p:cNvSpPr>
          <p:nvPr>
            <p:ph type="pic" idx="2"/>
          </p:nvPr>
        </p:nvSpPr>
        <p:spPr>
          <a:xfrm>
            <a:off x="408344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38"/>
          <p:cNvSpPr/>
          <p:nvPr/>
        </p:nvSpPr>
        <p:spPr>
          <a:xfrm>
            <a:off x="1742698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2" name="Google Shape;452;p38"/>
          <p:cNvSpPr/>
          <p:nvPr/>
        </p:nvSpPr>
        <p:spPr>
          <a:xfrm>
            <a:off x="1742698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3" name="Google Shape;453;p38"/>
          <p:cNvSpPr>
            <a:spLocks noGrp="1"/>
          </p:cNvSpPr>
          <p:nvPr>
            <p:ph type="pic" idx="3"/>
          </p:nvPr>
        </p:nvSpPr>
        <p:spPr>
          <a:xfrm>
            <a:off x="1824468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38"/>
          <p:cNvSpPr/>
          <p:nvPr/>
        </p:nvSpPr>
        <p:spPr>
          <a:xfrm>
            <a:off x="3158483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5" name="Google Shape;455;p38"/>
          <p:cNvSpPr/>
          <p:nvPr/>
        </p:nvSpPr>
        <p:spPr>
          <a:xfrm>
            <a:off x="3158483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6" name="Google Shape;456;p38"/>
          <p:cNvSpPr>
            <a:spLocks noGrp="1"/>
          </p:cNvSpPr>
          <p:nvPr>
            <p:ph type="pic" idx="4"/>
          </p:nvPr>
        </p:nvSpPr>
        <p:spPr>
          <a:xfrm>
            <a:off x="3240252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38"/>
          <p:cNvSpPr/>
          <p:nvPr/>
        </p:nvSpPr>
        <p:spPr>
          <a:xfrm>
            <a:off x="326575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8" name="Google Shape;458;p38"/>
          <p:cNvSpPr/>
          <p:nvPr/>
        </p:nvSpPr>
        <p:spPr>
          <a:xfrm>
            <a:off x="326575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9" name="Google Shape;459;p38"/>
          <p:cNvSpPr>
            <a:spLocks noGrp="1"/>
          </p:cNvSpPr>
          <p:nvPr>
            <p:ph type="pic" idx="5"/>
          </p:nvPr>
        </p:nvSpPr>
        <p:spPr>
          <a:xfrm>
            <a:off x="408344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38"/>
          <p:cNvSpPr/>
          <p:nvPr/>
        </p:nvSpPr>
        <p:spPr>
          <a:xfrm>
            <a:off x="1742698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1" name="Google Shape;461;p38"/>
          <p:cNvSpPr/>
          <p:nvPr/>
        </p:nvSpPr>
        <p:spPr>
          <a:xfrm>
            <a:off x="1742698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2" name="Google Shape;462;p38"/>
          <p:cNvSpPr>
            <a:spLocks noGrp="1"/>
          </p:cNvSpPr>
          <p:nvPr>
            <p:ph type="pic" idx="6"/>
          </p:nvPr>
        </p:nvSpPr>
        <p:spPr>
          <a:xfrm>
            <a:off x="1824468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38"/>
          <p:cNvSpPr/>
          <p:nvPr/>
        </p:nvSpPr>
        <p:spPr>
          <a:xfrm>
            <a:off x="3158483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4" name="Google Shape;464;p38"/>
          <p:cNvSpPr/>
          <p:nvPr/>
        </p:nvSpPr>
        <p:spPr>
          <a:xfrm>
            <a:off x="3158483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5" name="Google Shape;465;p38"/>
          <p:cNvSpPr>
            <a:spLocks noGrp="1"/>
          </p:cNvSpPr>
          <p:nvPr>
            <p:ph type="pic" idx="7"/>
          </p:nvPr>
        </p:nvSpPr>
        <p:spPr>
          <a:xfrm>
            <a:off x="3240252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38"/>
          <p:cNvSpPr/>
          <p:nvPr/>
        </p:nvSpPr>
        <p:spPr>
          <a:xfrm>
            <a:off x="4574540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7" name="Google Shape;467;p38"/>
          <p:cNvSpPr/>
          <p:nvPr/>
        </p:nvSpPr>
        <p:spPr>
          <a:xfrm>
            <a:off x="4574540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8" name="Google Shape;468;p38"/>
          <p:cNvSpPr>
            <a:spLocks noGrp="1"/>
          </p:cNvSpPr>
          <p:nvPr>
            <p:ph type="pic" idx="8"/>
          </p:nvPr>
        </p:nvSpPr>
        <p:spPr>
          <a:xfrm>
            <a:off x="4656310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38"/>
          <p:cNvSpPr/>
          <p:nvPr/>
        </p:nvSpPr>
        <p:spPr>
          <a:xfrm>
            <a:off x="5990664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0" name="Google Shape;470;p38"/>
          <p:cNvSpPr/>
          <p:nvPr/>
        </p:nvSpPr>
        <p:spPr>
          <a:xfrm>
            <a:off x="5990664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1" name="Google Shape;471;p38"/>
          <p:cNvSpPr>
            <a:spLocks noGrp="1"/>
          </p:cNvSpPr>
          <p:nvPr>
            <p:ph type="pic" idx="9"/>
          </p:nvPr>
        </p:nvSpPr>
        <p:spPr>
          <a:xfrm>
            <a:off x="6072433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38"/>
          <p:cNvSpPr/>
          <p:nvPr/>
        </p:nvSpPr>
        <p:spPr>
          <a:xfrm>
            <a:off x="7406448" y="2401501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3" name="Google Shape;473;p38"/>
          <p:cNvSpPr/>
          <p:nvPr/>
        </p:nvSpPr>
        <p:spPr>
          <a:xfrm>
            <a:off x="7406448" y="1040550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4" name="Google Shape;474;p38"/>
          <p:cNvSpPr>
            <a:spLocks noGrp="1"/>
          </p:cNvSpPr>
          <p:nvPr>
            <p:ph type="pic" idx="13"/>
          </p:nvPr>
        </p:nvSpPr>
        <p:spPr>
          <a:xfrm>
            <a:off x="7488217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38"/>
          <p:cNvSpPr/>
          <p:nvPr/>
        </p:nvSpPr>
        <p:spPr>
          <a:xfrm>
            <a:off x="4574540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6" name="Google Shape;476;p38"/>
          <p:cNvSpPr/>
          <p:nvPr/>
        </p:nvSpPr>
        <p:spPr>
          <a:xfrm>
            <a:off x="4574540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7" name="Google Shape;477;p38"/>
          <p:cNvSpPr>
            <a:spLocks noGrp="1"/>
          </p:cNvSpPr>
          <p:nvPr>
            <p:ph type="pic" idx="14"/>
          </p:nvPr>
        </p:nvSpPr>
        <p:spPr>
          <a:xfrm>
            <a:off x="4656310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38"/>
          <p:cNvSpPr/>
          <p:nvPr/>
        </p:nvSpPr>
        <p:spPr>
          <a:xfrm>
            <a:off x="5990664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9" name="Google Shape;479;p38"/>
          <p:cNvSpPr/>
          <p:nvPr/>
        </p:nvSpPr>
        <p:spPr>
          <a:xfrm>
            <a:off x="5990664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0" name="Google Shape;480;p38"/>
          <p:cNvSpPr>
            <a:spLocks noGrp="1"/>
          </p:cNvSpPr>
          <p:nvPr>
            <p:ph type="pic" idx="15"/>
          </p:nvPr>
        </p:nvSpPr>
        <p:spPr>
          <a:xfrm>
            <a:off x="6072433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38"/>
          <p:cNvSpPr/>
          <p:nvPr/>
        </p:nvSpPr>
        <p:spPr>
          <a:xfrm>
            <a:off x="7406448" y="4293058"/>
            <a:ext cx="1416000" cy="530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2" name="Google Shape;482;p38"/>
          <p:cNvSpPr/>
          <p:nvPr/>
        </p:nvSpPr>
        <p:spPr>
          <a:xfrm>
            <a:off x="7406448" y="2932107"/>
            <a:ext cx="1416000" cy="1361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3" name="Google Shape;483;p38"/>
          <p:cNvSpPr>
            <a:spLocks noGrp="1"/>
          </p:cNvSpPr>
          <p:nvPr>
            <p:ph type="pic" idx="16"/>
          </p:nvPr>
        </p:nvSpPr>
        <p:spPr>
          <a:xfrm>
            <a:off x="7488217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3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8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38"/>
          <p:cNvGrpSpPr/>
          <p:nvPr/>
        </p:nvGrpSpPr>
        <p:grpSpPr>
          <a:xfrm>
            <a:off x="1710220" y="2369713"/>
            <a:ext cx="5728288" cy="64500"/>
            <a:chOff x="1710220" y="2369713"/>
            <a:chExt cx="5728288" cy="64500"/>
          </a:xfrm>
        </p:grpSpPr>
        <p:sp>
          <p:nvSpPr>
            <p:cNvPr id="487" name="Google Shape;487;p38"/>
            <p:cNvSpPr/>
            <p:nvPr/>
          </p:nvSpPr>
          <p:spPr>
            <a:xfrm>
              <a:off x="7374007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5958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4542432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31263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1710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8"/>
          <p:cNvGrpSpPr/>
          <p:nvPr/>
        </p:nvGrpSpPr>
        <p:grpSpPr>
          <a:xfrm>
            <a:off x="1710220" y="2900364"/>
            <a:ext cx="5728288" cy="64500"/>
            <a:chOff x="1710220" y="2369713"/>
            <a:chExt cx="5728288" cy="64500"/>
          </a:xfrm>
        </p:grpSpPr>
        <p:sp>
          <p:nvSpPr>
            <p:cNvPr id="493" name="Google Shape;493;p38"/>
            <p:cNvSpPr/>
            <p:nvPr/>
          </p:nvSpPr>
          <p:spPr>
            <a:xfrm>
              <a:off x="7374007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5958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4542432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31263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1710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6_2_2">
    <p:bg>
      <p:bgPr>
        <a:solidFill>
          <a:srgbClr val="001408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9" title="image25.png"/>
          <p:cNvPicPr preferRelativeResize="0"/>
          <p:nvPr/>
        </p:nvPicPr>
        <p:blipFill rotWithShape="1">
          <a:blip r:embed="rId2">
            <a:alphaModFix/>
          </a:blip>
          <a:srcRect l="965" t="53556" r="56169" b="13635"/>
          <a:stretch/>
        </p:blipFill>
        <p:spPr>
          <a:xfrm flipH="1">
            <a:off x="-1" y="0"/>
            <a:ext cx="6720102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3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3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2" name="Google Shape;5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3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4" name="Google Shape;504;p3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3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06" name="Google Shape;506;p3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7" name="Google Shape;507;p3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" name="Google Shape;509;p3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0" name="Google Shape;510;p39"/>
          <p:cNvGrpSpPr/>
          <p:nvPr/>
        </p:nvGrpSpPr>
        <p:grpSpPr>
          <a:xfrm rot="-5400000">
            <a:off x="8385480" y="601548"/>
            <a:ext cx="204654" cy="204654"/>
            <a:chOff x="259788" y="1923155"/>
            <a:chExt cx="409800" cy="409800"/>
          </a:xfrm>
        </p:grpSpPr>
        <p:sp>
          <p:nvSpPr>
            <p:cNvPr id="511" name="Google Shape;511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8A8F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2" name="Google Shape;512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3" name="Google Shape;513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15" name="Google Shape;515;p39"/>
          <p:cNvGrpSpPr/>
          <p:nvPr/>
        </p:nvGrpSpPr>
        <p:grpSpPr>
          <a:xfrm rot="-5400000">
            <a:off x="8385480" y="1350327"/>
            <a:ext cx="204654" cy="204654"/>
            <a:chOff x="259788" y="1923155"/>
            <a:chExt cx="409800" cy="409800"/>
          </a:xfrm>
        </p:grpSpPr>
        <p:sp>
          <p:nvSpPr>
            <p:cNvPr id="516" name="Google Shape;516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8A8F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7" name="Google Shape;517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8" name="Google Shape;518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0" name="Google Shape;520;p39"/>
          <p:cNvGrpSpPr/>
          <p:nvPr/>
        </p:nvGrpSpPr>
        <p:grpSpPr>
          <a:xfrm rot="-5400000">
            <a:off x="8385480" y="2099105"/>
            <a:ext cx="204654" cy="204654"/>
            <a:chOff x="259788" y="1923155"/>
            <a:chExt cx="409800" cy="409800"/>
          </a:xfrm>
        </p:grpSpPr>
        <p:sp>
          <p:nvSpPr>
            <p:cNvPr id="521" name="Google Shape;521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8A8F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2" name="Google Shape;522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3" name="Google Shape;523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4" name="Google Shape;524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5" name="Google Shape;525;p39"/>
          <p:cNvGrpSpPr/>
          <p:nvPr/>
        </p:nvGrpSpPr>
        <p:grpSpPr>
          <a:xfrm rot="-5400000">
            <a:off x="8385480" y="2847884"/>
            <a:ext cx="204654" cy="204654"/>
            <a:chOff x="259788" y="1923155"/>
            <a:chExt cx="409800" cy="409800"/>
          </a:xfrm>
        </p:grpSpPr>
        <p:sp>
          <p:nvSpPr>
            <p:cNvPr id="526" name="Google Shape;526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8A8F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7" name="Google Shape;527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8" name="Google Shape;528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A8F8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30" name="Google Shape;530;p39"/>
          <p:cNvSpPr/>
          <p:nvPr/>
        </p:nvSpPr>
        <p:spPr>
          <a:xfrm>
            <a:off x="4372350" y="329475"/>
            <a:ext cx="4448400" cy="748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4372350" y="1078252"/>
            <a:ext cx="4448400" cy="748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4372350" y="1827030"/>
            <a:ext cx="4448400" cy="748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4372350" y="2575807"/>
            <a:ext cx="4448400" cy="7488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4372350" y="3324609"/>
            <a:ext cx="4448400" cy="14976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8789361" y="29195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9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39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9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Rows and Cards">
  <p:cSld name="CUSTOM_6_2_1">
    <p:bg>
      <p:bgPr>
        <a:solidFill>
          <a:srgbClr val="001408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" name="Google Shape;543;p40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4" name="Google Shape;544;p40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0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6" name="Google Shape;546;p40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" name="Google Shape;547;p40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548;p40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49" name="Google Shape;549;p4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0" name="Google Shape;550;p4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40"/>
          <p:cNvGrpSpPr/>
          <p:nvPr/>
        </p:nvGrpSpPr>
        <p:grpSpPr>
          <a:xfrm>
            <a:off x="25" y="1569729"/>
            <a:ext cx="9147900" cy="64500"/>
            <a:chOff x="25" y="510925"/>
            <a:chExt cx="9147900" cy="64500"/>
          </a:xfrm>
        </p:grpSpPr>
        <p:cxnSp>
          <p:nvCxnSpPr>
            <p:cNvPr id="553" name="Google Shape;553;p4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4" name="Google Shape;554;p4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6" name="Google Shape;556;p4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3153900" y="1600400"/>
            <a:ext cx="2832300" cy="3223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58" name="Google Shape;558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3900" y="1598599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6100" y="321096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1700" y="321096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5950" y="159111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3900" y="1600425"/>
            <a:ext cx="2832301" cy="1610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" name="Google Shape;563;p40"/>
          <p:cNvCxnSpPr/>
          <p:nvPr/>
        </p:nvCxnSpPr>
        <p:spPr>
          <a:xfrm rot="10800000">
            <a:off x="325450" y="3219475"/>
            <a:ext cx="84933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">
  <p:cSld name="CUSTOM_6_2_1_1">
    <p:bg>
      <p:bgPr>
        <a:solidFill>
          <a:srgbClr val="001408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 title="image25.png"/>
          <p:cNvPicPr preferRelativeResize="0"/>
          <p:nvPr/>
        </p:nvPicPr>
        <p:blipFill rotWithShape="1">
          <a:blip r:embed="rId2">
            <a:alphaModFix/>
          </a:blip>
          <a:srcRect l="12197" t="15983" r="52158" b="48610"/>
          <a:stretch/>
        </p:blipFill>
        <p:spPr>
          <a:xfrm rot="10800000">
            <a:off x="329050" y="328627"/>
            <a:ext cx="4523950" cy="4493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41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41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8" name="Google Shape;568;p41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9" name="Google Shape;569;p41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41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41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72" name="Google Shape;572;p41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3" name="Google Shape;573;p41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41"/>
          <p:cNvGrpSpPr/>
          <p:nvPr/>
        </p:nvGrpSpPr>
        <p:grpSpPr>
          <a:xfrm>
            <a:off x="4818950" y="290950"/>
            <a:ext cx="64500" cy="4565350"/>
            <a:chOff x="5029075" y="290950"/>
            <a:chExt cx="64500" cy="4565350"/>
          </a:xfrm>
        </p:grpSpPr>
        <p:cxnSp>
          <p:nvCxnSpPr>
            <p:cNvPr id="576" name="Google Shape;576;p41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41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1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- 2 Cards">
  <p:cSld name="CUSTOM_6_2_1_1_2">
    <p:bg>
      <p:bgPr>
        <a:solidFill>
          <a:srgbClr val="001408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1" name="Google Shape;581;p42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42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42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42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" name="Google Shape;585;p42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6" name="Google Shape;586;p42"/>
          <p:cNvCxnSpPr/>
          <p:nvPr/>
        </p:nvCxnSpPr>
        <p:spPr>
          <a:xfrm>
            <a:off x="79341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7" name="Google Shape;587;p42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88" name="Google Shape;588;p42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9" name="Google Shape;589;p42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2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42"/>
          <p:cNvGrpSpPr/>
          <p:nvPr/>
        </p:nvGrpSpPr>
        <p:grpSpPr>
          <a:xfrm>
            <a:off x="4818950" y="290950"/>
            <a:ext cx="64500" cy="4565350"/>
            <a:chOff x="5029075" y="290950"/>
            <a:chExt cx="64500" cy="4565350"/>
          </a:xfrm>
        </p:grpSpPr>
        <p:cxnSp>
          <p:nvCxnSpPr>
            <p:cNvPr id="592" name="Google Shape;592;p42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3" name="Google Shape;593;p42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2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5" name="Google Shape;595;p42"/>
          <p:cNvSpPr/>
          <p:nvPr/>
        </p:nvSpPr>
        <p:spPr>
          <a:xfrm>
            <a:off x="607750" y="3523675"/>
            <a:ext cx="1904700" cy="1034100"/>
          </a:xfrm>
          <a:prstGeom prst="rect">
            <a:avLst/>
          </a:prstGeom>
          <a:solidFill>
            <a:srgbClr val="3035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6" name="Google Shape;596;p42"/>
          <p:cNvCxnSpPr/>
          <p:nvPr/>
        </p:nvCxnSpPr>
        <p:spPr>
          <a:xfrm>
            <a:off x="608850" y="3529850"/>
            <a:ext cx="1901400" cy="0"/>
          </a:xfrm>
          <a:prstGeom prst="straightConnector1">
            <a:avLst/>
          </a:prstGeom>
          <a:noFill/>
          <a:ln w="19050" cap="flat" cmpd="sng">
            <a:solidFill>
              <a:srgbClr val="CC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7" name="Google Shape;597;p42"/>
          <p:cNvSpPr/>
          <p:nvPr/>
        </p:nvSpPr>
        <p:spPr>
          <a:xfrm>
            <a:off x="2568775" y="3523675"/>
            <a:ext cx="1904700" cy="1034100"/>
          </a:xfrm>
          <a:prstGeom prst="rect">
            <a:avLst/>
          </a:prstGeom>
          <a:solidFill>
            <a:srgbClr val="3035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8" name="Google Shape;598;p42"/>
          <p:cNvCxnSpPr/>
          <p:nvPr/>
        </p:nvCxnSpPr>
        <p:spPr>
          <a:xfrm>
            <a:off x="2569875" y="3529850"/>
            <a:ext cx="1901400" cy="0"/>
          </a:xfrm>
          <a:prstGeom prst="straightConnector1">
            <a:avLst/>
          </a:prstGeom>
          <a:noFill/>
          <a:ln w="19050" cap="flat" cmpd="sng">
            <a:solidFill>
              <a:srgbClr val="CC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9" name="Google Shape;599;p42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4">
  <p:cSld name="CUSTOM_6_2_1_1_1_4">
    <p:bg>
      <p:bgPr>
        <a:solidFill>
          <a:srgbClr val="001408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4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4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3" name="Google Shape;603;p43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4" name="Google Shape;604;p4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4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6" name="Google Shape;606;p4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07" name="Google Shape;607;p4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8" name="Google Shape;608;p4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0" name="Google Shape;610;p43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348300" y="2551900"/>
            <a:ext cx="4469900" cy="2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43"/>
          <p:cNvSpPr/>
          <p:nvPr/>
        </p:nvSpPr>
        <p:spPr>
          <a:xfrm>
            <a:off x="4348300" y="326200"/>
            <a:ext cx="2235900" cy="22257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612" name="Google Shape;612;p43"/>
          <p:cNvSpPr/>
          <p:nvPr/>
        </p:nvSpPr>
        <p:spPr>
          <a:xfrm>
            <a:off x="6584388" y="326200"/>
            <a:ext cx="2235900" cy="22257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47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613" name="Google Shape;613;p4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-A">
  <p:cSld name="CUSTOM_6_2_1_1_1_3">
    <p:bg>
      <p:bgPr>
        <a:solidFill>
          <a:srgbClr val="001408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" name="Google Shape;615;p4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4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7" name="Google Shape;617;p44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8" name="Google Shape;618;p4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620;p4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21" name="Google Shape;621;p4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2" name="Google Shape;622;p4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44"/>
          <p:cNvGrpSpPr/>
          <p:nvPr/>
        </p:nvGrpSpPr>
        <p:grpSpPr>
          <a:xfrm>
            <a:off x="4312550" y="290950"/>
            <a:ext cx="64500" cy="4565350"/>
            <a:chOff x="5029075" y="290950"/>
            <a:chExt cx="64500" cy="4565350"/>
          </a:xfrm>
        </p:grpSpPr>
        <p:cxnSp>
          <p:nvCxnSpPr>
            <p:cNvPr id="625" name="Google Shape;625;p44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6" name="Google Shape;626;p44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44"/>
          <p:cNvSpPr>
            <a:spLocks noGrp="1"/>
          </p:cNvSpPr>
          <p:nvPr>
            <p:ph type="pic" idx="2"/>
          </p:nvPr>
        </p:nvSpPr>
        <p:spPr>
          <a:xfrm>
            <a:off x="4467225" y="423728"/>
            <a:ext cx="4248300" cy="21774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44"/>
          <p:cNvSpPr>
            <a:spLocks noGrp="1"/>
          </p:cNvSpPr>
          <p:nvPr>
            <p:ph type="pic" idx="3"/>
          </p:nvPr>
        </p:nvSpPr>
        <p:spPr>
          <a:xfrm>
            <a:off x="4467225" y="2659201"/>
            <a:ext cx="2097600" cy="203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44"/>
          <p:cNvSpPr>
            <a:spLocks noGrp="1"/>
          </p:cNvSpPr>
          <p:nvPr>
            <p:ph type="pic" idx="4"/>
          </p:nvPr>
        </p:nvSpPr>
        <p:spPr>
          <a:xfrm>
            <a:off x="6617896" y="2659201"/>
            <a:ext cx="2097600" cy="203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1" name="Google Shape;631;p4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_2_1_1_1_2">
    <p:bg>
      <p:bgPr>
        <a:solidFill>
          <a:srgbClr val="001408"/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45"/>
          <p:cNvPicPr preferRelativeResize="0"/>
          <p:nvPr/>
        </p:nvPicPr>
        <p:blipFill rotWithShape="1">
          <a:blip r:embed="rId2">
            <a:alphaModFix/>
          </a:blip>
          <a:srcRect t="25849"/>
          <a:stretch/>
        </p:blipFill>
        <p:spPr>
          <a:xfrm>
            <a:off x="330650" y="1649075"/>
            <a:ext cx="8482698" cy="31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25" y="1659175"/>
            <a:ext cx="8498473" cy="31620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5" name="Google Shape;635;p4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4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" name="Google Shape;637;p45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8" name="Google Shape;638;p4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9" name="Google Shape;639;p4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4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41" name="Google Shape;641;p4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2" name="Google Shape;642;p4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4" name="Google Shape;644;p45"/>
          <p:cNvCxnSpPr>
            <a:stCxn id="645" idx="2"/>
          </p:cNvCxnSpPr>
          <p:nvPr/>
        </p:nvCxnSpPr>
        <p:spPr>
          <a:xfrm rot="10800000">
            <a:off x="326650" y="1654835"/>
            <a:ext cx="8527200" cy="15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45"/>
          <p:cNvSpPr/>
          <p:nvPr/>
        </p:nvSpPr>
        <p:spPr>
          <a:xfrm rot="-5400000">
            <a:off x="292000" y="162408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5"/>
          <p:cNvSpPr/>
          <p:nvPr/>
        </p:nvSpPr>
        <p:spPr>
          <a:xfrm rot="-5400000">
            <a:off x="8789350" y="162408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45"/>
          <p:cNvCxnSpPr/>
          <p:nvPr/>
        </p:nvCxnSpPr>
        <p:spPr>
          <a:xfrm rot="10800000">
            <a:off x="6516350" y="319950"/>
            <a:ext cx="0" cy="13344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lectric Lime">
  <p:cSld name="CUSTOM_6_2_1_1_1_1">
    <p:bg>
      <p:bgPr>
        <a:solidFill>
          <a:srgbClr val="CCFF00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0" name="Google Shape;650;p46" title="image26.png"/>
          <p:cNvPicPr preferRelativeResize="0"/>
          <p:nvPr/>
        </p:nvPicPr>
        <p:blipFill rotWithShape="1">
          <a:blip r:embed="rId2">
            <a:alphaModFix amt="84000"/>
          </a:blip>
          <a:srcRect l="26592" t="28401" r="17926" b="19535"/>
          <a:stretch/>
        </p:blipFill>
        <p:spPr>
          <a:xfrm>
            <a:off x="323300" y="329650"/>
            <a:ext cx="8497401" cy="448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1" name="Google Shape;651;p4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46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4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4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6" name="Google Shape;6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6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2732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8" name="Google Shape;658;p4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9" name="Google Shape;659;p4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2732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4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61" name="Google Shape;661;p4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92B6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2" name="Google Shape;662;p4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2732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2732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46"/>
          <p:cNvSpPr/>
          <p:nvPr/>
        </p:nvSpPr>
        <p:spPr>
          <a:xfrm>
            <a:off x="325500" y="718750"/>
            <a:ext cx="8489400" cy="4098900"/>
          </a:xfrm>
          <a:prstGeom prst="rect">
            <a:avLst/>
          </a:prstGeom>
          <a:gradFill>
            <a:gsLst>
              <a:gs pos="0">
                <a:srgbClr val="FFFFFF">
                  <a:alpha val="0"/>
                  <a:alpha val="41250"/>
                </a:srgbClr>
              </a:gs>
              <a:gs pos="100000">
                <a:srgbClr val="C7FB5E">
                  <a:alpha val="4125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65" name="Google Shape;665;p46"/>
          <p:cNvSpPr txBox="1">
            <a:spLocks noGrp="1"/>
          </p:cNvSpPr>
          <p:nvPr>
            <p:ph type="sldNum" idx="12"/>
          </p:nvPr>
        </p:nvSpPr>
        <p:spPr>
          <a:xfrm>
            <a:off x="8821599" y="4833675"/>
            <a:ext cx="3399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666666"/>
                </a:solidFill>
              </a:defRPr>
            </a:lvl1pPr>
            <a:lvl2pPr lvl="1">
              <a:buNone/>
              <a:defRPr>
                <a:solidFill>
                  <a:srgbClr val="666666"/>
                </a:solidFill>
              </a:defRPr>
            </a:lvl2pPr>
            <a:lvl3pPr lvl="2">
              <a:buNone/>
              <a:defRPr>
                <a:solidFill>
                  <a:srgbClr val="666666"/>
                </a:solidFill>
              </a:defRPr>
            </a:lvl3pPr>
            <a:lvl4pPr lvl="3">
              <a:buNone/>
              <a:defRPr>
                <a:solidFill>
                  <a:srgbClr val="666666"/>
                </a:solidFill>
              </a:defRPr>
            </a:lvl4pPr>
            <a:lvl5pPr lvl="4">
              <a:buNone/>
              <a:defRPr>
                <a:solidFill>
                  <a:srgbClr val="666666"/>
                </a:solidFill>
              </a:defRPr>
            </a:lvl5pPr>
            <a:lvl6pPr lvl="5">
              <a:buNone/>
              <a:defRPr>
                <a:solidFill>
                  <a:srgbClr val="666666"/>
                </a:solidFill>
              </a:defRPr>
            </a:lvl6pPr>
            <a:lvl7pPr lvl="6">
              <a:buNone/>
              <a:defRPr>
                <a:solidFill>
                  <a:srgbClr val="666666"/>
                </a:solidFill>
              </a:defRPr>
            </a:lvl7pPr>
            <a:lvl8pPr lvl="7">
              <a:buNone/>
              <a:defRPr>
                <a:solidFill>
                  <a:srgbClr val="666666"/>
                </a:solidFill>
              </a:defRPr>
            </a:lvl8pPr>
            <a:lvl9pPr lvl="8">
              <a:buNone/>
              <a:defRPr>
                <a:solidFill>
                  <a:srgbClr val="66666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1">
  <p:cSld name="CUSTOM_6_1">
    <p:bg>
      <p:bgPr>
        <a:solidFill>
          <a:srgbClr val="001408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7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-1950" y="0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7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0014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69" name="Google Shape;669;p47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70" name="Google Shape;670;p47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7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72" name="Google Shape;672;p4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4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47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5" name="Google Shape;675;p4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" name="Google Shape;676;p4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7" name="Google Shape;677;p47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8" name="Google Shape;678;p47"/>
          <p:cNvSpPr/>
          <p:nvPr/>
        </p:nvSpPr>
        <p:spPr>
          <a:xfrm>
            <a:off x="324250" y="324353"/>
            <a:ext cx="1567800" cy="658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47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7"/>
          <p:cNvSpPr/>
          <p:nvPr/>
        </p:nvSpPr>
        <p:spPr>
          <a:xfrm>
            <a:off x="18601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1" name="Google Shape;681;p47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47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7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7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5" name="Google Shape;685;p47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6" name="Google Shape;686;p47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7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4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89" name="Google Shape;689;p4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0" name="Google Shape;690;p4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2" name="Google Shape;692;p47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7"/>
          <p:cNvSpPr/>
          <p:nvPr/>
        </p:nvSpPr>
        <p:spPr>
          <a:xfrm>
            <a:off x="18601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7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25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7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7" name="Google Shape;697;p47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9" name="Google Shape;699;p47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7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2">
  <p:cSld name="CUSTOM_6_1_2">
    <p:bg>
      <p:bgPr>
        <a:solidFill>
          <a:srgbClr val="001408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48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-1950" y="0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8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0014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4" name="Google Shape;704;p48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05" name="Google Shape;705;p48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8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07" name="Google Shape;707;p4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8" name="Google Shape;708;p4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9" name="Google Shape;709;p48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0" name="Google Shape;710;p4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1" name="Google Shape;711;p4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2" name="Google Shape;712;p48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48"/>
          <p:cNvSpPr/>
          <p:nvPr/>
        </p:nvSpPr>
        <p:spPr>
          <a:xfrm>
            <a:off x="324250" y="324350"/>
            <a:ext cx="2408400" cy="658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4" name="Google Shape;714;p48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8"/>
          <p:cNvSpPr/>
          <p:nvPr/>
        </p:nvSpPr>
        <p:spPr>
          <a:xfrm>
            <a:off x="26983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716;p48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7" name="Google Shape;717;p48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8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8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0" name="Google Shape;720;p48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1" name="Google Shape;721;p48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8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4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24" name="Google Shape;724;p4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25" name="Google Shape;725;p4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7" name="Google Shape;727;p48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8"/>
          <p:cNvSpPr/>
          <p:nvPr/>
        </p:nvSpPr>
        <p:spPr>
          <a:xfrm>
            <a:off x="26983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9" name="Google Shape;72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277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8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8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2" name="Google Shape;732;p48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4" name="Google Shape;734;p48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5" name="Google Shape;735;p48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6_1_1">
    <p:bg>
      <p:bgPr>
        <a:solidFill>
          <a:srgbClr val="001408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9"/>
          <p:cNvSpPr/>
          <p:nvPr/>
        </p:nvSpPr>
        <p:spPr>
          <a:xfrm>
            <a:off x="-75" y="125"/>
            <a:ext cx="9144000" cy="5143500"/>
          </a:xfrm>
          <a:prstGeom prst="rect">
            <a:avLst/>
          </a:prstGeom>
          <a:solidFill>
            <a:srgbClr val="0014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38" name="Google Shape;738;p49" title="image23-halfsize.png"/>
          <p:cNvPicPr preferRelativeResize="0"/>
          <p:nvPr/>
        </p:nvPicPr>
        <p:blipFill rotWithShape="1">
          <a:blip r:embed="rId2">
            <a:alphaModFix/>
          </a:blip>
          <a:srcRect l="23970" t="1784" r="23990" b="1765"/>
          <a:stretch/>
        </p:blipFill>
        <p:spPr>
          <a:xfrm rot="-5400000" flipH="1">
            <a:off x="2001550" y="-1990475"/>
            <a:ext cx="5140900" cy="9124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4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1" name="Google Shape;741;p49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2" name="Google Shape;742;p4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3" name="Google Shape;743;p4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4" name="Google Shape;744;p4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45" name="Google Shape;745;p4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4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 w="9525" cap="flat" cmpd="sng">
              <a:solidFill>
                <a:srgbClr val="273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 w="9525" cap="flat" cmpd="sng">
              <a:solidFill>
                <a:srgbClr val="273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8" name="Google Shape;748;p49"/>
          <p:cNvSpPr/>
          <p:nvPr/>
        </p:nvSpPr>
        <p:spPr>
          <a:xfrm>
            <a:off x="325525" y="1393925"/>
            <a:ext cx="8497500" cy="2174100"/>
          </a:xfrm>
          <a:prstGeom prst="rect">
            <a:avLst/>
          </a:prstGeom>
          <a:solidFill>
            <a:srgbClr val="001408"/>
          </a:solidFill>
          <a:ln w="9525" cap="flat" cmpd="sng">
            <a:solidFill>
              <a:srgbClr val="273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292000" y="136668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9"/>
          <p:cNvSpPr/>
          <p:nvPr/>
        </p:nvSpPr>
        <p:spPr>
          <a:xfrm>
            <a:off x="292000" y="353063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9"/>
          <p:cNvSpPr/>
          <p:nvPr/>
        </p:nvSpPr>
        <p:spPr>
          <a:xfrm>
            <a:off x="8792050" y="1366685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9"/>
          <p:cNvSpPr/>
          <p:nvPr/>
        </p:nvSpPr>
        <p:spPr>
          <a:xfrm>
            <a:off x="8792050" y="353063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9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p49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6" name="Google Shape;7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49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8" name="Google Shape;758;p49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1">
  <p:cSld name="CUSTOM_6_1 - Light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15957" y="127776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cxnSp>
        <p:nvCxnSpPr>
          <p:cNvPr id="56" name="Google Shape;56;p1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57;p1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1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1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3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/>
          <p:nvPr/>
        </p:nvSpPr>
        <p:spPr>
          <a:xfrm>
            <a:off x="324250" y="324353"/>
            <a:ext cx="1567800" cy="658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8601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13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13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" name="Google Shape;69;p13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" name="Google Shape;70;p13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3" name="Google Shape;73;p1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3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8601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25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3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3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 - Ligh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image25.png"/>
          <p:cNvPicPr preferRelativeResize="0"/>
          <p:nvPr/>
        </p:nvPicPr>
        <p:blipFill rotWithShape="1">
          <a:blip r:embed="rId2">
            <a:alphaModFix/>
          </a:blip>
          <a:srcRect l="26231" t="41206" r="2796" b="21308"/>
          <a:stretch/>
        </p:blipFill>
        <p:spPr>
          <a:xfrm flipH="1">
            <a:off x="328800" y="330700"/>
            <a:ext cx="8486400" cy="448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325525" y="1675500"/>
            <a:ext cx="8497500" cy="17925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140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23150" y="2014350"/>
            <a:ext cx="8486400" cy="1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Write a bold, compelling statement about what the company wants to </a:t>
            </a:r>
            <a:r>
              <a:rPr lang="en" sz="3600"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achieve.</a:t>
            </a:r>
            <a:endParaRPr sz="3600" b="1">
              <a:solidFill>
                <a:srgbClr val="4A8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23150" y="33717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Our mission</a:t>
            </a:r>
            <a:endParaRPr b="1">
              <a:solidFill>
                <a:srgbClr val="4A85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 3 columns">
  <p:cSld name="Caption - Ligh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161050" y="323151"/>
            <a:ext cx="2834700" cy="1499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1" name="Google Shape;111;p16"/>
          <p:cNvSpPr/>
          <p:nvPr/>
        </p:nvSpPr>
        <p:spPr>
          <a:xfrm>
            <a:off x="3161050" y="1821901"/>
            <a:ext cx="2834700" cy="1499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2" name="Google Shape;112;p16"/>
          <p:cNvSpPr/>
          <p:nvPr/>
        </p:nvSpPr>
        <p:spPr>
          <a:xfrm>
            <a:off x="3161050" y="3324551"/>
            <a:ext cx="2834700" cy="1499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3" name="Google Shape;113;p16"/>
          <p:cNvSpPr/>
          <p:nvPr/>
        </p:nvSpPr>
        <p:spPr>
          <a:xfrm>
            <a:off x="5987150" y="323150"/>
            <a:ext cx="2834700" cy="2998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4" name="Google Shape;114;p16"/>
          <p:cNvSpPr/>
          <p:nvPr/>
        </p:nvSpPr>
        <p:spPr>
          <a:xfrm>
            <a:off x="5989550" y="3321600"/>
            <a:ext cx="2832300" cy="1505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2"/>
          </p:nvPr>
        </p:nvSpPr>
        <p:spPr>
          <a:xfrm>
            <a:off x="6191250" y="1033400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6"/>
          <p:cNvSpPr>
            <a:spLocks noGrp="1"/>
          </p:cNvSpPr>
          <p:nvPr>
            <p:ph type="pic" idx="3"/>
          </p:nvPr>
        </p:nvSpPr>
        <p:spPr>
          <a:xfrm>
            <a:off x="7465172" y="1033400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6"/>
          <p:cNvSpPr>
            <a:spLocks noGrp="1"/>
          </p:cNvSpPr>
          <p:nvPr>
            <p:ph type="pic" idx="4"/>
          </p:nvPr>
        </p:nvSpPr>
        <p:spPr>
          <a:xfrm>
            <a:off x="6191250" y="2110852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6"/>
          <p:cNvSpPr>
            <a:spLocks noGrp="1"/>
          </p:cNvSpPr>
          <p:nvPr>
            <p:ph type="pic" idx="5"/>
          </p:nvPr>
        </p:nvSpPr>
        <p:spPr>
          <a:xfrm>
            <a:off x="7465172" y="2110852"/>
            <a:ext cx="1178400" cy="966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6"/>
          <p:cNvSpPr/>
          <p:nvPr/>
        </p:nvSpPr>
        <p:spPr>
          <a:xfrm>
            <a:off x="8789725" y="47925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5908" y="3324550"/>
            <a:ext cx="2832301" cy="1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4 column">
  <p:cSld name="Blank - Ligh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57185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6705075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244870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5550" y="1600200"/>
            <a:ext cx="2123150" cy="1610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/>
          <p:nvPr/>
        </p:nvCxnSpPr>
        <p:spPr>
          <a:xfrm>
            <a:off x="323850" y="1600200"/>
            <a:ext cx="8505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>
            <a:stCxn id="130" idx="2"/>
          </p:cNvCxnSpPr>
          <p:nvPr/>
        </p:nvCxnSpPr>
        <p:spPr>
          <a:xfrm rot="10800000">
            <a:off x="2448711" y="1614400"/>
            <a:ext cx="0" cy="32514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>
            <a:stCxn id="132" idx="0"/>
            <a:endCxn id="133" idx="2"/>
          </p:cNvCxnSpPr>
          <p:nvPr/>
        </p:nvCxnSpPr>
        <p:spPr>
          <a:xfrm rot="10800000">
            <a:off x="4571861" y="1627900"/>
            <a:ext cx="0" cy="31734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7"/>
          <p:cNvCxnSpPr>
            <a:stCxn id="135" idx="0"/>
            <a:endCxn id="136" idx="2"/>
          </p:cNvCxnSpPr>
          <p:nvPr/>
        </p:nvCxnSpPr>
        <p:spPr>
          <a:xfrm rot="10800000">
            <a:off x="6695011" y="1627900"/>
            <a:ext cx="0" cy="31734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7"/>
          <p:cNvSpPr/>
          <p:nvPr/>
        </p:nvSpPr>
        <p:spPr>
          <a:xfrm>
            <a:off x="666276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453961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2416461" y="1563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66276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53961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416461" y="4801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ards">
  <p:cSld name="Blank_5 - Ligh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title="image5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326237" y="351432"/>
            <a:ext cx="8491525" cy="44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324750" y="1511300"/>
            <a:ext cx="8492700" cy="2590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>
            <a:off x="4575200" y="1511300"/>
            <a:ext cx="0" cy="25908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18"/>
          <p:cNvSpPr/>
          <p:nvPr/>
        </p:nvSpPr>
        <p:spPr>
          <a:xfrm>
            <a:off x="4542961" y="148012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542961" y="407092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2">
  <p:cSld name="Blank_4 - Ligh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5618100" y="1075000"/>
            <a:ext cx="3198600" cy="2211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47" name="Google Shape;147;p19"/>
          <p:cNvSpPr/>
          <p:nvPr/>
        </p:nvSpPr>
        <p:spPr>
          <a:xfrm>
            <a:off x="2423700" y="1075000"/>
            <a:ext cx="3198600" cy="3743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7975" y="1075000"/>
            <a:ext cx="2095725" cy="37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2423700" y="2276176"/>
            <a:ext cx="31944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19"/>
          <p:cNvCxnSpPr/>
          <p:nvPr/>
        </p:nvCxnSpPr>
        <p:spPr>
          <a:xfrm>
            <a:off x="2423700" y="3285887"/>
            <a:ext cx="31944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4B5650"/>
                </a:solidFill>
              </a:defRPr>
            </a:lvl1pPr>
            <a:lvl2pPr lvl="1">
              <a:buNone/>
              <a:defRPr>
                <a:solidFill>
                  <a:srgbClr val="4B5650"/>
                </a:solidFill>
              </a:defRPr>
            </a:lvl2pPr>
            <a:lvl3pPr lvl="2">
              <a:buNone/>
              <a:defRPr>
                <a:solidFill>
                  <a:srgbClr val="4B5650"/>
                </a:solidFill>
              </a:defRPr>
            </a:lvl3pPr>
            <a:lvl4pPr lvl="3">
              <a:buNone/>
              <a:defRPr>
                <a:solidFill>
                  <a:srgbClr val="4B5650"/>
                </a:solidFill>
              </a:defRPr>
            </a:lvl4pPr>
            <a:lvl5pPr lvl="4">
              <a:buNone/>
              <a:defRPr>
                <a:solidFill>
                  <a:srgbClr val="4B5650"/>
                </a:solidFill>
              </a:defRPr>
            </a:lvl5pPr>
            <a:lvl6pPr lvl="5">
              <a:buNone/>
              <a:defRPr>
                <a:solidFill>
                  <a:srgbClr val="4B5650"/>
                </a:solidFill>
              </a:defRPr>
            </a:lvl6pPr>
            <a:lvl7pPr lvl="6">
              <a:buNone/>
              <a:defRPr>
                <a:solidFill>
                  <a:srgbClr val="4B5650"/>
                </a:solidFill>
              </a:defRPr>
            </a:lvl7pPr>
            <a:lvl8pPr lvl="7">
              <a:buNone/>
              <a:defRPr>
                <a:solidFill>
                  <a:srgbClr val="4B5650"/>
                </a:solidFill>
              </a:defRPr>
            </a:lvl8pPr>
            <a:lvl9pPr lvl="8">
              <a:buNone/>
              <a:defRPr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7325" y="1074988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9"/>
          <p:cNvSpPr/>
          <p:nvPr/>
        </p:nvSpPr>
        <p:spPr>
          <a:xfrm>
            <a:off x="8789725" y="104273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Blank_3 - Ligh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696075" y="2597550"/>
            <a:ext cx="3119750" cy="22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691950" y="2597550"/>
            <a:ext cx="3127800" cy="2225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58" name="Google Shape;158;p20"/>
          <p:cNvSpPr/>
          <p:nvPr/>
        </p:nvSpPr>
        <p:spPr>
          <a:xfrm>
            <a:off x="5691950" y="1349550"/>
            <a:ext cx="3127800" cy="124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159" name="Google Shape;159;p20"/>
          <p:cNvSpPr/>
          <p:nvPr/>
        </p:nvSpPr>
        <p:spPr>
          <a:xfrm>
            <a:off x="3594875" y="1349550"/>
            <a:ext cx="2101200" cy="3473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cxnSp>
        <p:nvCxnSpPr>
          <p:cNvPr id="160" name="Google Shape;160;p20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0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8789725" y="479285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0"/>
          <p:cNvSpPr>
            <a:spLocks noGrp="1"/>
          </p:cNvSpPr>
          <p:nvPr>
            <p:ph type="pic" idx="2"/>
          </p:nvPr>
        </p:nvSpPr>
        <p:spPr>
          <a:xfrm>
            <a:off x="3676400" y="1428750"/>
            <a:ext cx="1938000" cy="329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- 3 columns">
  <p:cSld name="Blank_2 - Ligh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7" name="Google Shape;167;p21"/>
          <p:cNvCxnSpPr/>
          <p:nvPr/>
        </p:nvCxnSpPr>
        <p:spPr>
          <a:xfrm>
            <a:off x="3060575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1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1"/>
          <p:cNvCxnSpPr/>
          <p:nvPr/>
        </p:nvCxnSpPr>
        <p:spPr>
          <a:xfrm>
            <a:off x="5989550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1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8475" y="1354615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2400" y="1354625"/>
            <a:ext cx="2738174" cy="161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9550" y="1354615"/>
            <a:ext cx="2832301" cy="161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 - 2 columns">
  <p:cSld name="Blank_2_1 - Ligh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7" name="Google Shape;177;p22"/>
          <p:cNvCxnSpPr/>
          <p:nvPr/>
        </p:nvCxnSpPr>
        <p:spPr>
          <a:xfrm>
            <a:off x="4579325" y="1349550"/>
            <a:ext cx="0" cy="34749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/>
          <p:nvPr/>
        </p:nvCxnSpPr>
        <p:spPr>
          <a:xfrm>
            <a:off x="7325" y="134955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2"/>
          <p:cNvSpPr/>
          <p:nvPr/>
        </p:nvSpPr>
        <p:spPr>
          <a:xfrm>
            <a:off x="87897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295025" y="1317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2400" y="1354625"/>
            <a:ext cx="4256925" cy="231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559340" y="1354625"/>
            <a:ext cx="4256925" cy="231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 - Ligh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 title="image23-halfsize.png"/>
          <p:cNvPicPr preferRelativeResize="0"/>
          <p:nvPr/>
        </p:nvPicPr>
        <p:blipFill rotWithShape="1">
          <a:blip r:embed="rId2">
            <a:alphaModFix/>
          </a:blip>
          <a:srcRect l="35615" t="25776" r="8746" b="42476"/>
          <a:stretch/>
        </p:blipFill>
        <p:spPr>
          <a:xfrm rot="10800000" flipH="1">
            <a:off x="325375" y="343350"/>
            <a:ext cx="8489101" cy="447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/>
          <p:nvPr/>
        </p:nvSpPr>
        <p:spPr>
          <a:xfrm>
            <a:off x="325525" y="328925"/>
            <a:ext cx="8497500" cy="4173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">
  <p:cSld name="Image only - Ligh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>
            <a:spLocks noGrp="1"/>
          </p:cNvSpPr>
          <p:nvPr>
            <p:ph type="pic" idx="2"/>
          </p:nvPr>
        </p:nvSpPr>
        <p:spPr>
          <a:xfrm>
            <a:off x="327275" y="1069825"/>
            <a:ext cx="8505000" cy="3745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89" name="Google Shape;189;p24"/>
          <p:cNvGrpSpPr/>
          <p:nvPr/>
        </p:nvGrpSpPr>
        <p:grpSpPr>
          <a:xfrm>
            <a:off x="25" y="1039175"/>
            <a:ext cx="9147900" cy="64500"/>
            <a:chOff x="25" y="510925"/>
            <a:chExt cx="9147900" cy="64500"/>
          </a:xfrm>
        </p:grpSpPr>
        <p:cxnSp>
          <p:nvCxnSpPr>
            <p:cNvPr id="190" name="Google Shape;190;p2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" name="Google Shape;191;p2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ards center">
  <p:cSld name="CUSTOM_6_2 - Light"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 title="image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600" y="323275"/>
            <a:ext cx="8492800" cy="449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2925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2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03" name="Google Shape;203;p2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" name="Google Shape;204;p2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" name="Google Shape;206;p25"/>
          <p:cNvSpPr/>
          <p:nvPr/>
        </p:nvSpPr>
        <p:spPr>
          <a:xfrm>
            <a:off x="324750" y="1667975"/>
            <a:ext cx="8492700" cy="1807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07" name="Google Shape;207;p25"/>
          <p:cNvCxnSpPr/>
          <p:nvPr/>
        </p:nvCxnSpPr>
        <p:spPr>
          <a:xfrm>
            <a:off x="6696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5"/>
          <p:cNvCxnSpPr/>
          <p:nvPr/>
        </p:nvCxnSpPr>
        <p:spPr>
          <a:xfrm>
            <a:off x="8820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5"/>
          <p:cNvCxnSpPr/>
          <p:nvPr/>
        </p:nvCxnSpPr>
        <p:spPr>
          <a:xfrm>
            <a:off x="457200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5"/>
          <p:cNvCxnSpPr/>
          <p:nvPr/>
        </p:nvCxnSpPr>
        <p:spPr>
          <a:xfrm>
            <a:off x="2448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324750" y="1667125"/>
            <a:ext cx="0" cy="18057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5"/>
          <p:cNvSpPr/>
          <p:nvPr/>
        </p:nvSpPr>
        <p:spPr>
          <a:xfrm>
            <a:off x="6664061" y="16340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664061" y="34451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4540511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4540511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292499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292499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8791436" y="16340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8791436" y="34451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2416511" y="16330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2416511" y="34441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6_2_9 - Light"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2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6" name="Google Shape;22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8" name="Google Shape;228;p2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2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31" name="Google Shape;231;p2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" name="Google Shape;232;p2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wo columns">
  <p:cSld name="CUSTOM_6_2_9_1 - Light"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2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8" name="Google Shape;23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2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43" name="Google Shape;243;p2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4" name="Google Shape;244;p2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27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77427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800"/>
              <a:buFont typeface="Calibri"/>
              <a:buNone/>
              <a:defRPr sz="280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body" idx="2"/>
          </p:nvPr>
        </p:nvSpPr>
        <p:spPr>
          <a:xfrm>
            <a:off x="4757734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body" idx="3"/>
          </p:nvPr>
        </p:nvSpPr>
        <p:spPr>
          <a:xfrm>
            <a:off x="620500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op title">
  <p:cSld name="CUSTOM_6_2_9_1_4 - Light"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4" name="Google Shape;25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6" name="Google Shape;256;p2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2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59" name="Google Shape;259;p2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0" name="Google Shape;260;p2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subTitle" idx="1"/>
          </p:nvPr>
        </p:nvSpPr>
        <p:spPr>
          <a:xfrm>
            <a:off x="468100" y="387311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4" name="Google Shape;264;p28"/>
          <p:cNvGrpSpPr/>
          <p:nvPr/>
        </p:nvGrpSpPr>
        <p:grpSpPr>
          <a:xfrm>
            <a:off x="25" y="824350"/>
            <a:ext cx="9147900" cy="64500"/>
            <a:chOff x="25" y="510925"/>
            <a:chExt cx="9147900" cy="64500"/>
          </a:xfrm>
        </p:grpSpPr>
        <p:cxnSp>
          <p:nvCxnSpPr>
            <p:cNvPr id="265" name="Google Shape;265;p2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6" name="Google Shape;266;p2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hree columns">
  <p:cSld name="CUSTOM_6_2_9_1_3 - Light"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1" name="Google Shape;27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76" name="Google Shape;276;p2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29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29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78768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800"/>
              <a:buFont typeface="Calibri"/>
              <a:buNone/>
              <a:defRPr sz="280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body" idx="2"/>
          </p:nvPr>
        </p:nvSpPr>
        <p:spPr>
          <a:xfrm>
            <a:off x="3366275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body" idx="3"/>
          </p:nvPr>
        </p:nvSpPr>
        <p:spPr>
          <a:xfrm>
            <a:off x="620500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4" name="Google Shape;284;p29"/>
          <p:cNvSpPr txBox="1">
            <a:spLocks noGrp="1"/>
          </p:cNvSpPr>
          <p:nvPr>
            <p:ph type="body" idx="4"/>
          </p:nvPr>
        </p:nvSpPr>
        <p:spPr>
          <a:xfrm>
            <a:off x="6112053" y="2433400"/>
            <a:ext cx="23928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one columns + image">
  <p:cSld name="CUSTOM_6_2_9_1_2 - Light"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30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0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8" name="Google Shape;28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0" name="Google Shape;290;p30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30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293" name="Google Shape;293;p3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4" name="Google Shape;294;p3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30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0500" y="1350425"/>
            <a:ext cx="3605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800"/>
              <a:buFont typeface="Calibri"/>
              <a:buNone/>
              <a:defRPr sz="280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ubTitle" idx="1"/>
          </p:nvPr>
        </p:nvSpPr>
        <p:spPr>
          <a:xfrm>
            <a:off x="620500" y="85445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0"/>
          <p:cNvSpPr>
            <a:spLocks noGrp="1"/>
          </p:cNvSpPr>
          <p:nvPr>
            <p:ph type="pic" idx="2"/>
          </p:nvPr>
        </p:nvSpPr>
        <p:spPr>
          <a:xfrm>
            <a:off x="4618950" y="322300"/>
            <a:ext cx="4213200" cy="449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00" name="Google Shape;300;p30"/>
          <p:cNvCxnSpPr>
            <a:endCxn id="301" idx="2"/>
          </p:cNvCxnSpPr>
          <p:nvPr/>
        </p:nvCxnSpPr>
        <p:spPr>
          <a:xfrm rot="10800000">
            <a:off x="46122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0"/>
          <p:cNvSpPr/>
          <p:nvPr/>
        </p:nvSpPr>
        <p:spPr>
          <a:xfrm>
            <a:off x="45799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45799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body" idx="3"/>
          </p:nvPr>
        </p:nvSpPr>
        <p:spPr>
          <a:xfrm>
            <a:off x="620500" y="2433395"/>
            <a:ext cx="36054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wo columns divided">
  <p:cSld name="CUSTOM_6_2_9_1_2_1 - Light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31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1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7" name="Google Shape;30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9" name="Google Shape;309;p31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31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31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12" name="Google Shape;312;p31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3" name="Google Shape;313;p31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31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title"/>
          </p:nvPr>
        </p:nvSpPr>
        <p:spPr>
          <a:xfrm>
            <a:off x="621000" y="2203500"/>
            <a:ext cx="36054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800"/>
              <a:buFont typeface="Calibri"/>
              <a:buNone/>
              <a:defRPr sz="280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7" name="Google Shape;317;p31"/>
          <p:cNvSpPr txBox="1">
            <a:spLocks noGrp="1"/>
          </p:cNvSpPr>
          <p:nvPr>
            <p:ph type="subTitle" idx="1"/>
          </p:nvPr>
        </p:nvSpPr>
        <p:spPr>
          <a:xfrm>
            <a:off x="621000" y="1707525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8" name="Google Shape;318;p31"/>
          <p:cNvCxnSpPr>
            <a:endCxn id="319" idx="2"/>
          </p:cNvCxnSpPr>
          <p:nvPr/>
        </p:nvCxnSpPr>
        <p:spPr>
          <a:xfrm rot="10800000">
            <a:off x="46122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31"/>
          <p:cNvSpPr/>
          <p:nvPr/>
        </p:nvSpPr>
        <p:spPr>
          <a:xfrm>
            <a:off x="45799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45799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body" idx="2"/>
          </p:nvPr>
        </p:nvSpPr>
        <p:spPr>
          <a:xfrm>
            <a:off x="4914200" y="2230201"/>
            <a:ext cx="3605400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●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○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100"/>
              <a:buFont typeface="Calibri"/>
              <a:buChar char="■"/>
              <a:defRPr sz="11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subTitle" idx="3"/>
          </p:nvPr>
        </p:nvSpPr>
        <p:spPr>
          <a:xfrm>
            <a:off x="4914200" y="1689300"/>
            <a:ext cx="36054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1400"/>
              <a:buNone/>
              <a:defRPr>
                <a:solidFill>
                  <a:srgbClr val="001408"/>
                </a:solidFill>
              </a:defRPr>
            </a:lvl9pPr>
          </a:lstStyle>
          <a:p>
            <a:endParaRPr/>
          </a:p>
        </p:txBody>
      </p:sp>
      <p:pic>
        <p:nvPicPr>
          <p:cNvPr id="323" name="Google Shape;323;p31"/>
          <p:cNvPicPr preferRelativeResize="0"/>
          <p:nvPr/>
        </p:nvPicPr>
        <p:blipFill rotWithShape="1">
          <a:blip r:embed="rId3">
            <a:alphaModFix/>
          </a:blip>
          <a:srcRect l="-3247" t="62315" r="60694"/>
          <a:stretch/>
        </p:blipFill>
        <p:spPr>
          <a:xfrm>
            <a:off x="4644450" y="336325"/>
            <a:ext cx="4166450" cy="36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itle">
  <p:cSld name="CUSTOM_6_2_9_1_1 - Light"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32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2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7" name="Google Shape;32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2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9" name="Google Shape;329;p32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32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32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32" name="Google Shape;332;p32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3" name="Google Shape;333;p32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32"/>
          <p:cNvSpPr txBox="1">
            <a:spLocks noGrp="1"/>
          </p:cNvSpPr>
          <p:nvPr>
            <p:ph type="sldNum" idx="12"/>
          </p:nvPr>
        </p:nvSpPr>
        <p:spPr>
          <a:xfrm>
            <a:off x="8796789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620500" y="1883825"/>
            <a:ext cx="77427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4300"/>
              <a:buFont typeface="Calibri"/>
              <a:buNone/>
              <a:defRPr sz="43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A8500"/>
              </a:buClr>
              <a:buSzPts val="1000"/>
              <a:buNone/>
              <a:defRPr sz="1000">
                <a:solidFill>
                  <a:srgbClr val="4A8500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subTitle" idx="1"/>
          </p:nvPr>
        </p:nvSpPr>
        <p:spPr>
          <a:xfrm>
            <a:off x="620600" y="2798175"/>
            <a:ext cx="77427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1408"/>
              </a:buClr>
              <a:buSzPts val="2000"/>
              <a:buNone/>
              <a:defRPr sz="2000">
                <a:solidFill>
                  <a:srgbClr val="00140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">
  <p:cSld name="CUSTOM_6_2_8 - Light"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3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1" name="Google Shape;34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3"/>
          <p:cNvSpPr/>
          <p:nvPr/>
        </p:nvSpPr>
        <p:spPr>
          <a:xfrm>
            <a:off x="292007" y="47922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3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" name="Google Shape;345;p3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46" name="Google Shape;346;p3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7" name="Google Shape;347;p3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3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0" name="Google Shape;350;p33" title="image6.png"/>
          <p:cNvPicPr preferRelativeResize="0"/>
          <p:nvPr/>
        </p:nvPicPr>
        <p:blipFill rotWithShape="1">
          <a:blip r:embed="rId3">
            <a:alphaModFix/>
          </a:blip>
          <a:srcRect t="288" b="288"/>
          <a:stretch/>
        </p:blipFill>
        <p:spPr>
          <a:xfrm>
            <a:off x="5061900" y="324750"/>
            <a:ext cx="3758625" cy="4494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33"/>
          <p:cNvCxnSpPr>
            <a:endCxn id="352" idx="2"/>
          </p:cNvCxnSpPr>
          <p:nvPr/>
        </p:nvCxnSpPr>
        <p:spPr>
          <a:xfrm rot="10800000">
            <a:off x="5061911" y="351300"/>
            <a:ext cx="0" cy="44748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2" name="Google Shape;352;p33"/>
          <p:cNvSpPr/>
          <p:nvPr/>
        </p:nvSpPr>
        <p:spPr>
          <a:xfrm>
            <a:off x="50296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3"/>
          <p:cNvSpPr/>
          <p:nvPr/>
        </p:nvSpPr>
        <p:spPr>
          <a:xfrm>
            <a:off x="50296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rows">
  <p:cSld name="CUSTOM_6_2_7 - Light"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Google Shape;355;p3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7" name="Google Shape;35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4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9" name="Google Shape;359;p3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3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3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62" name="Google Shape;362;p3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3" name="Google Shape;363;p3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3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6" name="Google Shape;366;p34"/>
          <p:cNvCxnSpPr/>
          <p:nvPr/>
        </p:nvCxnSpPr>
        <p:spPr>
          <a:xfrm>
            <a:off x="323850" y="2281350"/>
            <a:ext cx="84771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34"/>
          <p:cNvCxnSpPr/>
          <p:nvPr/>
        </p:nvCxnSpPr>
        <p:spPr>
          <a:xfrm>
            <a:off x="323850" y="3714850"/>
            <a:ext cx="84771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2">
  <p:cSld name="CUSTOM_6_2_6 - Light"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3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3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1" name="Google Shape;37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292007" y="47922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3" name="Google Shape;373;p3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p3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3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76" name="Google Shape;376;p3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3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5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35" title="image4.png"/>
          <p:cNvPicPr preferRelativeResize="0"/>
          <p:nvPr/>
        </p:nvPicPr>
        <p:blipFill rotWithShape="1">
          <a:blip r:embed="rId3">
            <a:alphaModFix/>
          </a:blip>
          <a:srcRect t="358" b="308"/>
          <a:stretch/>
        </p:blipFill>
        <p:spPr>
          <a:xfrm>
            <a:off x="5061900" y="328150"/>
            <a:ext cx="3758625" cy="4489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5"/>
          <p:cNvSpPr txBox="1"/>
          <p:nvPr/>
        </p:nvSpPr>
        <p:spPr>
          <a:xfrm>
            <a:off x="606450" y="3288350"/>
            <a:ext cx="4041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Summarize why this partnership would be beneficial for both parties. Show how your values and goals align, and explain how the partnership could help you realise these goals.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5"/>
          <p:cNvCxnSpPr/>
          <p:nvPr/>
        </p:nvCxnSpPr>
        <p:spPr>
          <a:xfrm rot="10800000">
            <a:off x="5061900" y="0"/>
            <a:ext cx="0" cy="48261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35"/>
          <p:cNvSpPr/>
          <p:nvPr/>
        </p:nvSpPr>
        <p:spPr>
          <a:xfrm>
            <a:off x="5029661" y="2868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5029661" y="47923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3">
  <p:cSld name="CUSTOM_6_2_5 - Light"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3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3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8" name="Google Shape;388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3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0" name="Google Shape;390;p3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391" name="Google Shape;391;p3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2" name="Google Shape;392;p3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36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326225" y="2455875"/>
            <a:ext cx="2835000" cy="2377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6" name="Google Shape;396;p36"/>
          <p:cNvSpPr/>
          <p:nvPr/>
        </p:nvSpPr>
        <p:spPr>
          <a:xfrm>
            <a:off x="3161156" y="2455875"/>
            <a:ext cx="2831400" cy="2377800"/>
          </a:xfrm>
          <a:prstGeom prst="roundRect">
            <a:avLst>
              <a:gd name="adj" fmla="val 0"/>
            </a:avLst>
          </a:prstGeom>
          <a:solidFill>
            <a:srgbClr val="CCFF00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7" name="Google Shape;397;p36"/>
          <p:cNvSpPr/>
          <p:nvPr/>
        </p:nvSpPr>
        <p:spPr>
          <a:xfrm>
            <a:off x="5992450" y="2455875"/>
            <a:ext cx="2831400" cy="1188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8" name="Google Shape;398;p36"/>
          <p:cNvSpPr/>
          <p:nvPr/>
        </p:nvSpPr>
        <p:spPr>
          <a:xfrm>
            <a:off x="5992450" y="3644775"/>
            <a:ext cx="2831400" cy="1188900"/>
          </a:xfrm>
          <a:prstGeom prst="roundRect">
            <a:avLst>
              <a:gd name="adj" fmla="val 0"/>
            </a:avLst>
          </a:prstGeom>
          <a:solidFill>
            <a:srgbClr val="F0F2ED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399" name="Google Shape;399;p36"/>
          <p:cNvSpPr/>
          <p:nvPr/>
        </p:nvSpPr>
        <p:spPr>
          <a:xfrm>
            <a:off x="292007" y="48005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2">
  <p:cSld name="CUSTOM_6_2_4 - Light">
    <p:bg>
      <p:bgPr>
        <a:solidFill>
          <a:srgbClr val="FFFFFF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7" title="image25.png"/>
          <p:cNvPicPr preferRelativeResize="0"/>
          <p:nvPr/>
        </p:nvPicPr>
        <p:blipFill rotWithShape="1">
          <a:blip r:embed="rId2">
            <a:alphaModFix/>
          </a:blip>
          <a:srcRect l="49754" t="77453" r="16997" b="-7148"/>
          <a:stretch/>
        </p:blipFill>
        <p:spPr>
          <a:xfrm rot="10800000" flipH="1">
            <a:off x="0" y="-14426"/>
            <a:ext cx="5752550" cy="5137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3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5" name="Google Shape;4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/>
          <p:nvPr/>
        </p:nvSpPr>
        <p:spPr>
          <a:xfrm>
            <a:off x="292007" y="479179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7" name="Google Shape;407;p3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3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3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410" name="Google Shape;410;p3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1" name="Google Shape;411;p3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37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3733175" y="1942334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5" name="Google Shape;415;p37"/>
          <p:cNvSpPr/>
          <p:nvPr/>
        </p:nvSpPr>
        <p:spPr>
          <a:xfrm>
            <a:off x="3733175" y="323225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6" name="Google Shape;416;p37"/>
          <p:cNvSpPr>
            <a:spLocks noGrp="1"/>
          </p:cNvSpPr>
          <p:nvPr>
            <p:ph type="pic" idx="2"/>
          </p:nvPr>
        </p:nvSpPr>
        <p:spPr>
          <a:xfrm>
            <a:off x="3831225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37"/>
          <p:cNvSpPr/>
          <p:nvPr/>
        </p:nvSpPr>
        <p:spPr>
          <a:xfrm>
            <a:off x="5431252" y="1942334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8" name="Google Shape;418;p37"/>
          <p:cNvSpPr/>
          <p:nvPr/>
        </p:nvSpPr>
        <p:spPr>
          <a:xfrm>
            <a:off x="5431252" y="323225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19" name="Google Shape;419;p37"/>
          <p:cNvSpPr>
            <a:spLocks noGrp="1"/>
          </p:cNvSpPr>
          <p:nvPr>
            <p:ph type="pic" idx="3"/>
          </p:nvPr>
        </p:nvSpPr>
        <p:spPr>
          <a:xfrm>
            <a:off x="5529302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37"/>
          <p:cNvSpPr/>
          <p:nvPr/>
        </p:nvSpPr>
        <p:spPr>
          <a:xfrm>
            <a:off x="7128923" y="1942334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1" name="Google Shape;421;p37"/>
          <p:cNvSpPr/>
          <p:nvPr/>
        </p:nvSpPr>
        <p:spPr>
          <a:xfrm>
            <a:off x="7128923" y="323225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2" name="Google Shape;422;p37"/>
          <p:cNvSpPr>
            <a:spLocks noGrp="1"/>
          </p:cNvSpPr>
          <p:nvPr>
            <p:ph type="pic" idx="4"/>
          </p:nvPr>
        </p:nvSpPr>
        <p:spPr>
          <a:xfrm>
            <a:off x="7226973" y="416683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/>
        </p:nvSpPr>
        <p:spPr>
          <a:xfrm>
            <a:off x="3733175" y="4192699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4" name="Google Shape;424;p37"/>
          <p:cNvSpPr/>
          <p:nvPr/>
        </p:nvSpPr>
        <p:spPr>
          <a:xfrm>
            <a:off x="3733475" y="2573565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5" name="Google Shape;425;p37"/>
          <p:cNvSpPr>
            <a:spLocks noGrp="1"/>
          </p:cNvSpPr>
          <p:nvPr>
            <p:ph type="pic" idx="5"/>
          </p:nvPr>
        </p:nvSpPr>
        <p:spPr>
          <a:xfrm>
            <a:off x="3831225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7"/>
          <p:cNvSpPr/>
          <p:nvPr/>
        </p:nvSpPr>
        <p:spPr>
          <a:xfrm>
            <a:off x="5431252" y="4192699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7" name="Google Shape;427;p37"/>
          <p:cNvSpPr/>
          <p:nvPr/>
        </p:nvSpPr>
        <p:spPr>
          <a:xfrm>
            <a:off x="5431252" y="2573590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28" name="Google Shape;428;p37"/>
          <p:cNvSpPr>
            <a:spLocks noGrp="1"/>
          </p:cNvSpPr>
          <p:nvPr>
            <p:ph type="pic" idx="6"/>
          </p:nvPr>
        </p:nvSpPr>
        <p:spPr>
          <a:xfrm>
            <a:off x="5529302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7"/>
          <p:cNvSpPr/>
          <p:nvPr/>
        </p:nvSpPr>
        <p:spPr>
          <a:xfrm>
            <a:off x="7128923" y="4192699"/>
            <a:ext cx="1698000" cy="6312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30" name="Google Shape;430;p37"/>
          <p:cNvSpPr/>
          <p:nvPr/>
        </p:nvSpPr>
        <p:spPr>
          <a:xfrm>
            <a:off x="7128923" y="2573590"/>
            <a:ext cx="1698000" cy="1619100"/>
          </a:xfrm>
          <a:prstGeom prst="rect">
            <a:avLst/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975" tIns="90975" rIns="90975" bIns="9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431" name="Google Shape;431;p37"/>
          <p:cNvSpPr>
            <a:spLocks noGrp="1"/>
          </p:cNvSpPr>
          <p:nvPr>
            <p:ph type="pic" idx="7"/>
          </p:nvPr>
        </p:nvSpPr>
        <p:spPr>
          <a:xfrm>
            <a:off x="7226973" y="2667048"/>
            <a:ext cx="15018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7"/>
          <p:cNvSpPr/>
          <p:nvPr/>
        </p:nvSpPr>
        <p:spPr>
          <a:xfrm>
            <a:off x="8789361" y="29195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7"/>
          <p:cNvSpPr/>
          <p:nvPr/>
        </p:nvSpPr>
        <p:spPr>
          <a:xfrm>
            <a:off x="7096757" y="254131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5398186" y="2541313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1">
  <p:cSld name="CUSTOM_6_2_3 - Light"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8" title="image25.png"/>
          <p:cNvPicPr preferRelativeResize="0"/>
          <p:nvPr/>
        </p:nvPicPr>
        <p:blipFill rotWithShape="1">
          <a:blip r:embed="rId2">
            <a:alphaModFix/>
          </a:blip>
          <a:srcRect l="17351" t="13178" r="37650" b="52866"/>
          <a:stretch/>
        </p:blipFill>
        <p:spPr>
          <a:xfrm flipH="1">
            <a:off x="2752300" y="0"/>
            <a:ext cx="6391700" cy="482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p3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3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0" name="Google Shape;4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3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2" name="Google Shape;442;p3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444" name="Google Shape;444;p3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5" name="Google Shape;445;p3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7" name="Google Shape;447;p38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326575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49" name="Google Shape;449;p38"/>
          <p:cNvSpPr/>
          <p:nvPr/>
        </p:nvSpPr>
        <p:spPr>
          <a:xfrm>
            <a:off x="326575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0" name="Google Shape;450;p38"/>
          <p:cNvSpPr>
            <a:spLocks noGrp="1"/>
          </p:cNvSpPr>
          <p:nvPr>
            <p:ph type="pic" idx="2"/>
          </p:nvPr>
        </p:nvSpPr>
        <p:spPr>
          <a:xfrm>
            <a:off x="408344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38"/>
          <p:cNvSpPr/>
          <p:nvPr/>
        </p:nvSpPr>
        <p:spPr>
          <a:xfrm>
            <a:off x="1742698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2" name="Google Shape;452;p38"/>
          <p:cNvSpPr/>
          <p:nvPr/>
        </p:nvSpPr>
        <p:spPr>
          <a:xfrm>
            <a:off x="1742698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3" name="Google Shape;453;p38"/>
          <p:cNvSpPr>
            <a:spLocks noGrp="1"/>
          </p:cNvSpPr>
          <p:nvPr>
            <p:ph type="pic" idx="3"/>
          </p:nvPr>
        </p:nvSpPr>
        <p:spPr>
          <a:xfrm>
            <a:off x="1824468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38"/>
          <p:cNvSpPr/>
          <p:nvPr/>
        </p:nvSpPr>
        <p:spPr>
          <a:xfrm>
            <a:off x="3158483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5" name="Google Shape;455;p38"/>
          <p:cNvSpPr/>
          <p:nvPr/>
        </p:nvSpPr>
        <p:spPr>
          <a:xfrm>
            <a:off x="3158483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6" name="Google Shape;456;p38"/>
          <p:cNvSpPr>
            <a:spLocks noGrp="1"/>
          </p:cNvSpPr>
          <p:nvPr>
            <p:ph type="pic" idx="4"/>
          </p:nvPr>
        </p:nvSpPr>
        <p:spPr>
          <a:xfrm>
            <a:off x="3240252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38"/>
          <p:cNvSpPr/>
          <p:nvPr/>
        </p:nvSpPr>
        <p:spPr>
          <a:xfrm>
            <a:off x="326575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8" name="Google Shape;458;p38"/>
          <p:cNvSpPr/>
          <p:nvPr/>
        </p:nvSpPr>
        <p:spPr>
          <a:xfrm>
            <a:off x="326575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59" name="Google Shape;459;p38"/>
          <p:cNvSpPr>
            <a:spLocks noGrp="1"/>
          </p:cNvSpPr>
          <p:nvPr>
            <p:ph type="pic" idx="5"/>
          </p:nvPr>
        </p:nvSpPr>
        <p:spPr>
          <a:xfrm>
            <a:off x="408344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38"/>
          <p:cNvSpPr/>
          <p:nvPr/>
        </p:nvSpPr>
        <p:spPr>
          <a:xfrm>
            <a:off x="1742698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1" name="Google Shape;461;p38"/>
          <p:cNvSpPr/>
          <p:nvPr/>
        </p:nvSpPr>
        <p:spPr>
          <a:xfrm>
            <a:off x="1742698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2" name="Google Shape;462;p38"/>
          <p:cNvSpPr>
            <a:spLocks noGrp="1"/>
          </p:cNvSpPr>
          <p:nvPr>
            <p:ph type="pic" idx="6"/>
          </p:nvPr>
        </p:nvSpPr>
        <p:spPr>
          <a:xfrm>
            <a:off x="1824468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38"/>
          <p:cNvSpPr/>
          <p:nvPr/>
        </p:nvSpPr>
        <p:spPr>
          <a:xfrm>
            <a:off x="3158483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4" name="Google Shape;464;p38"/>
          <p:cNvSpPr/>
          <p:nvPr/>
        </p:nvSpPr>
        <p:spPr>
          <a:xfrm>
            <a:off x="3158483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5" name="Google Shape;465;p38"/>
          <p:cNvSpPr>
            <a:spLocks noGrp="1"/>
          </p:cNvSpPr>
          <p:nvPr>
            <p:ph type="pic" idx="7"/>
          </p:nvPr>
        </p:nvSpPr>
        <p:spPr>
          <a:xfrm>
            <a:off x="3240252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38"/>
          <p:cNvSpPr/>
          <p:nvPr/>
        </p:nvSpPr>
        <p:spPr>
          <a:xfrm>
            <a:off x="4574540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7" name="Google Shape;467;p38"/>
          <p:cNvSpPr/>
          <p:nvPr/>
        </p:nvSpPr>
        <p:spPr>
          <a:xfrm>
            <a:off x="4574540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68" name="Google Shape;468;p38"/>
          <p:cNvSpPr>
            <a:spLocks noGrp="1"/>
          </p:cNvSpPr>
          <p:nvPr>
            <p:ph type="pic" idx="8"/>
          </p:nvPr>
        </p:nvSpPr>
        <p:spPr>
          <a:xfrm>
            <a:off x="4656310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38"/>
          <p:cNvSpPr/>
          <p:nvPr/>
        </p:nvSpPr>
        <p:spPr>
          <a:xfrm>
            <a:off x="5990664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0" name="Google Shape;470;p38"/>
          <p:cNvSpPr/>
          <p:nvPr/>
        </p:nvSpPr>
        <p:spPr>
          <a:xfrm>
            <a:off x="5990664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1" name="Google Shape;471;p38"/>
          <p:cNvSpPr>
            <a:spLocks noGrp="1"/>
          </p:cNvSpPr>
          <p:nvPr>
            <p:ph type="pic" idx="9"/>
          </p:nvPr>
        </p:nvSpPr>
        <p:spPr>
          <a:xfrm>
            <a:off x="6072433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38"/>
          <p:cNvSpPr/>
          <p:nvPr/>
        </p:nvSpPr>
        <p:spPr>
          <a:xfrm>
            <a:off x="7406448" y="2401501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3" name="Google Shape;473;p38"/>
          <p:cNvSpPr/>
          <p:nvPr/>
        </p:nvSpPr>
        <p:spPr>
          <a:xfrm>
            <a:off x="7406448" y="1040550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4" name="Google Shape;474;p38"/>
          <p:cNvSpPr>
            <a:spLocks noGrp="1"/>
          </p:cNvSpPr>
          <p:nvPr>
            <p:ph type="pic" idx="13"/>
          </p:nvPr>
        </p:nvSpPr>
        <p:spPr>
          <a:xfrm>
            <a:off x="7488217" y="1119106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38"/>
          <p:cNvSpPr/>
          <p:nvPr/>
        </p:nvSpPr>
        <p:spPr>
          <a:xfrm>
            <a:off x="4574540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6" name="Google Shape;476;p38"/>
          <p:cNvSpPr/>
          <p:nvPr/>
        </p:nvSpPr>
        <p:spPr>
          <a:xfrm>
            <a:off x="4574540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7" name="Google Shape;477;p38"/>
          <p:cNvSpPr>
            <a:spLocks noGrp="1"/>
          </p:cNvSpPr>
          <p:nvPr>
            <p:ph type="pic" idx="14"/>
          </p:nvPr>
        </p:nvSpPr>
        <p:spPr>
          <a:xfrm>
            <a:off x="4656310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38"/>
          <p:cNvSpPr/>
          <p:nvPr/>
        </p:nvSpPr>
        <p:spPr>
          <a:xfrm>
            <a:off x="5990664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79" name="Google Shape;479;p38"/>
          <p:cNvSpPr/>
          <p:nvPr/>
        </p:nvSpPr>
        <p:spPr>
          <a:xfrm>
            <a:off x="5990664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0" name="Google Shape;480;p38"/>
          <p:cNvSpPr>
            <a:spLocks noGrp="1"/>
          </p:cNvSpPr>
          <p:nvPr>
            <p:ph type="pic" idx="15"/>
          </p:nvPr>
        </p:nvSpPr>
        <p:spPr>
          <a:xfrm>
            <a:off x="6072433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38"/>
          <p:cNvSpPr/>
          <p:nvPr/>
        </p:nvSpPr>
        <p:spPr>
          <a:xfrm>
            <a:off x="7406448" y="4293058"/>
            <a:ext cx="1416000" cy="53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2" name="Google Shape;482;p38"/>
          <p:cNvSpPr/>
          <p:nvPr/>
        </p:nvSpPr>
        <p:spPr>
          <a:xfrm>
            <a:off x="7406448" y="2932107"/>
            <a:ext cx="1416000" cy="1361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8"/>
          </a:p>
        </p:txBody>
      </p:sp>
      <p:sp>
        <p:nvSpPr>
          <p:cNvPr id="483" name="Google Shape;483;p38"/>
          <p:cNvSpPr>
            <a:spLocks noGrp="1"/>
          </p:cNvSpPr>
          <p:nvPr>
            <p:ph type="pic" idx="16"/>
          </p:nvPr>
        </p:nvSpPr>
        <p:spPr>
          <a:xfrm>
            <a:off x="7488217" y="3010663"/>
            <a:ext cx="1252500" cy="1203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3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8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38"/>
          <p:cNvGrpSpPr/>
          <p:nvPr/>
        </p:nvGrpSpPr>
        <p:grpSpPr>
          <a:xfrm>
            <a:off x="1710220" y="2369713"/>
            <a:ext cx="5728288" cy="64500"/>
            <a:chOff x="1710220" y="2369713"/>
            <a:chExt cx="5728288" cy="64500"/>
          </a:xfrm>
        </p:grpSpPr>
        <p:sp>
          <p:nvSpPr>
            <p:cNvPr id="487" name="Google Shape;487;p38"/>
            <p:cNvSpPr/>
            <p:nvPr/>
          </p:nvSpPr>
          <p:spPr>
            <a:xfrm>
              <a:off x="7374007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5958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4542432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31263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1710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8"/>
          <p:cNvGrpSpPr/>
          <p:nvPr/>
        </p:nvGrpSpPr>
        <p:grpSpPr>
          <a:xfrm>
            <a:off x="1710220" y="2900364"/>
            <a:ext cx="5728288" cy="64500"/>
            <a:chOff x="1710220" y="2369713"/>
            <a:chExt cx="5728288" cy="64500"/>
          </a:xfrm>
        </p:grpSpPr>
        <p:sp>
          <p:nvSpPr>
            <p:cNvPr id="493" name="Google Shape;493;p38"/>
            <p:cNvSpPr/>
            <p:nvPr/>
          </p:nvSpPr>
          <p:spPr>
            <a:xfrm>
              <a:off x="7374007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5958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4542432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31263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1710220" y="2369713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6_2_2 - Light">
    <p:bg>
      <p:bgPr>
        <a:solidFill>
          <a:srgbClr val="FFFFFF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9" title="image25.png"/>
          <p:cNvPicPr preferRelativeResize="0"/>
          <p:nvPr/>
        </p:nvPicPr>
        <p:blipFill rotWithShape="1">
          <a:blip r:embed="rId2">
            <a:alphaModFix/>
          </a:blip>
          <a:srcRect l="965" t="53556" r="56169" b="13635"/>
          <a:stretch/>
        </p:blipFill>
        <p:spPr>
          <a:xfrm flipH="1">
            <a:off x="-1" y="0"/>
            <a:ext cx="6720102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3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3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2" name="Google Shape;5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3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4" name="Google Shape;504;p3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3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06" name="Google Shape;506;p3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7" name="Google Shape;507;p3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" name="Google Shape;509;p3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0" name="Google Shape;510;p39"/>
          <p:cNvGrpSpPr/>
          <p:nvPr/>
        </p:nvGrpSpPr>
        <p:grpSpPr>
          <a:xfrm rot="-5400000">
            <a:off x="8385480" y="601548"/>
            <a:ext cx="204654" cy="204654"/>
            <a:chOff x="259788" y="1923155"/>
            <a:chExt cx="409800" cy="409800"/>
          </a:xfrm>
        </p:grpSpPr>
        <p:sp>
          <p:nvSpPr>
            <p:cNvPr id="511" name="Google Shape;511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B3B8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40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2" name="Google Shape;512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3" name="Google Shape;513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15" name="Google Shape;515;p39"/>
          <p:cNvGrpSpPr/>
          <p:nvPr/>
        </p:nvGrpSpPr>
        <p:grpSpPr>
          <a:xfrm rot="-5400000">
            <a:off x="8385480" y="1350327"/>
            <a:ext cx="204654" cy="204654"/>
            <a:chOff x="259788" y="1923155"/>
            <a:chExt cx="409800" cy="409800"/>
          </a:xfrm>
        </p:grpSpPr>
        <p:sp>
          <p:nvSpPr>
            <p:cNvPr id="516" name="Google Shape;516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B3B8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40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7" name="Google Shape;517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8" name="Google Shape;518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0" name="Google Shape;520;p39"/>
          <p:cNvGrpSpPr/>
          <p:nvPr/>
        </p:nvGrpSpPr>
        <p:grpSpPr>
          <a:xfrm rot="-5400000">
            <a:off x="8385480" y="2099105"/>
            <a:ext cx="204654" cy="204654"/>
            <a:chOff x="259788" y="1923155"/>
            <a:chExt cx="409800" cy="409800"/>
          </a:xfrm>
        </p:grpSpPr>
        <p:sp>
          <p:nvSpPr>
            <p:cNvPr id="521" name="Google Shape;521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B3B8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40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2" name="Google Shape;522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3" name="Google Shape;523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4" name="Google Shape;524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5" name="Google Shape;525;p39"/>
          <p:cNvGrpSpPr/>
          <p:nvPr/>
        </p:nvGrpSpPr>
        <p:grpSpPr>
          <a:xfrm rot="-5400000">
            <a:off x="8385480" y="2847884"/>
            <a:ext cx="204654" cy="204654"/>
            <a:chOff x="259788" y="1923155"/>
            <a:chExt cx="409800" cy="409800"/>
          </a:xfrm>
        </p:grpSpPr>
        <p:sp>
          <p:nvSpPr>
            <p:cNvPr id="526" name="Google Shape;526;p3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rgbClr val="B3B8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140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7" name="Google Shape;527;p3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8" name="Google Shape;528;p3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3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3B8B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30" name="Google Shape;530;p39"/>
          <p:cNvSpPr/>
          <p:nvPr/>
        </p:nvSpPr>
        <p:spPr>
          <a:xfrm>
            <a:off x="4372350" y="329475"/>
            <a:ext cx="4448400" cy="74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4372350" y="1078252"/>
            <a:ext cx="4448400" cy="74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4372350" y="1827030"/>
            <a:ext cx="4448400" cy="74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4372350" y="2575807"/>
            <a:ext cx="4448400" cy="748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4372350" y="3324609"/>
            <a:ext cx="4448400" cy="1497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8789361" y="29195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9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39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9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Rows and Cards">
  <p:cSld name="CUSTOM_6_2_1 - Light"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" name="Google Shape;543;p40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4" name="Google Shape;544;p40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0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6" name="Google Shape;546;p40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" name="Google Shape;547;p40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548;p40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49" name="Google Shape;549;p4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0" name="Google Shape;550;p4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40"/>
          <p:cNvGrpSpPr/>
          <p:nvPr/>
        </p:nvGrpSpPr>
        <p:grpSpPr>
          <a:xfrm>
            <a:off x="25" y="1569729"/>
            <a:ext cx="9147900" cy="64500"/>
            <a:chOff x="25" y="510925"/>
            <a:chExt cx="9147900" cy="64500"/>
          </a:xfrm>
        </p:grpSpPr>
        <p:cxnSp>
          <p:nvCxnSpPr>
            <p:cNvPr id="553" name="Google Shape;553;p40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4" name="Google Shape;554;p40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6" name="Google Shape;556;p4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3153900" y="1600400"/>
            <a:ext cx="2832300" cy="322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58" name="Google Shape;558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3900" y="1598599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5986100" y="321096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21700" y="321096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5950" y="1591112"/>
            <a:ext cx="2832301" cy="161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0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3153900" y="1600425"/>
            <a:ext cx="2832301" cy="1610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" name="Google Shape;563;p40"/>
          <p:cNvCxnSpPr/>
          <p:nvPr/>
        </p:nvCxnSpPr>
        <p:spPr>
          <a:xfrm rot="10800000">
            <a:off x="325450" y="3219475"/>
            <a:ext cx="84933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">
  <p:cSld name="CUSTOM_6_2_1_1 - Light">
    <p:bg>
      <p:bgPr>
        <a:solidFill>
          <a:srgbClr val="FFFFFF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 title="image25.png"/>
          <p:cNvPicPr preferRelativeResize="0"/>
          <p:nvPr/>
        </p:nvPicPr>
        <p:blipFill rotWithShape="1">
          <a:blip r:embed="rId2">
            <a:alphaModFix/>
          </a:blip>
          <a:srcRect l="12197" t="15983" r="52158" b="48610"/>
          <a:stretch/>
        </p:blipFill>
        <p:spPr>
          <a:xfrm rot="10800000">
            <a:off x="329050" y="328627"/>
            <a:ext cx="4523950" cy="4493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41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41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8" name="Google Shape;568;p41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9" name="Google Shape;569;p41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41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41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72" name="Google Shape;572;p41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3" name="Google Shape;573;p41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41"/>
          <p:cNvGrpSpPr/>
          <p:nvPr/>
        </p:nvGrpSpPr>
        <p:grpSpPr>
          <a:xfrm>
            <a:off x="4818950" y="290950"/>
            <a:ext cx="64500" cy="4565350"/>
            <a:chOff x="5029075" y="290950"/>
            <a:chExt cx="64500" cy="4565350"/>
          </a:xfrm>
        </p:grpSpPr>
        <p:cxnSp>
          <p:nvCxnSpPr>
            <p:cNvPr id="576" name="Google Shape;576;p41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41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41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- 2 Cards">
  <p:cSld name="CUSTOM_6_2_1_1_2 - Light">
    <p:bg>
      <p:bgPr>
        <a:solidFill>
          <a:srgbClr val="FFFFFF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1" name="Google Shape;581;p42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42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42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42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" name="Google Shape;585;p42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6" name="Google Shape;586;p42"/>
          <p:cNvCxnSpPr/>
          <p:nvPr/>
        </p:nvCxnSpPr>
        <p:spPr>
          <a:xfrm>
            <a:off x="79341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7" name="Google Shape;587;p42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588" name="Google Shape;588;p42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9" name="Google Shape;589;p42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2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42"/>
          <p:cNvGrpSpPr/>
          <p:nvPr/>
        </p:nvGrpSpPr>
        <p:grpSpPr>
          <a:xfrm>
            <a:off x="4818950" y="290950"/>
            <a:ext cx="64500" cy="4565350"/>
            <a:chOff x="5029075" y="290950"/>
            <a:chExt cx="64500" cy="4565350"/>
          </a:xfrm>
        </p:grpSpPr>
        <p:cxnSp>
          <p:nvCxnSpPr>
            <p:cNvPr id="592" name="Google Shape;592;p42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3" name="Google Shape;593;p42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2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5" name="Google Shape;595;p42"/>
          <p:cNvSpPr/>
          <p:nvPr/>
        </p:nvSpPr>
        <p:spPr>
          <a:xfrm>
            <a:off x="607750" y="3523675"/>
            <a:ext cx="1904700" cy="1034100"/>
          </a:xfrm>
          <a:prstGeom prst="rect">
            <a:avLst/>
          </a:prstGeom>
          <a:solidFill>
            <a:srgbClr val="F0F2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6" name="Google Shape;596;p42"/>
          <p:cNvCxnSpPr/>
          <p:nvPr/>
        </p:nvCxnSpPr>
        <p:spPr>
          <a:xfrm>
            <a:off x="608850" y="3529850"/>
            <a:ext cx="1901400" cy="0"/>
          </a:xfrm>
          <a:prstGeom prst="straightConnector1">
            <a:avLst/>
          </a:prstGeom>
          <a:noFill/>
          <a:ln w="19050" cap="flat" cmpd="sng">
            <a:solidFill>
              <a:srgbClr val="4A85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7" name="Google Shape;597;p42"/>
          <p:cNvSpPr/>
          <p:nvPr/>
        </p:nvSpPr>
        <p:spPr>
          <a:xfrm>
            <a:off x="2568775" y="3523675"/>
            <a:ext cx="1904700" cy="1034100"/>
          </a:xfrm>
          <a:prstGeom prst="rect">
            <a:avLst/>
          </a:prstGeom>
          <a:solidFill>
            <a:srgbClr val="F0F2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8" name="Google Shape;598;p42"/>
          <p:cNvCxnSpPr/>
          <p:nvPr/>
        </p:nvCxnSpPr>
        <p:spPr>
          <a:xfrm>
            <a:off x="2569875" y="3529850"/>
            <a:ext cx="1901400" cy="0"/>
          </a:xfrm>
          <a:prstGeom prst="straightConnector1">
            <a:avLst/>
          </a:prstGeom>
          <a:noFill/>
          <a:ln w="19050" cap="flat" cmpd="sng">
            <a:solidFill>
              <a:srgbClr val="4A85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9" name="Google Shape;599;p42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-4">
  <p:cSld name="CUSTOM_6_2_1_1_1_4 - Light"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43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43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3" name="Google Shape;603;p43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4" name="Google Shape;604;p43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43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6" name="Google Shape;606;p43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07" name="Google Shape;607;p4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8" name="Google Shape;608;p4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0" name="Google Shape;610;p43"/>
          <p:cNvPicPr preferRelativeResize="0"/>
          <p:nvPr/>
        </p:nvPicPr>
        <p:blipFill rotWithShape="1">
          <a:blip r:embed="rId2">
            <a:alphaModFix/>
          </a:blip>
          <a:srcRect l="-9981" t="62316" r="60693" b="9437"/>
          <a:stretch/>
        </p:blipFill>
        <p:spPr>
          <a:xfrm>
            <a:off x="4348300" y="2551900"/>
            <a:ext cx="4469900" cy="2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43"/>
          <p:cNvSpPr/>
          <p:nvPr/>
        </p:nvSpPr>
        <p:spPr>
          <a:xfrm>
            <a:off x="4348300" y="326200"/>
            <a:ext cx="2235900" cy="2225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612" name="Google Shape;612;p43"/>
          <p:cNvSpPr/>
          <p:nvPr/>
        </p:nvSpPr>
        <p:spPr>
          <a:xfrm>
            <a:off x="6584388" y="326200"/>
            <a:ext cx="2235900" cy="2225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47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3"/>
          </a:p>
        </p:txBody>
      </p:sp>
      <p:sp>
        <p:nvSpPr>
          <p:cNvPr id="613" name="Google Shape;613;p43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-A">
  <p:cSld name="CUSTOM_6_2_1_1_1_3 - Light">
    <p:bg>
      <p:bgPr>
        <a:solidFill>
          <a:srgbClr val="FFFFFF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" name="Google Shape;615;p4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4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7" name="Google Shape;617;p44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8" name="Google Shape;618;p4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620;p4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21" name="Google Shape;621;p4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2" name="Google Shape;622;p4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44"/>
          <p:cNvGrpSpPr/>
          <p:nvPr/>
        </p:nvGrpSpPr>
        <p:grpSpPr>
          <a:xfrm>
            <a:off x="4312550" y="290950"/>
            <a:ext cx="64500" cy="4565350"/>
            <a:chOff x="5029075" y="290950"/>
            <a:chExt cx="64500" cy="4565350"/>
          </a:xfrm>
        </p:grpSpPr>
        <p:cxnSp>
          <p:nvCxnSpPr>
            <p:cNvPr id="625" name="Google Shape;625;p44"/>
            <p:cNvCxnSpPr/>
            <p:nvPr/>
          </p:nvCxnSpPr>
          <p:spPr>
            <a:xfrm rot="10800000">
              <a:off x="5062940" y="325500"/>
              <a:ext cx="0" cy="450120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6" name="Google Shape;626;p44"/>
            <p:cNvSpPr/>
            <p:nvPr/>
          </p:nvSpPr>
          <p:spPr>
            <a:xfrm>
              <a:off x="5029075" y="29095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5029075" y="4791800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44"/>
          <p:cNvSpPr>
            <a:spLocks noGrp="1"/>
          </p:cNvSpPr>
          <p:nvPr>
            <p:ph type="pic" idx="2"/>
          </p:nvPr>
        </p:nvSpPr>
        <p:spPr>
          <a:xfrm>
            <a:off x="4467225" y="423728"/>
            <a:ext cx="4248300" cy="21774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44"/>
          <p:cNvSpPr>
            <a:spLocks noGrp="1"/>
          </p:cNvSpPr>
          <p:nvPr>
            <p:ph type="pic" idx="3"/>
          </p:nvPr>
        </p:nvSpPr>
        <p:spPr>
          <a:xfrm>
            <a:off x="4467225" y="2659201"/>
            <a:ext cx="2097600" cy="203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44"/>
          <p:cNvSpPr>
            <a:spLocks noGrp="1"/>
          </p:cNvSpPr>
          <p:nvPr>
            <p:ph type="pic" idx="4"/>
          </p:nvPr>
        </p:nvSpPr>
        <p:spPr>
          <a:xfrm>
            <a:off x="6617896" y="2659201"/>
            <a:ext cx="2097600" cy="2030400"/>
          </a:xfrm>
          <a:prstGeom prst="rect">
            <a:avLst/>
          </a:prstGeom>
          <a:noFill/>
          <a:ln>
            <a:noFill/>
          </a:ln>
        </p:spPr>
      </p:sp>
      <p:sp>
        <p:nvSpPr>
          <p:cNvPr id="631" name="Google Shape;631;p4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_2_1_1_1_2 - Light">
    <p:bg>
      <p:bgPr>
        <a:solidFill>
          <a:srgbClr val="FFFFFF"/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45"/>
          <p:cNvPicPr preferRelativeResize="0"/>
          <p:nvPr/>
        </p:nvPicPr>
        <p:blipFill rotWithShape="1">
          <a:blip r:embed="rId2">
            <a:alphaModFix/>
          </a:blip>
          <a:srcRect t="25849"/>
          <a:stretch/>
        </p:blipFill>
        <p:spPr>
          <a:xfrm>
            <a:off x="330650" y="1649075"/>
            <a:ext cx="8482698" cy="31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25" y="1659175"/>
            <a:ext cx="8498473" cy="31620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5" name="Google Shape;635;p45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45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" name="Google Shape;637;p45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8" name="Google Shape;638;p45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9" name="Google Shape;639;p45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45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41" name="Google Shape;641;p45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2" name="Google Shape;642;p45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4" name="Google Shape;644;p45"/>
          <p:cNvCxnSpPr>
            <a:stCxn id="645" idx="2"/>
          </p:cNvCxnSpPr>
          <p:nvPr/>
        </p:nvCxnSpPr>
        <p:spPr>
          <a:xfrm rot="10800000">
            <a:off x="326650" y="1654835"/>
            <a:ext cx="8527200" cy="15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45"/>
          <p:cNvSpPr/>
          <p:nvPr/>
        </p:nvSpPr>
        <p:spPr>
          <a:xfrm rot="-5400000">
            <a:off x="292000" y="162408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5"/>
          <p:cNvSpPr/>
          <p:nvPr/>
        </p:nvSpPr>
        <p:spPr>
          <a:xfrm rot="-5400000">
            <a:off x="8789350" y="162408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45"/>
          <p:cNvCxnSpPr/>
          <p:nvPr/>
        </p:nvCxnSpPr>
        <p:spPr>
          <a:xfrm rot="10800000">
            <a:off x="6516350" y="319950"/>
            <a:ext cx="0" cy="13344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lectric Lime">
  <p:cSld name="CUSTOM_6_2_1_1_1_1 - Light">
    <p:bg>
      <p:bgPr>
        <a:solidFill>
          <a:srgbClr val="CCFF00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0" name="Google Shape;650;p46" title="image26.png"/>
          <p:cNvPicPr preferRelativeResize="0"/>
          <p:nvPr/>
        </p:nvPicPr>
        <p:blipFill rotWithShape="1">
          <a:blip r:embed="rId2">
            <a:alphaModFix amt="84000"/>
          </a:blip>
          <a:srcRect l="26592" t="28401" r="17926" b="19535"/>
          <a:stretch/>
        </p:blipFill>
        <p:spPr>
          <a:xfrm>
            <a:off x="323300" y="329650"/>
            <a:ext cx="8497401" cy="448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1" name="Google Shape;651;p4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46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46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46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6" name="Google Shape;6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6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E9ED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8" name="Google Shape;658;p46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92B6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9" name="Google Shape;659;p46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E9ED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46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61" name="Google Shape;661;p46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92B6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2" name="Google Shape;662;p46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E9E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E9ED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46"/>
          <p:cNvSpPr/>
          <p:nvPr/>
        </p:nvSpPr>
        <p:spPr>
          <a:xfrm>
            <a:off x="325500" y="718750"/>
            <a:ext cx="8489400" cy="4098900"/>
          </a:xfrm>
          <a:prstGeom prst="rect">
            <a:avLst/>
          </a:prstGeom>
          <a:gradFill>
            <a:gsLst>
              <a:gs pos="0">
                <a:srgbClr val="FFFFFF">
                  <a:alpha val="0"/>
                  <a:alpha val="41250"/>
                </a:srgbClr>
              </a:gs>
              <a:gs pos="100000">
                <a:srgbClr val="C7FB5E">
                  <a:alpha val="4125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665" name="Google Shape;665;p46"/>
          <p:cNvSpPr txBox="1">
            <a:spLocks noGrp="1"/>
          </p:cNvSpPr>
          <p:nvPr>
            <p:ph type="sldNum" idx="12"/>
          </p:nvPr>
        </p:nvSpPr>
        <p:spPr>
          <a:xfrm>
            <a:off x="8821599" y="4833675"/>
            <a:ext cx="3399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6B7069"/>
                </a:solidFill>
              </a:defRPr>
            </a:lvl1pPr>
            <a:lvl2pPr lvl="1">
              <a:buNone/>
              <a:defRPr>
                <a:solidFill>
                  <a:srgbClr val="6B7069"/>
                </a:solidFill>
              </a:defRPr>
            </a:lvl2pPr>
            <a:lvl3pPr lvl="2">
              <a:buNone/>
              <a:defRPr>
                <a:solidFill>
                  <a:srgbClr val="6B7069"/>
                </a:solidFill>
              </a:defRPr>
            </a:lvl3pPr>
            <a:lvl4pPr lvl="3">
              <a:buNone/>
              <a:defRPr>
                <a:solidFill>
                  <a:srgbClr val="6B7069"/>
                </a:solidFill>
              </a:defRPr>
            </a:lvl4pPr>
            <a:lvl5pPr lvl="4">
              <a:buNone/>
              <a:defRPr>
                <a:solidFill>
                  <a:srgbClr val="6B7069"/>
                </a:solidFill>
              </a:defRPr>
            </a:lvl5pPr>
            <a:lvl6pPr lvl="5">
              <a:buNone/>
              <a:defRPr>
                <a:solidFill>
                  <a:srgbClr val="6B7069"/>
                </a:solidFill>
              </a:defRPr>
            </a:lvl6pPr>
            <a:lvl7pPr lvl="6">
              <a:buNone/>
              <a:defRPr>
                <a:solidFill>
                  <a:srgbClr val="6B7069"/>
                </a:solidFill>
              </a:defRPr>
            </a:lvl7pPr>
            <a:lvl8pPr lvl="7">
              <a:buNone/>
              <a:defRPr>
                <a:solidFill>
                  <a:srgbClr val="6B7069"/>
                </a:solidFill>
              </a:defRPr>
            </a:lvl8pPr>
            <a:lvl9pPr lvl="8">
              <a:buNone/>
              <a:defRPr>
                <a:solidFill>
                  <a:srgbClr val="6B706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1">
  <p:cSld name="CUSTOM_6_1 - Light"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7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-1950" y="0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7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669" name="Google Shape;669;p47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70" name="Google Shape;670;p47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7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72" name="Google Shape;672;p47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47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47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5" name="Google Shape;675;p47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" name="Google Shape;676;p47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7" name="Google Shape;677;p47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8" name="Google Shape;678;p47"/>
          <p:cNvSpPr/>
          <p:nvPr/>
        </p:nvSpPr>
        <p:spPr>
          <a:xfrm>
            <a:off x="324250" y="324353"/>
            <a:ext cx="1567800" cy="658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47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7"/>
          <p:cNvSpPr/>
          <p:nvPr/>
        </p:nvSpPr>
        <p:spPr>
          <a:xfrm>
            <a:off x="18601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1" name="Google Shape;681;p47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47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7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7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5" name="Google Shape;685;p47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6" name="Google Shape;686;p47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7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47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689" name="Google Shape;689;p47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0" name="Google Shape;690;p47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2" name="Google Shape;692;p47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7"/>
          <p:cNvSpPr/>
          <p:nvPr/>
        </p:nvSpPr>
        <p:spPr>
          <a:xfrm>
            <a:off x="18601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7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25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7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7" name="Google Shape;697;p47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9" name="Google Shape;699;p47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7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-2">
  <p:cSld name="CUSTOM_6_1_2 - Light">
    <p:bg>
      <p:bgPr>
        <a:solidFill>
          <a:srgbClr val="FFFFFF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48" title="image20-halfsize.png"/>
          <p:cNvPicPr preferRelativeResize="0"/>
          <p:nvPr/>
        </p:nvPicPr>
        <p:blipFill rotWithShape="1">
          <a:blip r:embed="rId2">
            <a:alphaModFix/>
          </a:blip>
          <a:srcRect l="17308" t="43894" r="6911" b="13495"/>
          <a:stretch/>
        </p:blipFill>
        <p:spPr>
          <a:xfrm>
            <a:off x="-1950" y="0"/>
            <a:ext cx="91478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8"/>
          <p:cNvSpPr/>
          <p:nvPr/>
        </p:nvSpPr>
        <p:spPr>
          <a:xfrm>
            <a:off x="321400" y="4826775"/>
            <a:ext cx="8500200" cy="3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704" name="Google Shape;704;p48"/>
          <p:cNvSpPr/>
          <p:nvPr/>
        </p:nvSpPr>
        <p:spPr>
          <a:xfrm>
            <a:off x="324250" y="982553"/>
            <a:ext cx="4925700" cy="2112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05" name="Google Shape;705;p48"/>
          <p:cNvPicPr preferRelativeResize="0"/>
          <p:nvPr/>
        </p:nvPicPr>
        <p:blipFill rotWithShape="1">
          <a:blip r:embed="rId3">
            <a:alphaModFix/>
          </a:blip>
          <a:srcRect l="-11819" t="65740" r="74059" b="19897"/>
          <a:stretch/>
        </p:blipFill>
        <p:spPr>
          <a:xfrm>
            <a:off x="324250" y="4272050"/>
            <a:ext cx="1433201" cy="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8"/>
          <p:cNvSpPr txBox="1">
            <a:spLocks noGrp="1"/>
          </p:cNvSpPr>
          <p:nvPr>
            <p:ph type="title"/>
          </p:nvPr>
        </p:nvSpPr>
        <p:spPr>
          <a:xfrm>
            <a:off x="390175" y="1125950"/>
            <a:ext cx="45660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Space Grotesk"/>
              <a:buNone/>
              <a:defRPr sz="4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07" name="Google Shape;707;p48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8" name="Google Shape;708;p48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9" name="Google Shape;709;p48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0" name="Google Shape;710;p48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1" name="Google Shape;711;p48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2" name="Google Shape;712;p48"/>
          <p:cNvCxnSpPr/>
          <p:nvPr/>
        </p:nvCxnSpPr>
        <p:spPr>
          <a:xfrm>
            <a:off x="5249950" y="293075"/>
            <a:ext cx="0" cy="45315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48"/>
          <p:cNvSpPr/>
          <p:nvPr/>
        </p:nvSpPr>
        <p:spPr>
          <a:xfrm>
            <a:off x="324250" y="324350"/>
            <a:ext cx="2408400" cy="658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4" name="Google Shape;714;p48"/>
          <p:cNvSpPr/>
          <p:nvPr/>
        </p:nvSpPr>
        <p:spPr>
          <a:xfrm>
            <a:off x="292000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8"/>
          <p:cNvSpPr/>
          <p:nvPr/>
        </p:nvSpPr>
        <p:spPr>
          <a:xfrm>
            <a:off x="2698375" y="95236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716;p48"/>
          <p:cNvCxnSpPr/>
          <p:nvPr/>
        </p:nvCxnSpPr>
        <p:spPr>
          <a:xfrm rot="10800000">
            <a:off x="-50" y="4265975"/>
            <a:ext cx="52557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7" name="Google Shape;717;p48"/>
          <p:cNvSpPr/>
          <p:nvPr/>
        </p:nvSpPr>
        <p:spPr>
          <a:xfrm>
            <a:off x="292000" y="423372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8"/>
          <p:cNvSpPr/>
          <p:nvPr/>
        </p:nvSpPr>
        <p:spPr>
          <a:xfrm>
            <a:off x="5217700" y="4788882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8"/>
          <p:cNvSpPr/>
          <p:nvPr/>
        </p:nvSpPr>
        <p:spPr>
          <a:xfrm>
            <a:off x="5217700" y="306201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0" name="Google Shape;720;p48"/>
          <p:cNvCxnSpPr/>
          <p:nvPr/>
        </p:nvCxnSpPr>
        <p:spPr>
          <a:xfrm>
            <a:off x="1757450" y="4272450"/>
            <a:ext cx="0" cy="5520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1" name="Google Shape;721;p48"/>
          <p:cNvSpPr/>
          <p:nvPr/>
        </p:nvSpPr>
        <p:spPr>
          <a:xfrm>
            <a:off x="17252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8"/>
          <p:cNvSpPr/>
          <p:nvPr/>
        </p:nvSpPr>
        <p:spPr>
          <a:xfrm>
            <a:off x="5217700" y="950151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48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24" name="Google Shape;724;p48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25" name="Google Shape;725;p48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7" name="Google Shape;727;p48"/>
          <p:cNvSpPr/>
          <p:nvPr/>
        </p:nvSpPr>
        <p:spPr>
          <a:xfrm>
            <a:off x="5217700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8"/>
          <p:cNvSpPr/>
          <p:nvPr/>
        </p:nvSpPr>
        <p:spPr>
          <a:xfrm>
            <a:off x="2698375" y="292418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9" name="Google Shape;72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277" y="456524"/>
            <a:ext cx="1239050" cy="396882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8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8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2" name="Google Shape;732;p48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4" name="Google Shape;734;p48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5" name="Google Shape;735;p48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6_1_1 - Light">
    <p:bg>
      <p:bgPr>
        <a:solidFill>
          <a:srgbClr val="FFFFFF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9"/>
          <p:cNvSpPr/>
          <p:nvPr/>
        </p:nvSpPr>
        <p:spPr>
          <a:xfrm>
            <a:off x="-75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pic>
        <p:nvPicPr>
          <p:cNvPr id="738" name="Google Shape;738;p49" title="image23-halfsize.png"/>
          <p:cNvPicPr preferRelativeResize="0"/>
          <p:nvPr/>
        </p:nvPicPr>
        <p:blipFill rotWithShape="1">
          <a:blip r:embed="rId2">
            <a:alphaModFix/>
          </a:blip>
          <a:srcRect l="23970" t="1784" r="23990" b="1765"/>
          <a:stretch/>
        </p:blipFill>
        <p:spPr>
          <a:xfrm rot="-5400000" flipH="1">
            <a:off x="2001550" y="-1990475"/>
            <a:ext cx="5140900" cy="9124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49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9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1" name="Google Shape;741;p49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2" name="Google Shape;742;p49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3" name="Google Shape;743;p49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4" name="Google Shape;744;p49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745" name="Google Shape;745;p49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49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 w="9525" cap="flat" cmpd="sng">
              <a:solidFill>
                <a:srgbClr val="D3D9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9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 w="9525" cap="flat" cmpd="sng">
              <a:solidFill>
                <a:srgbClr val="D3D9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8" name="Google Shape;748;p49"/>
          <p:cNvSpPr/>
          <p:nvPr/>
        </p:nvSpPr>
        <p:spPr>
          <a:xfrm>
            <a:off x="325525" y="1393925"/>
            <a:ext cx="8497500" cy="2174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292000" y="136668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9"/>
          <p:cNvSpPr/>
          <p:nvPr/>
        </p:nvSpPr>
        <p:spPr>
          <a:xfrm>
            <a:off x="292000" y="353063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9"/>
          <p:cNvSpPr/>
          <p:nvPr/>
        </p:nvSpPr>
        <p:spPr>
          <a:xfrm>
            <a:off x="8792050" y="136668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9"/>
          <p:cNvSpPr/>
          <p:nvPr/>
        </p:nvSpPr>
        <p:spPr>
          <a:xfrm>
            <a:off x="8792050" y="353063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9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9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p49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6" name="Google Shape;7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49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8" name="Google Shape;758;p49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image" Target="../media/image4.png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81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80.xml"/><Relationship Id="rId38" Type="http://schemas.openxmlformats.org/officeDocument/2006/relationships/image" Target="../media/image15.png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76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9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78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2.xml"/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140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323500" y="323250"/>
            <a:ext cx="8497500" cy="449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A8F8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" name="Google Shape;90;p14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Google Shape;94;p14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27321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" name="Google Shape;95;p1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96" name="Google Shape;96;p1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27321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Google Shape;97;p1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CC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AAB4B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/>
          </a:p>
        </p:txBody>
      </p:sp>
      <p:sp>
        <p:nvSpPr>
          <p:cNvPr id="100" name="Google Shape;100;p14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8A8F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323500" y="323250"/>
            <a:ext cx="8497500" cy="449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140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951648" y="4870500"/>
            <a:ext cx="82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©  Kong Inc.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4"/>
          <p:cNvCxnSpPr/>
          <p:nvPr/>
        </p:nvCxnSpPr>
        <p:spPr>
          <a:xfrm>
            <a:off x="32425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>
            <a:off x="25" y="4824045"/>
            <a:ext cx="9147900" cy="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" name="Google Shape;90;p14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94086" y="4882172"/>
            <a:ext cx="204650" cy="18266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292000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8821600" y="0"/>
            <a:ext cx="0" cy="51426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8789361" y="4791700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Google Shape;94;p14"/>
          <p:cNvCxnSpPr/>
          <p:nvPr/>
        </p:nvCxnSpPr>
        <p:spPr>
          <a:xfrm>
            <a:off x="1860925" y="4827525"/>
            <a:ext cx="0" cy="315300"/>
          </a:xfrm>
          <a:prstGeom prst="straightConnector1">
            <a:avLst/>
          </a:prstGeom>
          <a:noFill/>
          <a:ln w="9525" cap="flat" cmpd="sng">
            <a:solidFill>
              <a:srgbClr val="D3D9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" name="Google Shape;95;p14"/>
          <p:cNvGrpSpPr/>
          <p:nvPr/>
        </p:nvGrpSpPr>
        <p:grpSpPr>
          <a:xfrm>
            <a:off x="25" y="290950"/>
            <a:ext cx="9147900" cy="64500"/>
            <a:chOff x="25" y="510925"/>
            <a:chExt cx="9147900" cy="64500"/>
          </a:xfrm>
        </p:grpSpPr>
        <p:cxnSp>
          <p:nvCxnSpPr>
            <p:cNvPr id="96" name="Google Shape;96;p1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w="9525" cap="flat" cmpd="sng">
              <a:solidFill>
                <a:srgbClr val="D3D9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Google Shape;97;p1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name="adj" fmla="val 42481"/>
              </a:avLst>
            </a:prstGeom>
            <a:solidFill>
              <a:srgbClr val="4A8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B56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/>
          </a:p>
        </p:txBody>
      </p:sp>
      <p:sp>
        <p:nvSpPr>
          <p:cNvPr id="100" name="Google Shape;100;p14"/>
          <p:cNvSpPr txBox="1"/>
          <p:nvPr/>
        </p:nvSpPr>
        <p:spPr>
          <a:xfrm>
            <a:off x="717450" y="4862750"/>
            <a:ext cx="10674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AI CONNECTIVITY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55900" y="4862750"/>
            <a:ext cx="27165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069"/>
                </a:solidFill>
                <a:latin typeface="Calibri"/>
                <a:ea typeface="Calibri"/>
                <a:cs typeface="Calibri"/>
                <a:sym typeface="Calibri"/>
              </a:rPr>
              <a:t>PREPARED FOR GNB</a:t>
            </a:r>
            <a:endParaRPr sz="800">
              <a:solidFill>
                <a:srgbClr val="6B70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7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41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5.png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6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5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0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3.png"/><Relationship Id="rId3" Type="http://schemas.openxmlformats.org/officeDocument/2006/relationships/image" Target="../media/image54.png"/><Relationship Id="rId21" Type="http://schemas.openxmlformats.org/officeDocument/2006/relationships/image" Target="../media/image46.png"/><Relationship Id="rId7" Type="http://schemas.openxmlformats.org/officeDocument/2006/relationships/image" Target="../media/image58.png"/><Relationship Id="rId12" Type="http://schemas.openxmlformats.org/officeDocument/2006/relationships/image" Target="../media/image32.png"/><Relationship Id="rId17" Type="http://schemas.openxmlformats.org/officeDocument/2006/relationships/image" Target="../media/image67.png"/><Relationship Id="rId25" Type="http://schemas.openxmlformats.org/officeDocument/2006/relationships/image" Target="../media/image72.png"/><Relationship Id="rId16" Type="http://schemas.openxmlformats.org/officeDocument/2006/relationships/image" Target="../media/image66.png"/><Relationship Id="rId20" Type="http://schemas.openxmlformats.org/officeDocument/2006/relationships/image" Target="../media/image52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1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image" Target="../media/image42.png"/><Relationship Id="rId28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69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4.png"/><Relationship Id="rId22" Type="http://schemas.openxmlformats.org/officeDocument/2006/relationships/image" Target="../media/image70.png"/><Relationship Id="rId27" Type="http://schemas.openxmlformats.org/officeDocument/2006/relationships/image" Target="../media/image34.png"/><Relationship Id="rId30" Type="http://schemas.openxmlformats.org/officeDocument/2006/relationships/image" Target="../media/image75.pn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8.png"/><Relationship Id="rId7" Type="http://schemas.openxmlformats.org/officeDocument/2006/relationships/image" Target="../media/image56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60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Relationship Id="rId9" Type="http://schemas.openxmlformats.org/officeDocument/2006/relationships/image" Target="../media/image54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76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77.png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87.png"/><Relationship Id="rId3" Type="http://schemas.openxmlformats.org/officeDocument/2006/relationships/image" Target="../media/image80.png"/><Relationship Id="rId7" Type="http://schemas.openxmlformats.org/officeDocument/2006/relationships/image" Target="../media/image50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2.png"/><Relationship Id="rId11" Type="http://schemas.openxmlformats.org/officeDocument/2006/relationships/image" Target="../media/image85.png"/><Relationship Id="rId5" Type="http://schemas.openxmlformats.org/officeDocument/2006/relationships/image" Target="../media/image81.png"/><Relationship Id="rId10" Type="http://schemas.openxmlformats.org/officeDocument/2006/relationships/image" Target="../media/image84.png"/><Relationship Id="rId4" Type="http://schemas.openxmlformats.org/officeDocument/2006/relationships/image" Target="../media/image4.png"/><Relationship Id="rId9" Type="http://schemas.openxmlformats.org/officeDocument/2006/relationships/image" Target="../media/image8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70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78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28.png"/><Relationship Id="rId10" Type="http://schemas.openxmlformats.org/officeDocument/2006/relationships/image" Target="../media/image38.png"/><Relationship Id="rId4" Type="http://schemas.openxmlformats.org/officeDocument/2006/relationships/image" Target="../media/image88.png"/><Relationship Id="rId9" Type="http://schemas.openxmlformats.org/officeDocument/2006/relationships/image" Target="../media/image89.png"/><Relationship Id="rId14" Type="http://schemas.openxmlformats.org/officeDocument/2006/relationships/image" Target="../media/image68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87.png"/><Relationship Id="rId18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17" Type="http://schemas.openxmlformats.org/officeDocument/2006/relationships/image" Target="../media/image78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93.png"/><Relationship Id="rId11" Type="http://schemas.openxmlformats.org/officeDocument/2006/relationships/image" Target="../media/image97.png"/><Relationship Id="rId5" Type="http://schemas.openxmlformats.org/officeDocument/2006/relationships/image" Target="../media/image92.png"/><Relationship Id="rId15" Type="http://schemas.openxmlformats.org/officeDocument/2006/relationships/image" Target="../media/image52.png"/><Relationship Id="rId10" Type="http://schemas.openxmlformats.org/officeDocument/2006/relationships/image" Target="../media/image58.png"/><Relationship Id="rId19" Type="http://schemas.openxmlformats.org/officeDocument/2006/relationships/image" Target="../media/image101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99.png"/></Relationships>
</file>

<file path=ppt/slides/_rels/slide22.xml.rels><?xml version="1.0" encoding="UTF-8" standalone="yes"?>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104.png"/><Relationship Id="rId3" Type="http://schemas.openxmlformats.org/officeDocument/2006/relationships/image" Target="../media/image53.png"/><Relationship Id="rId7" Type="http://schemas.openxmlformats.org/officeDocument/2006/relationships/image" Target="../media/image72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71.png"/><Relationship Id="rId11" Type="http://schemas.openxmlformats.org/officeDocument/2006/relationships/image" Target="../media/image83.png"/><Relationship Id="rId5" Type="http://schemas.openxmlformats.org/officeDocument/2006/relationships/image" Target="../media/image102.png"/><Relationship Id="rId10" Type="http://schemas.openxmlformats.org/officeDocument/2006/relationships/image" Target="../media/image103.png"/><Relationship Id="rId4" Type="http://schemas.openxmlformats.org/officeDocument/2006/relationships/image" Target="../media/image52.png"/><Relationship Id="rId9" Type="http://schemas.openxmlformats.org/officeDocument/2006/relationships/image" Target="../media/image67.png"/><Relationship Id="rId14" Type="http://schemas.openxmlformats.org/officeDocument/2006/relationships/image" Target="../media/image75.pn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5.xml.rels><?xml version="1.0" encoding="UTF-8" standalone="yes"?>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70.png"/><Relationship Id="rId7" Type="http://schemas.openxmlformats.org/officeDocument/2006/relationships/image" Target="../media/image78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66.png"/><Relationship Id="rId5" Type="http://schemas.openxmlformats.org/officeDocument/2006/relationships/image" Target="../media/image67.png"/><Relationship Id="rId4" Type="http://schemas.openxmlformats.org/officeDocument/2006/relationships/image" Target="../media/image63.png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42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46.png"/><Relationship Id="rId5" Type="http://schemas.openxmlformats.org/officeDocument/2006/relationships/image" Target="../media/image70.png"/><Relationship Id="rId4" Type="http://schemas.openxmlformats.org/officeDocument/2006/relationships/image" Target="../media/image102.png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53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5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9.xml.rels><?xml version="1.0" encoding="UTF-8" standalone="yes"?>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56.pn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0"/>
          <p:cNvSpPr txBox="1">
            <a:spLocks noGrp="1"/>
          </p:cNvSpPr>
          <p:nvPr>
            <p:ph type="title"/>
          </p:nvPr>
        </p:nvSpPr>
        <p:spPr>
          <a:xfrm>
            <a:off x="390174" y="1257611"/>
            <a:ext cx="4894095" cy="1334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From AI factory to production</a:t>
            </a:r>
          </a:p>
        </p:txBody>
      </p:sp>
      <p:sp>
        <p:nvSpPr>
          <p:cNvPr id="764" name="Google Shape;764;p50"/>
          <p:cNvSpPr txBox="1"/>
          <p:nvPr/>
        </p:nvSpPr>
        <p:spPr>
          <a:xfrm>
            <a:off x="1708618" y="4193225"/>
            <a:ext cx="2438608" cy="64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Saadallah Chebaro</a:t>
            </a:r>
            <a:br>
              <a:rPr lang="en" sz="145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5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Staff Solutions Engineer</a:t>
            </a:r>
            <a:br>
              <a:rPr lang="en" sz="145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" sz="1450" dirty="0">
              <a:solidFill>
                <a:srgbClr val="00140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0"/>
          <p:cNvSpPr txBox="1"/>
          <p:nvPr/>
        </p:nvSpPr>
        <p:spPr>
          <a:xfrm>
            <a:off x="463450" y="4320922"/>
            <a:ext cx="11319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dirty="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Oct 2026</a:t>
            </a:r>
          </a:p>
        </p:txBody>
      </p:sp>
      <p:sp>
        <p:nvSpPr>
          <p:cNvPr id="766" name="Google Shape;766;p50"/>
          <p:cNvSpPr txBox="1"/>
          <p:nvPr/>
        </p:nvSpPr>
        <p:spPr>
          <a:xfrm>
            <a:off x="464763" y="3636900"/>
            <a:ext cx="45138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12 use cases. 0 in production. One missing layer.</a:t>
            </a:r>
          </a:p>
        </p:txBody>
      </p:sp>
      <p:pic>
        <p:nvPicPr>
          <p:cNvPr id="767" name="Google Shape;7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922" y="3348553"/>
            <a:ext cx="2316301" cy="3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770" name="GNB logo box"/>
          <p:cNvSpPr/>
          <p:nvPr/>
        </p:nvSpPr>
        <p:spPr>
          <a:xfrm>
            <a:off x="1892050" y="324353"/>
            <a:ext cx="1567800" cy="65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771" name="GNB box corner top"/>
          <p:cNvSpPr/>
          <p:nvPr/>
        </p:nvSpPr>
        <p:spPr>
          <a:xfrm>
            <a:off x="3427572" y="2920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72" name="GNB box corner bottom"/>
          <p:cNvSpPr/>
          <p:nvPr/>
        </p:nvSpPr>
        <p:spPr>
          <a:xfrm>
            <a:off x="3427572" y="950275"/>
            <a:ext cx="64500" cy="64500"/>
          </a:xfrm>
          <a:prstGeom prst="plus">
            <a:avLst>
              <a:gd name="adj" fmla="val 42481"/>
            </a:avLst>
          </a:prstGeom>
          <a:solidFill>
            <a:srgbClr val="4A8500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773" name="GNB logo" descr="GNB, a fictional bank (logo made for this demo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662" y="470573"/>
            <a:ext cx="988575" cy="365760"/>
          </a:xfrm>
          <a:prstGeom prst="rect">
            <a:avLst/>
          </a:prstGeom>
        </p:spPr>
      </p:pic>
      <p:cxnSp>
        <p:nvCxnSpPr>
          <p:cNvPr id="775" name="Konnect divider"/>
          <p:cNvCxnSpPr/>
          <p:nvPr/>
        </p:nvCxnSpPr>
        <p:spPr>
          <a:xfrm>
            <a:off x="2615184" y="3364992"/>
            <a:ext cx="0" cy="246888"/>
          </a:xfrm>
          <a:prstGeom prst="line">
            <a:avLst/>
          </a:prstGeom>
          <a:ln w="9525">
            <a:solidFill>
              <a:srgbClr val="6B7069"/>
            </a:solidFill>
          </a:ln>
        </p:spPr>
      </p:cxnSp>
      <p:sp>
        <p:nvSpPr>
          <p:cNvPr id="776" name="AI Gateway label"/>
          <p:cNvSpPr txBox="1"/>
          <p:nvPr/>
        </p:nvSpPr>
        <p:spPr>
          <a:xfrm>
            <a:off x="699010" y="3266237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700" b="1" i="0" dirty="0">
                <a:solidFill>
                  <a:srgbClr val="4A8500"/>
                </a:solidFill>
                <a:latin typeface="Calibri"/>
              </a:rPr>
              <a:t>AI Gateway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442869"/>
            <a:ext cx="8138160" cy="2846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4A8500"/>
                </a:solidFill>
                <a:latin typeface="Calibri"/>
              </a:rPr>
              <a:t>SETTING THE SCENE  </a:t>
            </a:r>
            <a:r>
              <a:rPr sz="1850" b="1" i="0" dirty="0">
                <a:solidFill>
                  <a:srgbClr val="001408"/>
                </a:solidFill>
                <a:latin typeface="Calibri"/>
              </a:rPr>
              <a:t>Working assumptions for today</a:t>
            </a:r>
            <a:r>
              <a:rPr lang="en-US" sz="1850" b="1" i="0" dirty="0">
                <a:solidFill>
                  <a:srgbClr val="001408"/>
                </a:solidFill>
                <a:latin typeface="Calibri"/>
              </a:rPr>
              <a:t> (Recap)</a:t>
            </a:r>
            <a:endParaRPr sz="1850" b="1" i="0" dirty="0">
              <a:solidFill>
                <a:srgbClr val="001408"/>
              </a:solidFill>
              <a:latin typeface="Calibri"/>
            </a:endParaRPr>
          </a:p>
        </p:txBody>
      </p:sp>
      <p:grpSp>
        <p:nvGrpSpPr>
          <p:cNvPr id="2" name="Scene who"/>
          <p:cNvGrpSpPr/>
          <p:nvPr/>
        </p:nvGrpSpPr>
        <p:grpSpPr>
          <a:xfrm>
            <a:off x="457200" y="960120"/>
            <a:ext cx="1993392" cy="2926080"/>
            <a:chOff x="457200" y="960120"/>
            <a:chExt cx="1993392" cy="2926080"/>
          </a:xfrm>
        </p:grpSpPr>
        <p:sp>
          <p:nvSpPr>
            <p:cNvPr id="813" name="Who card"/>
            <p:cNvSpPr/>
            <p:nvPr/>
          </p:nvSpPr>
          <p:spPr>
            <a:xfrm>
              <a:off x="457200" y="960120"/>
              <a:ext cx="1993392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4" name="Step 1"/>
            <p:cNvSpPr/>
            <p:nvPr/>
          </p:nvSpPr>
          <p:spPr>
            <a:xfrm>
              <a:off x="58521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5" name="Step 1 number"/>
            <p:cNvSpPr txBox="1"/>
            <p:nvPr/>
          </p:nvSpPr>
          <p:spPr>
            <a:xfrm>
              <a:off x="58521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1</a:t>
              </a:r>
            </a:p>
          </p:txBody>
        </p:sp>
        <p:sp>
          <p:nvSpPr>
            <p:cNvPr id="816" name="Step 1 label"/>
            <p:cNvSpPr txBox="1"/>
            <p:nvPr/>
          </p:nvSpPr>
          <p:spPr>
            <a:xfrm>
              <a:off x="896112" y="1051560"/>
              <a:ext cx="155448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4A8500"/>
                  </a:solidFill>
                  <a:latin typeface="Calibri"/>
                </a:rPr>
                <a:t>THE BANK &amp; THE ROOM</a:t>
              </a:r>
            </a:p>
          </p:txBody>
        </p:sp>
        <p:sp>
          <p:nvSpPr>
            <p:cNvPr id="817" name="Bank badge badge"/>
            <p:cNvSpPr/>
            <p:nvPr/>
          </p:nvSpPr>
          <p:spPr>
            <a:xfrm>
              <a:off x="585216" y="1399032"/>
              <a:ext cx="475488" cy="47548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8" name="Bank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33" y="1513149"/>
              <a:ext cx="247253" cy="247253"/>
            </a:xfrm>
            <a:prstGeom prst="rect">
              <a:avLst/>
            </a:prstGeom>
          </p:spPr>
        </p:pic>
        <p:sp>
          <p:nvSpPr>
            <p:cNvPr id="819" name="Bank name"/>
            <p:cNvSpPr txBox="1"/>
            <p:nvPr/>
          </p:nvSpPr>
          <p:spPr>
            <a:xfrm>
              <a:off x="1170432" y="1362456"/>
              <a:ext cx="114300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50" b="1" i="0">
                  <a:solidFill>
                    <a:srgbClr val="001408"/>
                  </a:solidFill>
                  <a:latin typeface="Calibri"/>
                </a:rPr>
                <a:t>GNB</a:t>
              </a:r>
            </a:p>
          </p:txBody>
        </p:sp>
        <p:sp>
          <p:nvSpPr>
            <p:cNvPr id="820" name="Bank desc"/>
            <p:cNvSpPr txBox="1"/>
            <p:nvPr/>
          </p:nvSpPr>
          <p:spPr>
            <a:xfrm>
              <a:off x="1170432" y="1636776"/>
              <a:ext cx="11430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Fictional Tier-1 UAE bank, AI-first</a:t>
              </a:r>
            </a:p>
          </p:txBody>
        </p:sp>
        <p:sp>
          <p:nvSpPr>
            <p:cNvPr id="821" name="Meeting pill"/>
            <p:cNvSpPr/>
            <p:nvPr/>
          </p:nvSpPr>
          <p:spPr>
            <a:xfrm>
              <a:off x="585216" y="2002536"/>
              <a:ext cx="1737360" cy="21945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4A8500"/>
              </a:solidFill>
            </a:ln>
          </p:spPr>
          <p:txBody>
            <a:bodyPr wrap="square" lIns="36576" tIns="0" rIns="36576" bIns="0" rtlCol="0" anchor="ctr"/>
            <a:lstStyle/>
            <a:p>
              <a:pPr algn="ctr"/>
              <a:r>
                <a:rPr sz="800" b="1" i="0">
                  <a:solidFill>
                    <a:srgbClr val="4A8500"/>
                  </a:solidFill>
                  <a:latin typeface="Calibri"/>
                </a:rPr>
                <a:t>2ND MEETING  ·  AFTER DISCOVERY</a:t>
              </a:r>
            </a:p>
          </p:txBody>
        </p:sp>
        <p:cxnSp>
          <p:nvCxnSpPr>
            <p:cNvPr id="822" name="Who divider"/>
            <p:cNvCxnSpPr/>
            <p:nvPr/>
          </p:nvCxnSpPr>
          <p:spPr>
            <a:xfrm>
              <a:off x="585216" y="2331720"/>
              <a:ext cx="1737360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23" name="Room label"/>
            <p:cNvSpPr txBox="1"/>
            <p:nvPr/>
          </p:nvSpPr>
          <p:spPr>
            <a:xfrm>
              <a:off x="585216" y="2386584"/>
              <a:ext cx="17373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IN THE ROOM</a:t>
              </a:r>
            </a:p>
          </p:txBody>
        </p:sp>
        <p:sp>
          <p:nvSpPr>
            <p:cNvPr id="824" name="Room roles"/>
            <p:cNvSpPr txBox="1"/>
            <p:nvPr/>
          </p:nvSpPr>
          <p:spPr>
            <a:xfrm>
              <a:off x="585216" y="2532888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1" i="0">
                  <a:solidFill>
                    <a:srgbClr val="001408"/>
                  </a:solidFill>
                  <a:latin typeface="Calibri"/>
                </a:rPr>
                <a:t>CIO  ·  AI Platform Owner</a:t>
              </a:r>
              <a:br>
                <a:rPr sz="950" b="1" i="0">
                  <a:solidFill>
                    <a:srgbClr val="001408"/>
                  </a:solidFill>
                  <a:latin typeface="Calibri"/>
                </a:rPr>
              </a:br>
              <a:r>
                <a:rPr sz="950" b="1" i="0">
                  <a:solidFill>
                    <a:srgbClr val="001408"/>
                  </a:solidFill>
                  <a:latin typeface="Calibri"/>
                </a:rPr>
                <a:t>Lead Architect</a:t>
              </a:r>
            </a:p>
          </p:txBody>
        </p:sp>
        <p:sp>
          <p:nvSpPr>
            <p:cNvPr id="825" name="CIO constraints"/>
            <p:cNvSpPr/>
            <p:nvPr/>
          </p:nvSpPr>
          <p:spPr>
            <a:xfrm>
              <a:off x="585216" y="2898648"/>
              <a:ext cx="1737360" cy="896112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6" name="CIO constraints label"/>
            <p:cNvSpPr txBox="1"/>
            <p:nvPr/>
          </p:nvSpPr>
          <p:spPr>
            <a:xfrm>
              <a:off x="694944" y="2944368"/>
              <a:ext cx="15544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4A8500"/>
                  </a:solidFill>
                  <a:latin typeface="Calibri"/>
                </a:rPr>
                <a:t>WHAT THE CIO NEEDS</a:t>
              </a:r>
            </a:p>
          </p:txBody>
        </p:sp>
        <p:pic>
          <p:nvPicPr>
            <p:cNvPr id="827" name="Icon FaLo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944" y="3200400"/>
              <a:ext cx="128016" cy="128016"/>
            </a:xfrm>
            <a:prstGeom prst="rect">
              <a:avLst/>
            </a:prstGeom>
          </p:spPr>
        </p:pic>
        <p:sp>
          <p:nvSpPr>
            <p:cNvPr id="828" name="CIO need 1"/>
            <p:cNvSpPr txBox="1"/>
            <p:nvPr/>
          </p:nvSpPr>
          <p:spPr>
            <a:xfrm>
              <a:off x="877824" y="3163824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security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in-country</a:t>
              </a:r>
            </a:p>
          </p:txBody>
        </p:sp>
        <p:pic>
          <p:nvPicPr>
            <p:cNvPr id="829" name="Icon FaClipboardCheck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4944" y="3410712"/>
              <a:ext cx="128016" cy="128016"/>
            </a:xfrm>
            <a:prstGeom prst="rect">
              <a:avLst/>
            </a:prstGeom>
          </p:spPr>
        </p:pic>
        <p:sp>
          <p:nvSpPr>
            <p:cNvPr id="830" name="CIO need 2"/>
            <p:cNvSpPr txBox="1"/>
            <p:nvPr/>
          </p:nvSpPr>
          <p:spPr>
            <a:xfrm>
              <a:off x="877824" y="3374136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governance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compliant</a:t>
              </a:r>
            </a:p>
          </p:txBody>
        </p:sp>
        <p:pic>
          <p:nvPicPr>
            <p:cNvPr id="831" name="Icon FaChartLine" descr="FaChartLine_dar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4944" y="3621024"/>
              <a:ext cx="128016" cy="128016"/>
            </a:xfrm>
            <a:prstGeom prst="rect">
              <a:avLst/>
            </a:prstGeom>
          </p:spPr>
        </p:pic>
        <p:sp>
          <p:nvSpPr>
            <p:cNvPr id="832" name="CIO need 3"/>
            <p:cNvSpPr txBox="1"/>
            <p:nvPr/>
          </p:nvSpPr>
          <p:spPr>
            <a:xfrm>
              <a:off x="877824" y="3584448"/>
              <a:ext cx="13716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tokenomics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pays back</a:t>
              </a:r>
            </a:p>
          </p:txBody>
        </p:sp>
      </p:grpSp>
      <p:grpSp>
        <p:nvGrpSpPr>
          <p:cNvPr id="3" name="Scene factory"/>
          <p:cNvGrpSpPr/>
          <p:nvPr/>
        </p:nvGrpSpPr>
        <p:grpSpPr>
          <a:xfrm>
            <a:off x="2560320" y="960120"/>
            <a:ext cx="1993392" cy="2926080"/>
            <a:chOff x="2560320" y="960120"/>
            <a:chExt cx="1993392" cy="2926080"/>
          </a:xfrm>
        </p:grpSpPr>
        <p:sp>
          <p:nvSpPr>
            <p:cNvPr id="833" name="Factory card"/>
            <p:cNvSpPr/>
            <p:nvPr/>
          </p:nvSpPr>
          <p:spPr>
            <a:xfrm>
              <a:off x="2560320" y="960120"/>
              <a:ext cx="1993392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834" name="Step 2"/>
            <p:cNvSpPr/>
            <p:nvPr/>
          </p:nvSpPr>
          <p:spPr>
            <a:xfrm>
              <a:off x="268833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5" name="Step 2 number"/>
            <p:cNvSpPr txBox="1"/>
            <p:nvPr/>
          </p:nvSpPr>
          <p:spPr>
            <a:xfrm>
              <a:off x="268833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2</a:t>
              </a:r>
            </a:p>
          </p:txBody>
        </p:sp>
        <p:sp>
          <p:nvSpPr>
            <p:cNvPr id="836" name="Step 2 label"/>
            <p:cNvSpPr txBox="1"/>
            <p:nvPr/>
          </p:nvSpPr>
          <p:spPr>
            <a:xfrm>
              <a:off x="2999232" y="1051560"/>
              <a:ext cx="1481328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4A8500"/>
                  </a:solidFill>
                  <a:latin typeface="Calibri"/>
                </a:rPr>
                <a:t>FACTORY AND USE CASES</a:t>
              </a:r>
            </a:p>
          </p:txBody>
        </p:sp>
        <p:sp>
          <p:nvSpPr>
            <p:cNvPr id="837" name="GPU count"/>
            <p:cNvSpPr txBox="1"/>
            <p:nvPr/>
          </p:nvSpPr>
          <p:spPr>
            <a:xfrm>
              <a:off x="2688336" y="1344168"/>
              <a:ext cx="77724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300" b="1" i="0">
                  <a:solidFill>
                    <a:srgbClr val="4A8500"/>
                  </a:solidFill>
                  <a:latin typeface="Calibri"/>
                </a:rPr>
                <a:t>64</a:t>
              </a:r>
            </a:p>
          </p:txBody>
        </p:sp>
        <p:sp>
          <p:nvSpPr>
            <p:cNvPr id="838" name="GPU label"/>
            <p:cNvSpPr txBox="1"/>
            <p:nvPr/>
          </p:nvSpPr>
          <p:spPr>
            <a:xfrm>
              <a:off x="3401568" y="1463040"/>
              <a:ext cx="10515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GPUs on-prem</a:t>
              </a:r>
            </a:p>
          </p:txBody>
        </p:sp>
        <p:pic>
          <p:nvPicPr>
            <p:cNvPr id="840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88336" y="1819656"/>
              <a:ext cx="182880" cy="182880"/>
            </a:xfrm>
            <a:prstGeom prst="rect">
              <a:avLst/>
            </a:prstGeom>
          </p:spPr>
        </p:pic>
        <p:pic>
          <p:nvPicPr>
            <p:cNvPr id="841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7792" y="1819656"/>
              <a:ext cx="182880" cy="182880"/>
            </a:xfrm>
            <a:prstGeom prst="rect">
              <a:avLst/>
            </a:prstGeom>
          </p:spPr>
        </p:pic>
        <p:pic>
          <p:nvPicPr>
            <p:cNvPr id="842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27248" y="1819656"/>
              <a:ext cx="182880" cy="182880"/>
            </a:xfrm>
            <a:prstGeom prst="rect">
              <a:avLst/>
            </a:prstGeom>
          </p:spPr>
        </p:pic>
        <p:pic>
          <p:nvPicPr>
            <p:cNvPr id="843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46704" y="1819656"/>
              <a:ext cx="182880" cy="182880"/>
            </a:xfrm>
            <a:prstGeom prst="rect">
              <a:avLst/>
            </a:prstGeom>
          </p:spPr>
        </p:pic>
        <p:pic>
          <p:nvPicPr>
            <p:cNvPr id="844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66160" y="1819656"/>
              <a:ext cx="182880" cy="182880"/>
            </a:xfrm>
            <a:prstGeom prst="rect">
              <a:avLst/>
            </a:prstGeom>
          </p:spPr>
        </p:pic>
        <p:pic>
          <p:nvPicPr>
            <p:cNvPr id="845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85616" y="1819656"/>
              <a:ext cx="182880" cy="182880"/>
            </a:xfrm>
            <a:prstGeom prst="rect">
              <a:avLst/>
            </a:prstGeom>
          </p:spPr>
        </p:pic>
        <p:pic>
          <p:nvPicPr>
            <p:cNvPr id="846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05072" y="1819656"/>
              <a:ext cx="182880" cy="182880"/>
            </a:xfrm>
            <a:prstGeom prst="rect">
              <a:avLst/>
            </a:prstGeom>
          </p:spPr>
        </p:pic>
        <p:pic>
          <p:nvPicPr>
            <p:cNvPr id="847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24528" y="1819656"/>
              <a:ext cx="182880" cy="182880"/>
            </a:xfrm>
            <a:prstGeom prst="rect">
              <a:avLst/>
            </a:prstGeom>
          </p:spPr>
        </p:pic>
        <p:cxnSp>
          <p:nvCxnSpPr>
            <p:cNvPr id="848" name="Factory divider"/>
            <p:cNvCxnSpPr/>
            <p:nvPr/>
          </p:nvCxnSpPr>
          <p:spPr>
            <a:xfrm>
              <a:off x="2688336" y="2148840"/>
              <a:ext cx="1737360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49" name="UC label"/>
            <p:cNvSpPr txBox="1"/>
            <p:nvPr/>
          </p:nvSpPr>
          <p:spPr>
            <a:xfrm>
              <a:off x="2688336" y="2203704"/>
              <a:ext cx="17373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12 USE CASES  ·  PILOT, POC OR MVP</a:t>
              </a:r>
            </a:p>
          </p:txBody>
        </p:sp>
        <p:sp>
          <p:nvSpPr>
            <p:cNvPr id="850" name="Seg Generative"/>
            <p:cNvSpPr/>
            <p:nvPr/>
          </p:nvSpPr>
          <p:spPr>
            <a:xfrm>
              <a:off x="2688336" y="2404872"/>
              <a:ext cx="987552" cy="274320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1" name="Seg Generative n"/>
            <p:cNvSpPr txBox="1"/>
            <p:nvPr/>
          </p:nvSpPr>
          <p:spPr>
            <a:xfrm>
              <a:off x="2688336" y="2404872"/>
              <a:ext cx="987552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7  Generative</a:t>
              </a:r>
            </a:p>
          </p:txBody>
        </p:sp>
        <p:sp>
          <p:nvSpPr>
            <p:cNvPr id="854" name="Seg Agentic"/>
            <p:cNvSpPr/>
            <p:nvPr/>
          </p:nvSpPr>
          <p:spPr>
            <a:xfrm>
              <a:off x="3712464" y="2404872"/>
              <a:ext cx="713232" cy="274320"/>
            </a:xfrm>
            <a:prstGeom prst="rect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Seg Agentic n"/>
            <p:cNvSpPr txBox="1"/>
            <p:nvPr/>
          </p:nvSpPr>
          <p:spPr>
            <a:xfrm>
              <a:off x="3712464" y="2404872"/>
              <a:ext cx="713232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5  Agentic</a:t>
              </a:r>
            </a:p>
          </p:txBody>
        </p:sp>
        <p:sp>
          <p:nvSpPr>
            <p:cNvPr id="858" name="UC examples"/>
            <p:cNvSpPr txBox="1"/>
            <p:nvPr/>
          </p:nvSpPr>
          <p:spPr>
            <a:xfrm>
              <a:off x="2688336" y="2743200"/>
              <a:ext cx="1737360" cy="5669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800" b="1" i="0">
                  <a:solidFill>
                    <a:srgbClr val="001408"/>
                  </a:solidFill>
                  <a:latin typeface="Calibri"/>
                </a:rPr>
                <a:t>Generative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copilot · credit memo · AML · knowledge</a:t>
              </a:r>
            </a:p>
            <a:p>
              <a:pPr algn="l">
                <a:spcAft>
                  <a:spcPts val="200"/>
                </a:spcAft>
              </a:pPr>
              <a:r>
                <a:rPr sz="800" b="1" i="0">
                  <a:solidFill>
                    <a:srgbClr val="001408"/>
                  </a:solidFill>
                  <a:latin typeface="Calibri"/>
                </a:rPr>
                <a:t>Agentic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card-ops · KYC · collections · complaints</a:t>
              </a:r>
            </a:p>
          </p:txBody>
        </p:sp>
        <p:sp>
          <p:nvSpPr>
            <p:cNvPr id="859" name="Prod status"/>
            <p:cNvSpPr/>
            <p:nvPr/>
          </p:nvSpPr>
          <p:spPr>
            <a:xfrm>
              <a:off x="2688336" y="3392424"/>
              <a:ext cx="1737360" cy="402336"/>
            </a:xfrm>
            <a:prstGeom prst="roundRect">
              <a:avLst>
                <a:gd name="adj" fmla="val 8000"/>
              </a:avLst>
            </a:prstGeom>
            <a:solidFill>
              <a:srgbClr val="FBECE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0" name="Prod hero"/>
            <p:cNvSpPr txBox="1"/>
            <p:nvPr/>
          </p:nvSpPr>
          <p:spPr>
            <a:xfrm>
              <a:off x="2743200" y="3392424"/>
              <a:ext cx="841248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C8553D"/>
                  </a:solidFill>
                  <a:latin typeface="Calibri"/>
                </a:rPr>
                <a:t>0 of 12</a:t>
              </a:r>
            </a:p>
          </p:txBody>
        </p:sp>
        <p:sp>
          <p:nvSpPr>
            <p:cNvPr id="861" name="Prod hero label"/>
            <p:cNvSpPr txBox="1"/>
            <p:nvPr/>
          </p:nvSpPr>
          <p:spPr>
            <a:xfrm>
              <a:off x="3584448" y="3392424"/>
              <a:ext cx="804672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in production today</a:t>
              </a:r>
            </a:p>
          </p:txBody>
        </p:sp>
      </p:grpSp>
      <p:grpSp>
        <p:nvGrpSpPr>
          <p:cNvPr id="921" name="Scene regulation"/>
          <p:cNvGrpSpPr/>
          <p:nvPr/>
        </p:nvGrpSpPr>
        <p:grpSpPr>
          <a:xfrm>
            <a:off x="4663440" y="960120"/>
            <a:ext cx="2011680" cy="2926080"/>
            <a:chOff x="4663440" y="960120"/>
            <a:chExt cx="2011680" cy="2926080"/>
          </a:xfrm>
        </p:grpSpPr>
        <p:sp>
          <p:nvSpPr>
            <p:cNvPr id="897" name="Reg card"/>
            <p:cNvSpPr/>
            <p:nvPr/>
          </p:nvSpPr>
          <p:spPr>
            <a:xfrm>
              <a:off x="4663440" y="960120"/>
              <a:ext cx="2011680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8" name="Step 3"/>
            <p:cNvSpPr/>
            <p:nvPr/>
          </p:nvSpPr>
          <p:spPr>
            <a:xfrm>
              <a:off x="479145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9" name="Step 3 number"/>
            <p:cNvSpPr txBox="1"/>
            <p:nvPr/>
          </p:nvSpPr>
          <p:spPr>
            <a:xfrm>
              <a:off x="479145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3</a:t>
              </a:r>
            </a:p>
          </p:txBody>
        </p:sp>
        <p:sp>
          <p:nvSpPr>
            <p:cNvPr id="900" name="Step 3 label"/>
            <p:cNvSpPr txBox="1"/>
            <p:nvPr/>
          </p:nvSpPr>
          <p:spPr>
            <a:xfrm>
              <a:off x="5102352" y="1051560"/>
              <a:ext cx="1572768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4A8500"/>
                  </a:solidFill>
                  <a:latin typeface="Calibri"/>
                </a:rPr>
                <a:t>REGULATORY &amp; SECURITY</a:t>
              </a:r>
            </a:p>
          </p:txBody>
        </p:sp>
        <p:sp>
          <p:nvSpPr>
            <p:cNvPr id="901" name="Reg UAE label"/>
            <p:cNvSpPr txBox="1"/>
            <p:nvPr/>
          </p:nvSpPr>
          <p:spPr>
            <a:xfrm>
              <a:off x="4791456" y="1371600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UAE AUTHORITIES</a:t>
              </a:r>
            </a:p>
          </p:txBody>
        </p:sp>
        <p:sp>
          <p:nvSpPr>
            <p:cNvPr id="902" name="Reg intl label"/>
            <p:cNvSpPr txBox="1"/>
            <p:nvPr/>
          </p:nvSpPr>
          <p:spPr>
            <a:xfrm>
              <a:off x="4791456" y="2633472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INTERNATIONAL STANDARDS</a:t>
              </a:r>
            </a:p>
          </p:txBody>
        </p:sp>
        <p:sp>
          <p:nvSpPr>
            <p:cNvPr id="903" name="Reg tile 1"/>
            <p:cNvSpPr/>
            <p:nvPr/>
          </p:nvSpPr>
          <p:spPr>
            <a:xfrm>
              <a:off x="4791456" y="1554480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4" name="Reg tile 1 accent"/>
            <p:cNvSpPr/>
            <p:nvPr/>
          </p:nvSpPr>
          <p:spPr>
            <a:xfrm>
              <a:off x="4791456" y="1609344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05" name="Reg tile 1 text"/>
            <p:cNvSpPr txBox="1"/>
            <p:nvPr/>
          </p:nvSpPr>
          <p:spPr>
            <a:xfrm>
              <a:off x="4901184" y="1554480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CBUAE AI guidance, 2026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explainability, human oversight</a:t>
              </a:r>
              <a:endParaRPr lang="en-US" sz="800"/>
            </a:p>
          </p:txBody>
        </p:sp>
        <p:sp>
          <p:nvSpPr>
            <p:cNvPr id="906" name="Reg tile 2"/>
            <p:cNvSpPr/>
            <p:nvPr/>
          </p:nvSpPr>
          <p:spPr>
            <a:xfrm>
              <a:off x="4791456" y="1901952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7" name="Reg tile 2 accent"/>
            <p:cNvSpPr/>
            <p:nvPr/>
          </p:nvSpPr>
          <p:spPr>
            <a:xfrm>
              <a:off x="4791456" y="1956816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08" name="Reg tile 2 text"/>
            <p:cNvSpPr txBox="1"/>
            <p:nvPr/>
          </p:nvSpPr>
          <p:spPr>
            <a:xfrm>
              <a:off x="4901184" y="1901952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CBUAE model management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model risk and validation</a:t>
              </a:r>
              <a:endParaRPr lang="en-US" sz="800"/>
            </a:p>
          </p:txBody>
        </p:sp>
        <p:sp>
          <p:nvSpPr>
            <p:cNvPr id="909" name="Reg tile 3"/>
            <p:cNvSpPr/>
            <p:nvPr/>
          </p:nvSpPr>
          <p:spPr>
            <a:xfrm>
              <a:off x="4791456" y="2249424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0" name="Reg tile 3 accent"/>
            <p:cNvSpPr/>
            <p:nvPr/>
          </p:nvSpPr>
          <p:spPr>
            <a:xfrm>
              <a:off x="4791456" y="2304288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11" name="Reg tile 3 text"/>
            <p:cNvSpPr txBox="1"/>
            <p:nvPr/>
          </p:nvSpPr>
          <p:spPr>
            <a:xfrm>
              <a:off x="4901184" y="2249424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UAE IA Regulation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national security controls</a:t>
              </a:r>
              <a:endParaRPr lang="en-US" sz="800"/>
            </a:p>
          </p:txBody>
        </p:sp>
        <p:sp>
          <p:nvSpPr>
            <p:cNvPr id="912" name="Reg tile 4"/>
            <p:cNvSpPr/>
            <p:nvPr/>
          </p:nvSpPr>
          <p:spPr>
            <a:xfrm>
              <a:off x="4791456" y="2807208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3" name="Reg tile 4 accent"/>
            <p:cNvSpPr/>
            <p:nvPr/>
          </p:nvSpPr>
          <p:spPr>
            <a:xfrm>
              <a:off x="4791456" y="2862072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14" name="Reg tile 4 text"/>
            <p:cNvSpPr txBox="1"/>
            <p:nvPr/>
          </p:nvSpPr>
          <p:spPr>
            <a:xfrm>
              <a:off x="4901184" y="2807208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NIST AI RMF, GenAI profile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govern, map, measure, manage</a:t>
              </a:r>
              <a:endParaRPr lang="en-US" sz="800"/>
            </a:p>
          </p:txBody>
        </p:sp>
        <p:sp>
          <p:nvSpPr>
            <p:cNvPr id="915" name="Reg tile 5"/>
            <p:cNvSpPr/>
            <p:nvPr/>
          </p:nvSpPr>
          <p:spPr>
            <a:xfrm>
              <a:off x="4791456" y="3154680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6" name="Reg tile 5 accent"/>
            <p:cNvSpPr/>
            <p:nvPr/>
          </p:nvSpPr>
          <p:spPr>
            <a:xfrm>
              <a:off x="4791456" y="3209544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17" name="Reg tile 5 text"/>
            <p:cNvSpPr txBox="1"/>
            <p:nvPr/>
          </p:nvSpPr>
          <p:spPr>
            <a:xfrm>
              <a:off x="4901184" y="3154680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PCI DSS v4 + AI guidance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human approval of agent actions</a:t>
              </a:r>
              <a:endParaRPr lang="en-US" sz="800"/>
            </a:p>
          </p:txBody>
        </p:sp>
        <p:sp>
          <p:nvSpPr>
            <p:cNvPr id="918" name="Reg tile 6"/>
            <p:cNvSpPr/>
            <p:nvPr/>
          </p:nvSpPr>
          <p:spPr>
            <a:xfrm>
              <a:off x="4791456" y="3502152"/>
              <a:ext cx="1755648" cy="31089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9" name="Reg tile 6 accent"/>
            <p:cNvSpPr/>
            <p:nvPr/>
          </p:nvSpPr>
          <p:spPr>
            <a:xfrm>
              <a:off x="4791456" y="3557016"/>
              <a:ext cx="36576" cy="201168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20" name="Reg tile 6 text"/>
            <p:cNvSpPr txBox="1"/>
            <p:nvPr/>
          </p:nvSpPr>
          <p:spPr>
            <a:xfrm>
              <a:off x="4901184" y="3502152"/>
              <a:ext cx="160934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OWASP Top 10 for LLMs</a:t>
              </a:r>
              <a:endParaRPr lang="en-US" sz="800"/>
            </a:p>
            <a:p>
              <a:pPr algn="l">
                <a:buNone/>
              </a:pPr>
              <a:r>
                <a:rPr lang="en-US" sz="800" b="0" i="0">
                  <a:solidFill>
                    <a:srgbClr val="6B7069"/>
                  </a:solidFill>
                  <a:latin typeface="Calibri"/>
                </a:rPr>
                <a:t>prompt injection, data leakage</a:t>
              </a:r>
              <a:endParaRPr lang="en-US" sz="800"/>
            </a:p>
          </p:txBody>
        </p:sp>
      </p:grpSp>
      <p:grpSp>
        <p:nvGrpSpPr>
          <p:cNvPr id="4" name="Scene requirements"/>
          <p:cNvGrpSpPr/>
          <p:nvPr/>
        </p:nvGrpSpPr>
        <p:grpSpPr>
          <a:xfrm>
            <a:off x="6784848" y="960120"/>
            <a:ext cx="1901952" cy="2926080"/>
            <a:chOff x="6784848" y="960120"/>
            <a:chExt cx="1901952" cy="2926080"/>
          </a:xfrm>
        </p:grpSpPr>
        <p:sp>
          <p:nvSpPr>
            <p:cNvPr id="862" name="Req card"/>
            <p:cNvSpPr/>
            <p:nvPr/>
          </p:nvSpPr>
          <p:spPr>
            <a:xfrm>
              <a:off x="6784848" y="960120"/>
              <a:ext cx="1901952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3" name="Step 3"/>
            <p:cNvSpPr/>
            <p:nvPr/>
          </p:nvSpPr>
          <p:spPr>
            <a:xfrm>
              <a:off x="6912864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4" name="Step 3 number"/>
            <p:cNvSpPr txBox="1"/>
            <p:nvPr/>
          </p:nvSpPr>
          <p:spPr>
            <a:xfrm>
              <a:off x="6912864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4</a:t>
              </a:r>
            </a:p>
          </p:txBody>
        </p:sp>
        <p:sp>
          <p:nvSpPr>
            <p:cNvPr id="865" name="Step 3 label"/>
            <p:cNvSpPr txBox="1"/>
            <p:nvPr/>
          </p:nvSpPr>
          <p:spPr>
            <a:xfrm>
              <a:off x="7223760" y="1051560"/>
              <a:ext cx="141732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4A8500"/>
                  </a:solidFill>
                  <a:latin typeface="Calibri"/>
                </a:rPr>
                <a:t>PRODUCTION REQUIRES</a:t>
              </a:r>
            </a:p>
          </p:txBody>
        </p:sp>
        <p:sp>
          <p:nvSpPr>
            <p:cNvPr id="866" name="Req Connectivity &amp; traffic"/>
            <p:cNvSpPr/>
            <p:nvPr/>
          </p:nvSpPr>
          <p:spPr>
            <a:xfrm>
              <a:off x="6912864" y="1371600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7" name="Icon FaRoute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04304" y="1421892"/>
              <a:ext cx="164592" cy="164592"/>
            </a:xfrm>
            <a:prstGeom prst="rect">
              <a:avLst/>
            </a:prstGeom>
          </p:spPr>
        </p:pic>
        <p:sp>
          <p:nvSpPr>
            <p:cNvPr id="868" name="Req Connectivity &amp; traffic label"/>
            <p:cNvSpPr txBox="1"/>
            <p:nvPr/>
          </p:nvSpPr>
          <p:spPr>
            <a:xfrm>
              <a:off x="7260336" y="1371600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Connectivity &amp; traffic</a:t>
              </a:r>
            </a:p>
          </p:txBody>
        </p:sp>
        <p:sp>
          <p:nvSpPr>
            <p:cNvPr id="869" name="Req Security &amp; identity"/>
            <p:cNvSpPr/>
            <p:nvPr/>
          </p:nvSpPr>
          <p:spPr>
            <a:xfrm>
              <a:off x="6912864" y="1677924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0" name="Icon FaLock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04304" y="1728216"/>
              <a:ext cx="164592" cy="164592"/>
            </a:xfrm>
            <a:prstGeom prst="rect">
              <a:avLst/>
            </a:prstGeom>
          </p:spPr>
        </p:pic>
        <p:sp>
          <p:nvSpPr>
            <p:cNvPr id="871" name="Req Security &amp; identity label"/>
            <p:cNvSpPr txBox="1"/>
            <p:nvPr/>
          </p:nvSpPr>
          <p:spPr>
            <a:xfrm>
              <a:off x="7260336" y="1677924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Security &amp; identity</a:t>
              </a:r>
            </a:p>
          </p:txBody>
        </p:sp>
        <p:sp>
          <p:nvSpPr>
            <p:cNvPr id="872" name="Req Model output"/>
            <p:cNvSpPr/>
            <p:nvPr/>
          </p:nvSpPr>
          <p:spPr>
            <a:xfrm>
              <a:off x="6912864" y="1984248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3" name="Icon FaClipboardCheck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04304" y="2034540"/>
              <a:ext cx="164592" cy="164592"/>
            </a:xfrm>
            <a:prstGeom prst="rect">
              <a:avLst/>
            </a:prstGeom>
          </p:spPr>
        </p:pic>
        <p:sp>
          <p:nvSpPr>
            <p:cNvPr id="874" name="Req Model output label"/>
            <p:cNvSpPr txBox="1"/>
            <p:nvPr/>
          </p:nvSpPr>
          <p:spPr>
            <a:xfrm>
              <a:off x="7260336" y="1984248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Model output</a:t>
              </a:r>
            </a:p>
          </p:txBody>
        </p:sp>
        <p:sp>
          <p:nvSpPr>
            <p:cNvPr id="875" name="Req Risk &amp; compliance"/>
            <p:cNvSpPr/>
            <p:nvPr/>
          </p:nvSpPr>
          <p:spPr>
            <a:xfrm>
              <a:off x="6912864" y="2290572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6" name="Icon FaUserShield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04304" y="2340864"/>
              <a:ext cx="164592" cy="164592"/>
            </a:xfrm>
            <a:prstGeom prst="rect">
              <a:avLst/>
            </a:prstGeom>
          </p:spPr>
        </p:pic>
        <p:sp>
          <p:nvSpPr>
            <p:cNvPr id="877" name="Req Risk &amp; compliance label"/>
            <p:cNvSpPr txBox="1"/>
            <p:nvPr/>
          </p:nvSpPr>
          <p:spPr>
            <a:xfrm>
              <a:off x="7260336" y="2290572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Risk &amp; compliance</a:t>
              </a:r>
            </a:p>
          </p:txBody>
        </p:sp>
        <p:sp>
          <p:nvSpPr>
            <p:cNvPr id="878" name="Req Tokenomics"/>
            <p:cNvSpPr/>
            <p:nvPr/>
          </p:nvSpPr>
          <p:spPr>
            <a:xfrm>
              <a:off x="6912864" y="2596896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9" name="Icon FaCoins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04304" y="2647188"/>
              <a:ext cx="164592" cy="164592"/>
            </a:xfrm>
            <a:prstGeom prst="rect">
              <a:avLst/>
            </a:prstGeom>
          </p:spPr>
        </p:pic>
        <p:sp>
          <p:nvSpPr>
            <p:cNvPr id="880" name="Req Tokenomics label"/>
            <p:cNvSpPr txBox="1"/>
            <p:nvPr/>
          </p:nvSpPr>
          <p:spPr>
            <a:xfrm>
              <a:off x="7260336" y="2596896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Tokenomics</a:t>
              </a:r>
            </a:p>
          </p:txBody>
        </p:sp>
        <p:sp>
          <p:nvSpPr>
            <p:cNvPr id="881" name="Req Observability"/>
            <p:cNvSpPr/>
            <p:nvPr/>
          </p:nvSpPr>
          <p:spPr>
            <a:xfrm>
              <a:off x="6912864" y="2903220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2" name="Icon FaChartBar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04304" y="2953512"/>
              <a:ext cx="164592" cy="164592"/>
            </a:xfrm>
            <a:prstGeom prst="rect">
              <a:avLst/>
            </a:prstGeom>
          </p:spPr>
        </p:pic>
        <p:sp>
          <p:nvSpPr>
            <p:cNvPr id="883" name="Req Observability label"/>
            <p:cNvSpPr txBox="1"/>
            <p:nvPr/>
          </p:nvSpPr>
          <p:spPr>
            <a:xfrm>
              <a:off x="7260336" y="2903220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Observability</a:t>
              </a:r>
            </a:p>
          </p:txBody>
        </p:sp>
        <p:sp>
          <p:nvSpPr>
            <p:cNvPr id="884" name="Req Integration"/>
            <p:cNvSpPr/>
            <p:nvPr/>
          </p:nvSpPr>
          <p:spPr>
            <a:xfrm>
              <a:off x="6912864" y="3209544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5" name="Icon FaPuzzlePiece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04304" y="3259836"/>
              <a:ext cx="164592" cy="164592"/>
            </a:xfrm>
            <a:prstGeom prst="rect">
              <a:avLst/>
            </a:prstGeom>
          </p:spPr>
        </p:pic>
        <p:sp>
          <p:nvSpPr>
            <p:cNvPr id="886" name="Req Integration label"/>
            <p:cNvSpPr txBox="1"/>
            <p:nvPr/>
          </p:nvSpPr>
          <p:spPr>
            <a:xfrm>
              <a:off x="7260336" y="3209544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Integration</a:t>
              </a:r>
            </a:p>
          </p:txBody>
        </p:sp>
        <p:sp>
          <p:nvSpPr>
            <p:cNvPr id="887" name="Req Resilience &amp; DR"/>
            <p:cNvSpPr/>
            <p:nvPr/>
          </p:nvSpPr>
          <p:spPr>
            <a:xfrm>
              <a:off x="6912864" y="3515868"/>
              <a:ext cx="1645920" cy="265176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8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04304" y="3566160"/>
              <a:ext cx="164592" cy="164592"/>
            </a:xfrm>
            <a:prstGeom prst="rect">
              <a:avLst/>
            </a:prstGeom>
          </p:spPr>
        </p:pic>
        <p:sp>
          <p:nvSpPr>
            <p:cNvPr id="889" name="Req Resilience &amp; DR label"/>
            <p:cNvSpPr txBox="1"/>
            <p:nvPr/>
          </p:nvSpPr>
          <p:spPr>
            <a:xfrm>
              <a:off x="7260336" y="3515868"/>
              <a:ext cx="1261872" cy="2651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Resilience &amp; DR</a:t>
              </a:r>
            </a:p>
          </p:txBody>
        </p:sp>
      </p:grpSp>
      <p:grpSp>
        <p:nvGrpSpPr>
          <p:cNvPr id="5" name="Scene goal"/>
          <p:cNvGrpSpPr/>
          <p:nvPr/>
        </p:nvGrpSpPr>
        <p:grpSpPr>
          <a:xfrm>
            <a:off x="457200" y="3986784"/>
            <a:ext cx="8229600" cy="640080"/>
            <a:chOff x="457200" y="3986784"/>
            <a:chExt cx="8229600" cy="640080"/>
          </a:xfrm>
          <a:solidFill>
            <a:schemeClr val="bg2"/>
          </a:solidFill>
        </p:grpSpPr>
        <p:sp>
          <p:nvSpPr>
            <p:cNvPr id="891" name="Goal band"/>
            <p:cNvSpPr/>
            <p:nvPr/>
          </p:nvSpPr>
          <p:spPr>
            <a:xfrm>
              <a:off x="457200" y="3986784"/>
              <a:ext cx="8229600" cy="640080"/>
            </a:xfrm>
            <a:prstGeom prst="roundRect">
              <a:avLst>
                <a:gd name="adj" fmla="val 8000"/>
              </a:avLst>
            </a:prstGeom>
            <a:grpFill/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2" name="Goal badge"/>
            <p:cNvSpPr/>
            <p:nvPr/>
          </p:nvSpPr>
          <p:spPr>
            <a:xfrm>
              <a:off x="603504" y="4114800"/>
              <a:ext cx="384048" cy="384048"/>
            </a:xfrm>
            <a:prstGeom prst="ellipse">
              <a:avLst/>
            </a:prstGeom>
            <a:grpFill/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3" name="Icon FaBullseye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6656" y="4187952"/>
              <a:ext cx="237744" cy="237744"/>
            </a:xfrm>
            <a:prstGeom prst="rect">
              <a:avLst/>
            </a:prstGeom>
            <a:grpFill/>
          </p:spPr>
        </p:pic>
        <p:sp>
          <p:nvSpPr>
            <p:cNvPr id="894" name="Goal label"/>
            <p:cNvSpPr txBox="1"/>
            <p:nvPr/>
          </p:nvSpPr>
          <p:spPr>
            <a:xfrm>
              <a:off x="1115568" y="4023360"/>
              <a:ext cx="1463040" cy="164592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CCFF00"/>
                  </a:solidFill>
                  <a:latin typeface="Calibri"/>
                </a:rPr>
                <a:t>5   TODAY’S GOAL</a:t>
              </a:r>
            </a:p>
          </p:txBody>
        </p:sp>
        <p:sp>
          <p:nvSpPr>
            <p:cNvPr id="895" name="Goal text"/>
            <p:cNvSpPr txBox="1"/>
            <p:nvPr/>
          </p:nvSpPr>
          <p:spPr>
            <a:xfrm>
              <a:off x="1115568" y="4187952"/>
              <a:ext cx="7406640" cy="402336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Show why the AI connectivity, security and observability layer is </a:t>
              </a:r>
              <a:r>
                <a:rPr sz="1200" b="1" i="0">
                  <a:solidFill>
                    <a:srgbClr val="CCFF00"/>
                  </a:solidFill>
                  <a:latin typeface="Calibri"/>
                </a:rPr>
                <a:t>a must-have</a:t>
              </a:r>
              <a:r>
                <a:rPr sz="1200" b="1" i="0">
                  <a:solidFill>
                    <a:srgbClr val="FFFFFF"/>
                  </a:solidFill>
                  <a:latin typeface="Calibri"/>
                </a:rPr>
                <a:t> in GNB’s AI strategy, and how Kong meets the platform requirements to move generative and agentic use cases </a:t>
              </a:r>
              <a:r>
                <a:rPr sz="1200" b="1" i="0">
                  <a:solidFill>
                    <a:srgbClr val="CCFF00"/>
                  </a:solidFill>
                  <a:latin typeface="Calibri"/>
                </a:rPr>
                <a:t>into production</a:t>
              </a:r>
              <a:r>
                <a:rPr sz="1200" b="1" i="0">
                  <a:solidFill>
                    <a:srgbClr val="FFFFFF"/>
                  </a:solidFill>
                  <a:latin typeface="Calibri"/>
                </a:rPr>
                <a:t>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1"/>
          <p:cNvSpPr txBox="1"/>
          <p:nvPr/>
        </p:nvSpPr>
        <p:spPr>
          <a:xfrm>
            <a:off x="616725" y="1042237"/>
            <a:ext cx="30033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750" b="1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30 minutes</a:t>
            </a:r>
          </a:p>
        </p:txBody>
      </p:sp>
      <p:sp>
        <p:nvSpPr>
          <p:cNvPr id="782" name="Google Shape;782;p51"/>
          <p:cNvSpPr txBox="1"/>
          <p:nvPr/>
        </p:nvSpPr>
        <p:spPr>
          <a:xfrm>
            <a:off x="616725" y="693275"/>
            <a:ext cx="3003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400" b="1">
              <a:solidFill>
                <a:srgbClr val="4A8500"/>
              </a:solidFill>
              <a:latin typeface="Calibri"/>
              <a:ea typeface="Calibri"/>
              <a:cs typeface="Calibri"/>
              <a:sym typeface="Funnel Sans"/>
            </a:endParaRPr>
          </a:p>
        </p:txBody>
      </p:sp>
      <p:sp>
        <p:nvSpPr>
          <p:cNvPr id="783" name="Google Shape;783;p51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86" name="Agenda split slides"/>
          <p:cNvSpPr txBox="1"/>
          <p:nvPr/>
        </p:nvSpPr>
        <p:spPr>
          <a:xfrm>
            <a:off x="777240" y="187452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600" b="1" i="0">
                <a:solidFill>
                  <a:srgbClr val="001408"/>
                </a:solidFill>
                <a:latin typeface="Calibri"/>
              </a:rPr>
              <a:t>10 min</a:t>
            </a:r>
            <a:endParaRPr lang="en-US" sz="800"/>
          </a:p>
          <a:p>
            <a:pPr algn="l">
              <a:buNone/>
            </a:pPr>
            <a:r>
              <a:rPr lang="en-US" sz="1100" b="0" i="0">
                <a:solidFill>
                  <a:srgbClr val="4B5650"/>
                </a:solidFill>
                <a:latin typeface="Calibri"/>
              </a:rPr>
              <a:t>the story, and how Kong meets each need</a:t>
            </a:r>
            <a:endParaRPr lang="en-US" sz="800"/>
          </a:p>
        </p:txBody>
      </p:sp>
      <p:sp>
        <p:nvSpPr>
          <p:cNvPr id="787" name="Agenda split demo"/>
          <p:cNvSpPr txBox="1"/>
          <p:nvPr/>
        </p:nvSpPr>
        <p:spPr>
          <a:xfrm>
            <a:off x="777240" y="2606040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600" b="1" i="0">
                <a:solidFill>
                  <a:srgbClr val="4A8500"/>
                </a:solidFill>
                <a:latin typeface="Calibri"/>
              </a:rPr>
              <a:t>20 min</a:t>
            </a:r>
            <a:endParaRPr lang="en-US" sz="800"/>
          </a:p>
          <a:p>
            <a:pPr algn="l">
              <a:buNone/>
            </a:pPr>
            <a:r>
              <a:rPr lang="en-US" sz="1100" b="0" i="0">
                <a:solidFill>
                  <a:srgbClr val="4B5650"/>
                </a:solidFill>
                <a:latin typeface="Calibri"/>
              </a:rPr>
              <a:t>live: GNB's staff and an AI agent working through Kong</a:t>
            </a:r>
            <a:endParaRPr lang="en-US" sz="800"/>
          </a:p>
        </p:txBody>
      </p:sp>
      <p:sp>
        <p:nvSpPr>
          <p:cNvPr id="788" name="Agenda questions"/>
          <p:cNvSpPr txBox="1"/>
          <p:nvPr/>
        </p:nvSpPr>
        <p:spPr>
          <a:xfrm>
            <a:off x="777240" y="34564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i="1" dirty="0">
                <a:solidFill>
                  <a:srgbClr val="001408"/>
                </a:solidFill>
                <a:latin typeface="Calibri"/>
              </a:rPr>
              <a:t>Questions welcome at any point</a:t>
            </a:r>
            <a:endParaRPr lang="en-US" sz="800" dirty="0"/>
          </a:p>
        </p:txBody>
      </p:sp>
      <p:sp>
        <p:nvSpPr>
          <p:cNvPr id="789" name="Agenda 1 number"/>
          <p:cNvSpPr txBox="1"/>
          <p:nvPr/>
        </p:nvSpPr>
        <p:spPr>
          <a:xfrm>
            <a:off x="4526280" y="512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2200" b="1" i="0">
                <a:solidFill>
                  <a:srgbClr val="4A8500"/>
                </a:solidFill>
                <a:latin typeface="Calibri"/>
              </a:rPr>
              <a:t>1</a:t>
            </a:r>
            <a:endParaRPr lang="en-US" sz="800"/>
          </a:p>
        </p:txBody>
      </p:sp>
      <p:sp>
        <p:nvSpPr>
          <p:cNvPr id="790" name="Agenda 1 title"/>
          <p:cNvSpPr txBox="1"/>
          <p:nvPr/>
        </p:nvSpPr>
        <p:spPr>
          <a:xfrm>
            <a:off x="5029200" y="4754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i="0">
                <a:solidFill>
                  <a:srgbClr val="001408"/>
                </a:solidFill>
                <a:latin typeface="Calibri"/>
              </a:rPr>
              <a:t>The scene and the story</a:t>
            </a:r>
            <a:endParaRPr lang="en-US" sz="800"/>
          </a:p>
        </p:txBody>
      </p:sp>
      <p:sp>
        <p:nvSpPr>
          <p:cNvPr id="791" name="Agenda 1 detail"/>
          <p:cNvSpPr txBox="1"/>
          <p:nvPr/>
        </p:nvSpPr>
        <p:spPr>
          <a:xfrm>
            <a:off x="5029200" y="75895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0" i="0">
                <a:solidFill>
                  <a:srgbClr val="4B5650"/>
                </a:solidFill>
                <a:latin typeface="Calibri"/>
              </a:rPr>
              <a:t>GNB's AI factory, 12 pilots, and the production gate</a:t>
            </a:r>
            <a:endParaRPr lang="en-US" sz="800"/>
          </a:p>
        </p:txBody>
      </p:sp>
      <p:sp>
        <p:nvSpPr>
          <p:cNvPr id="792" name="Agenda 1 time"/>
          <p:cNvSpPr txBox="1"/>
          <p:nvPr/>
        </p:nvSpPr>
        <p:spPr>
          <a:xfrm>
            <a:off x="7818120" y="5669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~4 min</a:t>
            </a:r>
            <a:endParaRPr lang="en-US" sz="800"/>
          </a:p>
        </p:txBody>
      </p:sp>
      <p:sp>
        <p:nvSpPr>
          <p:cNvPr id="793" name="Agenda 2 number"/>
          <p:cNvSpPr txBox="1"/>
          <p:nvPr/>
        </p:nvSpPr>
        <p:spPr>
          <a:xfrm>
            <a:off x="4526280" y="1261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2200" b="1" i="0">
                <a:solidFill>
                  <a:srgbClr val="4A8500"/>
                </a:solidFill>
                <a:latin typeface="Calibri"/>
              </a:rPr>
              <a:t>2</a:t>
            </a:r>
            <a:endParaRPr lang="en-US" sz="800"/>
          </a:p>
        </p:txBody>
      </p:sp>
      <p:sp>
        <p:nvSpPr>
          <p:cNvPr id="794" name="Agenda 2 title"/>
          <p:cNvSpPr txBox="1"/>
          <p:nvPr/>
        </p:nvSpPr>
        <p:spPr>
          <a:xfrm>
            <a:off x="5029200" y="122529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i="0">
                <a:solidFill>
                  <a:srgbClr val="001408"/>
                </a:solidFill>
                <a:latin typeface="Calibri"/>
              </a:rPr>
              <a:t>How Kong meets each need</a:t>
            </a:r>
            <a:endParaRPr lang="en-US" sz="800"/>
          </a:p>
        </p:txBody>
      </p:sp>
      <p:sp>
        <p:nvSpPr>
          <p:cNvPr id="795" name="Agenda 2 detail"/>
          <p:cNvSpPr txBox="1"/>
          <p:nvPr/>
        </p:nvSpPr>
        <p:spPr>
          <a:xfrm>
            <a:off x="5029200" y="15087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0" i="0">
                <a:solidFill>
                  <a:srgbClr val="4B5650"/>
                </a:solidFill>
                <a:latin typeface="Calibri"/>
              </a:rPr>
              <a:t>GNB's AI platform, and what each of you gets</a:t>
            </a:r>
            <a:endParaRPr lang="en-US" sz="800"/>
          </a:p>
        </p:txBody>
      </p:sp>
      <p:sp>
        <p:nvSpPr>
          <p:cNvPr id="796" name="Agenda 2 time"/>
          <p:cNvSpPr txBox="1"/>
          <p:nvPr/>
        </p:nvSpPr>
        <p:spPr>
          <a:xfrm>
            <a:off x="7818120" y="1316736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001408"/>
                </a:solidFill>
                <a:latin typeface="Calibri"/>
              </a:rPr>
              <a:t>~4 min</a:t>
            </a:r>
            <a:endParaRPr lang="en-US" sz="800" dirty="0"/>
          </a:p>
        </p:txBody>
      </p:sp>
      <p:sp>
        <p:nvSpPr>
          <p:cNvPr id="797" name="Agenda 3 number"/>
          <p:cNvSpPr txBox="1"/>
          <p:nvPr/>
        </p:nvSpPr>
        <p:spPr>
          <a:xfrm>
            <a:off x="4526280" y="2011680"/>
            <a:ext cx="384048" cy="38404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2200" b="1" i="0">
                <a:solidFill>
                  <a:srgbClr val="001408"/>
                </a:solidFill>
                <a:latin typeface="Calibri"/>
              </a:rPr>
              <a:t>3</a:t>
            </a:r>
            <a:endParaRPr lang="en-US" sz="800"/>
          </a:p>
        </p:txBody>
      </p:sp>
      <p:sp>
        <p:nvSpPr>
          <p:cNvPr id="798" name="Agenda 3 title"/>
          <p:cNvSpPr txBox="1"/>
          <p:nvPr/>
        </p:nvSpPr>
        <p:spPr>
          <a:xfrm>
            <a:off x="5029200" y="19751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rgbClr val="001408"/>
                </a:solidFill>
                <a:latin typeface="Calibri"/>
              </a:rPr>
              <a:t>Live Demo</a:t>
            </a:r>
            <a:endParaRPr lang="en-US" sz="800" dirty="0"/>
          </a:p>
        </p:txBody>
      </p:sp>
      <p:sp>
        <p:nvSpPr>
          <p:cNvPr id="799" name="Agenda 3 detail"/>
          <p:cNvSpPr txBox="1"/>
          <p:nvPr/>
        </p:nvSpPr>
        <p:spPr>
          <a:xfrm>
            <a:off x="5029200" y="22585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0" i="0">
                <a:solidFill>
                  <a:srgbClr val="4B5650"/>
                </a:solidFill>
                <a:latin typeface="Calibri"/>
              </a:rPr>
              <a:t>Connect · secure · tokens · agents · unplug Konnect · use case 13</a:t>
            </a:r>
            <a:endParaRPr lang="en-US" sz="800"/>
          </a:p>
        </p:txBody>
      </p:sp>
      <p:sp>
        <p:nvSpPr>
          <p:cNvPr id="800" name="Agenda 3 time"/>
          <p:cNvSpPr txBox="1"/>
          <p:nvPr/>
        </p:nvSpPr>
        <p:spPr>
          <a:xfrm>
            <a:off x="7818120" y="206654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~20 min</a:t>
            </a:r>
            <a:endParaRPr lang="en-US" sz="800"/>
          </a:p>
        </p:txBody>
      </p:sp>
      <p:sp>
        <p:nvSpPr>
          <p:cNvPr id="801" name="Agenda 4 number"/>
          <p:cNvSpPr txBox="1"/>
          <p:nvPr/>
        </p:nvSpPr>
        <p:spPr>
          <a:xfrm>
            <a:off x="4526280" y="2761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2200" b="1" i="0">
                <a:solidFill>
                  <a:srgbClr val="4A8500"/>
                </a:solidFill>
                <a:latin typeface="Calibri"/>
              </a:rPr>
              <a:t>4</a:t>
            </a:r>
            <a:endParaRPr lang="en-US" sz="800"/>
          </a:p>
        </p:txBody>
      </p:sp>
      <p:sp>
        <p:nvSpPr>
          <p:cNvPr id="802" name="Agenda 4 title"/>
          <p:cNvSpPr txBox="1"/>
          <p:nvPr/>
        </p:nvSpPr>
        <p:spPr>
          <a:xfrm>
            <a:off x="5029200" y="27249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rgbClr val="001408"/>
                </a:solidFill>
                <a:latin typeface="Calibri"/>
              </a:rPr>
              <a:t>Next Steps</a:t>
            </a:r>
            <a:endParaRPr lang="en-US" sz="800" dirty="0"/>
          </a:p>
        </p:txBody>
      </p:sp>
      <p:sp>
        <p:nvSpPr>
          <p:cNvPr id="803" name="Agenda 4 detail"/>
          <p:cNvSpPr txBox="1"/>
          <p:nvPr/>
        </p:nvSpPr>
        <p:spPr>
          <a:xfrm>
            <a:off x="5029200" y="300837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950" b="0" i="0">
                <a:solidFill>
                  <a:srgbClr val="4B5650"/>
                </a:solidFill>
                <a:latin typeface="Calibri"/>
              </a:rPr>
              <a:t>What it is worth to GNB, and how we get there</a:t>
            </a:r>
            <a:endParaRPr lang="en-US" sz="800"/>
          </a:p>
        </p:txBody>
      </p:sp>
      <p:sp>
        <p:nvSpPr>
          <p:cNvPr id="804" name="Agenda 4 time"/>
          <p:cNvSpPr txBox="1"/>
          <p:nvPr/>
        </p:nvSpPr>
        <p:spPr>
          <a:xfrm>
            <a:off x="7818120" y="281635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 dirty="0">
                <a:solidFill>
                  <a:srgbClr val="001408"/>
                </a:solidFill>
                <a:latin typeface="Calibri"/>
              </a:rPr>
              <a:t>~2 min</a:t>
            </a:r>
            <a:endParaRPr lang="en-US" sz="800" dirty="0"/>
          </a:p>
        </p:txBody>
      </p:sp>
      <p:sp>
        <p:nvSpPr>
          <p:cNvPr id="805" name="Agenda bar label"/>
          <p:cNvSpPr txBox="1"/>
          <p:nvPr/>
        </p:nvSpPr>
        <p:spPr>
          <a:xfrm>
            <a:off x="4553712" y="3493008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HOW THE 30 MINUTES SPLIT</a:t>
            </a:r>
            <a:endParaRPr lang="en-US" sz="800"/>
          </a:p>
        </p:txBody>
      </p:sp>
      <p:sp>
        <p:nvSpPr>
          <p:cNvPr id="806" name="Agenda bar story"/>
          <p:cNvSpPr txBox="1"/>
          <p:nvPr/>
        </p:nvSpPr>
        <p:spPr>
          <a:xfrm>
            <a:off x="4553712" y="3785616"/>
            <a:ext cx="516331" cy="384048"/>
          </a:xfrm>
          <a:prstGeom prst="rect">
            <a:avLst/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i="0">
                <a:solidFill>
                  <a:srgbClr val="001408"/>
                </a:solidFill>
                <a:latin typeface="Calibri"/>
              </a:rPr>
              <a:t>4</a:t>
            </a:r>
            <a:endParaRPr lang="en-US" sz="800"/>
          </a:p>
        </p:txBody>
      </p:sp>
      <p:sp>
        <p:nvSpPr>
          <p:cNvPr id="807" name="Agenda bar story caption"/>
          <p:cNvSpPr txBox="1"/>
          <p:nvPr/>
        </p:nvSpPr>
        <p:spPr>
          <a:xfrm>
            <a:off x="4553712" y="4206240"/>
            <a:ext cx="51633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0" i="0">
                <a:solidFill>
                  <a:srgbClr val="4B5650"/>
                </a:solidFill>
                <a:latin typeface="Calibri"/>
              </a:rPr>
              <a:t>story</a:t>
            </a:r>
            <a:endParaRPr lang="en-US" sz="800"/>
          </a:p>
        </p:txBody>
      </p:sp>
      <p:sp>
        <p:nvSpPr>
          <p:cNvPr id="808" name="Agenda bar how"/>
          <p:cNvSpPr txBox="1"/>
          <p:nvPr/>
        </p:nvSpPr>
        <p:spPr>
          <a:xfrm>
            <a:off x="5097475" y="3785616"/>
            <a:ext cx="380390" cy="384048"/>
          </a:xfrm>
          <a:prstGeom prst="rect">
            <a:avLst/>
          </a:prstGeom>
          <a:solidFill>
            <a:srgbClr val="D3D9C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01408"/>
                </a:solidFill>
                <a:latin typeface="Calibri"/>
              </a:rPr>
              <a:t>4</a:t>
            </a:r>
            <a:endParaRPr lang="en-US" sz="800" dirty="0"/>
          </a:p>
        </p:txBody>
      </p:sp>
      <p:sp>
        <p:nvSpPr>
          <p:cNvPr id="809" name="Agenda bar how caption"/>
          <p:cNvSpPr txBox="1"/>
          <p:nvPr/>
        </p:nvSpPr>
        <p:spPr>
          <a:xfrm>
            <a:off x="5097475" y="4206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0" i="0">
                <a:solidFill>
                  <a:srgbClr val="4B5650"/>
                </a:solidFill>
                <a:latin typeface="Calibri"/>
              </a:rPr>
              <a:t>how</a:t>
            </a:r>
            <a:endParaRPr lang="en-US" sz="800"/>
          </a:p>
        </p:txBody>
      </p:sp>
      <p:sp>
        <p:nvSpPr>
          <p:cNvPr id="810" name="Agenda bar live demo"/>
          <p:cNvSpPr txBox="1"/>
          <p:nvPr/>
        </p:nvSpPr>
        <p:spPr>
          <a:xfrm>
            <a:off x="5505298" y="3785616"/>
            <a:ext cx="2691384" cy="38404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i="0" dirty="0">
                <a:solidFill>
                  <a:srgbClr val="001408"/>
                </a:solidFill>
                <a:latin typeface="Calibri"/>
              </a:rPr>
              <a:t>20</a:t>
            </a:r>
            <a:endParaRPr lang="en-US" sz="800" dirty="0"/>
          </a:p>
        </p:txBody>
      </p:sp>
      <p:sp>
        <p:nvSpPr>
          <p:cNvPr id="811" name="Agenda bar live demo caption"/>
          <p:cNvSpPr txBox="1"/>
          <p:nvPr/>
        </p:nvSpPr>
        <p:spPr>
          <a:xfrm>
            <a:off x="5505298" y="4206240"/>
            <a:ext cx="26913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4B5650"/>
                </a:solidFill>
                <a:latin typeface="Calibri"/>
              </a:rPr>
              <a:t>live demo</a:t>
            </a:r>
            <a:endParaRPr lang="en-US" sz="800"/>
          </a:p>
        </p:txBody>
      </p:sp>
      <p:sp>
        <p:nvSpPr>
          <p:cNvPr id="812" name="Agenda bar value"/>
          <p:cNvSpPr txBox="1"/>
          <p:nvPr/>
        </p:nvSpPr>
        <p:spPr>
          <a:xfrm>
            <a:off x="8224114" y="3785616"/>
            <a:ext cx="380390" cy="384048"/>
          </a:xfrm>
          <a:prstGeom prst="rect">
            <a:avLst/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01408"/>
                </a:solidFill>
                <a:latin typeface="Calibri"/>
              </a:rPr>
              <a:t>2</a:t>
            </a:r>
            <a:endParaRPr lang="en-US" sz="800" dirty="0"/>
          </a:p>
        </p:txBody>
      </p:sp>
      <p:sp>
        <p:nvSpPr>
          <p:cNvPr id="813" name="Agenda bar value caption"/>
          <p:cNvSpPr txBox="1"/>
          <p:nvPr/>
        </p:nvSpPr>
        <p:spPr>
          <a:xfrm>
            <a:off x="8224114" y="42062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0" i="0" dirty="0">
                <a:solidFill>
                  <a:srgbClr val="4B5650"/>
                </a:solidFill>
                <a:latin typeface="Calibri"/>
              </a:rPr>
              <a:t>Next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STORY  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From AI factory to production: where it stalls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grpSp>
        <p:nvGrpSpPr>
          <p:cNvPr id="2" name="Story step 1"/>
          <p:cNvGrpSpPr/>
          <p:nvPr/>
        </p:nvGrpSpPr>
        <p:grpSpPr>
          <a:xfrm>
            <a:off x="457200" y="1152144"/>
            <a:ext cx="1975104" cy="2523744"/>
            <a:chOff x="457200" y="1152144"/>
            <a:chExt cx="1975104" cy="2523744"/>
          </a:xfrm>
        </p:grpSpPr>
        <p:sp>
          <p:nvSpPr>
            <p:cNvPr id="816" name="Step 1 node"/>
            <p:cNvSpPr/>
            <p:nvPr/>
          </p:nvSpPr>
          <p:spPr>
            <a:xfrm>
              <a:off x="1298448" y="1152144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Step 1 number"/>
            <p:cNvSpPr txBox="1"/>
            <p:nvPr/>
          </p:nvSpPr>
          <p:spPr>
            <a:xfrm>
              <a:off x="1298448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818" name="Step 1 card"/>
            <p:cNvSpPr/>
            <p:nvPr/>
          </p:nvSpPr>
          <p:spPr>
            <a:xfrm>
              <a:off x="457200" y="1572768"/>
              <a:ext cx="1975104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9" name="Step 1 label"/>
            <p:cNvSpPr txBox="1"/>
            <p:nvPr/>
          </p:nvSpPr>
          <p:spPr>
            <a:xfrm>
              <a:off x="566928" y="1645920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STEP 1  ·  INVEST</a:t>
              </a:r>
            </a:p>
          </p:txBody>
        </p:sp>
        <p:sp>
          <p:nvSpPr>
            <p:cNvPr id="820" name="Step 1 badge badge"/>
            <p:cNvSpPr/>
            <p:nvPr/>
          </p:nvSpPr>
          <p:spPr>
            <a:xfrm>
              <a:off x="566928" y="1847088"/>
              <a:ext cx="402336" cy="402336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1" name="Step 1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512" y="1943648"/>
              <a:ext cx="209214" cy="209214"/>
            </a:xfrm>
            <a:prstGeom prst="rect">
              <a:avLst/>
            </a:prstGeom>
          </p:spPr>
        </p:pic>
        <p:sp>
          <p:nvSpPr>
            <p:cNvPr id="822" name="Step 1 title"/>
            <p:cNvSpPr txBox="1"/>
            <p:nvPr/>
          </p:nvSpPr>
          <p:spPr>
            <a:xfrm>
              <a:off x="566928" y="2322576"/>
              <a:ext cx="17556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The AI factory arrives</a:t>
              </a:r>
            </a:p>
          </p:txBody>
        </p:sp>
        <p:sp>
          <p:nvSpPr>
            <p:cNvPr id="823" name="Step 1 desc"/>
            <p:cNvSpPr txBox="1"/>
            <p:nvPr/>
          </p:nvSpPr>
          <p:spPr>
            <a:xfrm>
              <a:off x="566928" y="2743200"/>
              <a:ext cx="1755648" cy="4154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GPUs, </a:t>
              </a:r>
              <a:r>
                <a:rPr lang="en-US" sz="900" b="0" i="0" dirty="0">
                  <a:solidFill>
                    <a:srgbClr val="4B5650"/>
                  </a:solidFill>
                  <a:latin typeface="Calibri"/>
                </a:rPr>
                <a:t>Inferencing</a:t>
              </a:r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, Arabic-capable models, vector store.</a:t>
              </a:r>
            </a:p>
          </p:txBody>
        </p:sp>
        <p:sp>
          <p:nvSpPr>
            <p:cNvPr id="824" name="Tag CAPEX COMMITTED"/>
            <p:cNvSpPr/>
            <p:nvPr/>
          </p:nvSpPr>
          <p:spPr>
            <a:xfrm>
              <a:off x="566928" y="3401568"/>
              <a:ext cx="1755648" cy="18288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6B7069"/>
                  </a:solidFill>
                  <a:latin typeface="Calibri"/>
                </a:rPr>
                <a:t>CAPEX COMMITTED</a:t>
              </a:r>
            </a:p>
          </p:txBody>
        </p:sp>
      </p:grpSp>
      <p:grpSp>
        <p:nvGrpSpPr>
          <p:cNvPr id="3" name="Story step 2"/>
          <p:cNvGrpSpPr/>
          <p:nvPr/>
        </p:nvGrpSpPr>
        <p:grpSpPr>
          <a:xfrm>
            <a:off x="1591056" y="1152144"/>
            <a:ext cx="2926080" cy="2523744"/>
            <a:chOff x="1591056" y="1152144"/>
            <a:chExt cx="2926080" cy="2523744"/>
          </a:xfrm>
        </p:grpSpPr>
        <p:cxnSp>
          <p:nvCxnSpPr>
            <p:cNvPr id="825" name="Story path"/>
            <p:cNvCxnSpPr/>
            <p:nvPr/>
          </p:nvCxnSpPr>
          <p:spPr>
            <a:xfrm>
              <a:off x="1591056" y="1298448"/>
              <a:ext cx="1792224" cy="0"/>
            </a:xfrm>
            <a:prstGeom prst="line">
              <a:avLst/>
            </a:prstGeom>
            <a:ln w="22225">
              <a:solidFill>
                <a:srgbClr val="001408"/>
              </a:solidFill>
            </a:ln>
          </p:spPr>
        </p:cxnSp>
        <p:sp>
          <p:nvSpPr>
            <p:cNvPr id="826" name="Step 2 node"/>
            <p:cNvSpPr/>
            <p:nvPr/>
          </p:nvSpPr>
          <p:spPr>
            <a:xfrm>
              <a:off x="3383280" y="1152144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7" name="Step 2 number"/>
            <p:cNvSpPr txBox="1"/>
            <p:nvPr/>
          </p:nvSpPr>
          <p:spPr>
            <a:xfrm>
              <a:off x="3383280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828" name="Step 2 card"/>
            <p:cNvSpPr/>
            <p:nvPr/>
          </p:nvSpPr>
          <p:spPr>
            <a:xfrm>
              <a:off x="2542032" y="1572768"/>
              <a:ext cx="1975104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9" name="Step 2 label"/>
            <p:cNvSpPr txBox="1"/>
            <p:nvPr/>
          </p:nvSpPr>
          <p:spPr>
            <a:xfrm>
              <a:off x="2651760" y="1645920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STEP 2  ·  BUILD</a:t>
              </a:r>
            </a:p>
          </p:txBody>
        </p:sp>
        <p:sp>
          <p:nvSpPr>
            <p:cNvPr id="830" name="Step 2 badge badge"/>
            <p:cNvSpPr/>
            <p:nvPr/>
          </p:nvSpPr>
          <p:spPr>
            <a:xfrm>
              <a:off x="2651760" y="1847088"/>
              <a:ext cx="402336" cy="402336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1" name="Step 2 badge icon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2344" y="1943648"/>
              <a:ext cx="209214" cy="209214"/>
            </a:xfrm>
            <a:prstGeom prst="rect">
              <a:avLst/>
            </a:prstGeom>
          </p:spPr>
        </p:pic>
        <p:sp>
          <p:nvSpPr>
            <p:cNvPr id="832" name="Step 2 title"/>
            <p:cNvSpPr txBox="1"/>
            <p:nvPr/>
          </p:nvSpPr>
          <p:spPr>
            <a:xfrm>
              <a:off x="2651760" y="2322576"/>
              <a:ext cx="17556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The AI team gets to work</a:t>
              </a:r>
            </a:p>
          </p:txBody>
        </p:sp>
        <p:sp>
          <p:nvSpPr>
            <p:cNvPr id="833" name="Step 2 desc"/>
            <p:cNvSpPr txBox="1"/>
            <p:nvPr/>
          </p:nvSpPr>
          <p:spPr>
            <a:xfrm>
              <a:off x="2651760" y="2743200"/>
              <a:ext cx="1755648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Twelve generative and agentic use cases built by the teams.</a:t>
              </a:r>
            </a:p>
          </p:txBody>
        </p:sp>
        <p:sp>
          <p:nvSpPr>
            <p:cNvPr id="834" name="Tag MOMENTUM"/>
            <p:cNvSpPr/>
            <p:nvPr/>
          </p:nvSpPr>
          <p:spPr>
            <a:xfrm>
              <a:off x="2651760" y="3401568"/>
              <a:ext cx="1755648" cy="18288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4A8500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4A8500"/>
                  </a:solidFill>
                  <a:latin typeface="Calibri"/>
                </a:rPr>
                <a:t>MOMENTUM</a:t>
              </a:r>
            </a:p>
          </p:txBody>
        </p:sp>
      </p:grpSp>
      <p:grpSp>
        <p:nvGrpSpPr>
          <p:cNvPr id="4" name="Story step 3"/>
          <p:cNvGrpSpPr/>
          <p:nvPr/>
        </p:nvGrpSpPr>
        <p:grpSpPr>
          <a:xfrm>
            <a:off x="3675888" y="1152144"/>
            <a:ext cx="2926080" cy="2523744"/>
            <a:chOff x="3675888" y="1152144"/>
            <a:chExt cx="2926080" cy="2523744"/>
          </a:xfrm>
        </p:grpSpPr>
        <p:cxnSp>
          <p:nvCxnSpPr>
            <p:cNvPr id="835" name="Story path"/>
            <p:cNvCxnSpPr/>
            <p:nvPr/>
          </p:nvCxnSpPr>
          <p:spPr>
            <a:xfrm>
              <a:off x="3675888" y="1298448"/>
              <a:ext cx="1792224" cy="0"/>
            </a:xfrm>
            <a:prstGeom prst="line">
              <a:avLst/>
            </a:prstGeom>
            <a:ln w="22225">
              <a:solidFill>
                <a:srgbClr val="C8553D"/>
              </a:solidFill>
            </a:ln>
          </p:spPr>
        </p:cxnSp>
        <p:sp>
          <p:nvSpPr>
            <p:cNvPr id="836" name="Step 3 node"/>
            <p:cNvSpPr/>
            <p:nvPr/>
          </p:nvSpPr>
          <p:spPr>
            <a:xfrm>
              <a:off x="5468112" y="1152144"/>
              <a:ext cx="292608" cy="292608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7" name="Step 3 number"/>
            <p:cNvSpPr txBox="1"/>
            <p:nvPr/>
          </p:nvSpPr>
          <p:spPr>
            <a:xfrm>
              <a:off x="5468112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838" name="Step 3 card"/>
            <p:cNvSpPr/>
            <p:nvPr/>
          </p:nvSpPr>
          <p:spPr>
            <a:xfrm>
              <a:off x="4626864" y="1572768"/>
              <a:ext cx="1975104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9" name="Step 3 label"/>
            <p:cNvSpPr txBox="1"/>
            <p:nvPr/>
          </p:nvSpPr>
          <p:spPr>
            <a:xfrm>
              <a:off x="4736592" y="1645920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C8553D"/>
                  </a:solidFill>
                  <a:latin typeface="Calibri"/>
                </a:rPr>
                <a:t>STEP 3  ·  PILOT</a:t>
              </a:r>
            </a:p>
          </p:txBody>
        </p:sp>
        <p:sp>
          <p:nvSpPr>
            <p:cNvPr id="840" name="Step 3 badge badge"/>
            <p:cNvSpPr/>
            <p:nvPr/>
          </p:nvSpPr>
          <p:spPr>
            <a:xfrm>
              <a:off x="4736592" y="1847088"/>
              <a:ext cx="402336" cy="402336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1" name="Step 3 badge icon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176" y="1943648"/>
              <a:ext cx="209214" cy="209214"/>
            </a:xfrm>
            <a:prstGeom prst="rect">
              <a:avLst/>
            </a:prstGeom>
          </p:spPr>
        </p:pic>
        <p:sp>
          <p:nvSpPr>
            <p:cNvPr id="842" name="Step 3 title"/>
            <p:cNvSpPr txBox="1"/>
            <p:nvPr/>
          </p:nvSpPr>
          <p:spPr>
            <a:xfrm>
              <a:off x="4736592" y="2322576"/>
              <a:ext cx="17556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Pilots prove value fast</a:t>
              </a:r>
            </a:p>
          </p:txBody>
        </p:sp>
        <p:sp>
          <p:nvSpPr>
            <p:cNvPr id="843" name="Step 3 desc"/>
            <p:cNvSpPr txBox="1"/>
            <p:nvPr/>
          </p:nvSpPr>
          <p:spPr>
            <a:xfrm>
              <a:off x="4736592" y="2743200"/>
              <a:ext cx="1755648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Direct model calls, shared keys, </a:t>
              </a:r>
              <a:r>
                <a:rPr lang="en-US" sz="900" b="0" i="0" dirty="0">
                  <a:solidFill>
                    <a:srgbClr val="4B5650"/>
                  </a:solidFill>
                  <a:latin typeface="Calibri"/>
                </a:rPr>
                <a:t>no availability, no observability, and </a:t>
              </a:r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no guardrails</a:t>
              </a:r>
              <a:r>
                <a:rPr lang="en-US" sz="900" dirty="0">
                  <a:solidFill>
                    <a:srgbClr val="4B5650"/>
                  </a:solidFill>
                  <a:latin typeface="Calibri"/>
                </a:rPr>
                <a:t>.</a:t>
              </a:r>
              <a:endParaRPr sz="900" b="0" i="0" dirty="0">
                <a:solidFill>
                  <a:srgbClr val="4B5650"/>
                </a:solidFill>
                <a:latin typeface="Calibri"/>
              </a:endParaRPr>
            </a:p>
          </p:txBody>
        </p:sp>
        <p:sp>
          <p:nvSpPr>
            <p:cNvPr id="844" name="Tag HIDDEN RISK"/>
            <p:cNvSpPr/>
            <p:nvPr/>
          </p:nvSpPr>
          <p:spPr>
            <a:xfrm>
              <a:off x="4736592" y="3401568"/>
              <a:ext cx="1755648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HIDDEN RISK</a:t>
              </a:r>
            </a:p>
          </p:txBody>
        </p:sp>
      </p:grpSp>
      <p:grpSp>
        <p:nvGrpSpPr>
          <p:cNvPr id="5" name="Story step 4"/>
          <p:cNvGrpSpPr/>
          <p:nvPr/>
        </p:nvGrpSpPr>
        <p:grpSpPr>
          <a:xfrm>
            <a:off x="5760720" y="1152144"/>
            <a:ext cx="2926080" cy="2523744"/>
            <a:chOff x="5760720" y="1152144"/>
            <a:chExt cx="2926080" cy="2523744"/>
          </a:xfrm>
        </p:grpSpPr>
        <p:cxnSp>
          <p:nvCxnSpPr>
            <p:cNvPr id="845" name="Story path"/>
            <p:cNvCxnSpPr/>
            <p:nvPr/>
          </p:nvCxnSpPr>
          <p:spPr>
            <a:xfrm>
              <a:off x="5760720" y="1298448"/>
              <a:ext cx="1792224" cy="0"/>
            </a:xfrm>
            <a:prstGeom prst="line">
              <a:avLst/>
            </a:prstGeom>
            <a:ln w="22225">
              <a:solidFill>
                <a:srgbClr val="C8553D"/>
              </a:solidFill>
            </a:ln>
          </p:spPr>
        </p:cxnSp>
        <p:sp>
          <p:nvSpPr>
            <p:cNvPr id="846" name="Step 4 node"/>
            <p:cNvSpPr/>
            <p:nvPr/>
          </p:nvSpPr>
          <p:spPr>
            <a:xfrm>
              <a:off x="7552944" y="1152144"/>
              <a:ext cx="292608" cy="292608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7" name="Step 4 number"/>
            <p:cNvSpPr txBox="1"/>
            <p:nvPr/>
          </p:nvSpPr>
          <p:spPr>
            <a:xfrm>
              <a:off x="7552944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848" name="Step 4 card"/>
            <p:cNvSpPr/>
            <p:nvPr/>
          </p:nvSpPr>
          <p:spPr>
            <a:xfrm>
              <a:off x="6711696" y="1572768"/>
              <a:ext cx="1975104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9" name="Step 4 label"/>
            <p:cNvSpPr txBox="1"/>
            <p:nvPr/>
          </p:nvSpPr>
          <p:spPr>
            <a:xfrm>
              <a:off x="6821424" y="1645920"/>
              <a:ext cx="175564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C8553D"/>
                  </a:solidFill>
                  <a:latin typeface="Calibri"/>
                </a:rPr>
                <a:t>STEP 4  ·  PRODUCTION GATE</a:t>
              </a:r>
            </a:p>
          </p:txBody>
        </p:sp>
        <p:sp>
          <p:nvSpPr>
            <p:cNvPr id="850" name="Step 4 badge badge"/>
            <p:cNvSpPr/>
            <p:nvPr/>
          </p:nvSpPr>
          <p:spPr>
            <a:xfrm>
              <a:off x="6821424" y="1847088"/>
              <a:ext cx="402336" cy="402336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1" name="Step 4 badge icon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2008" y="1943648"/>
              <a:ext cx="209214" cy="209214"/>
            </a:xfrm>
            <a:prstGeom prst="rect">
              <a:avLst/>
            </a:prstGeom>
          </p:spPr>
        </p:pic>
        <p:sp>
          <p:nvSpPr>
            <p:cNvPr id="852" name="Step 4 title"/>
            <p:cNvSpPr txBox="1"/>
            <p:nvPr/>
          </p:nvSpPr>
          <p:spPr>
            <a:xfrm>
              <a:off x="6821424" y="2322576"/>
              <a:ext cx="17556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Security and risk say: not yet</a:t>
              </a:r>
            </a:p>
          </p:txBody>
        </p:sp>
        <p:sp>
          <p:nvSpPr>
            <p:cNvPr id="853" name="Step 4 desc"/>
            <p:cNvSpPr txBox="1"/>
            <p:nvPr/>
          </p:nvSpPr>
          <p:spPr>
            <a:xfrm>
              <a:off x="6821424" y="2743200"/>
              <a:ext cx="1755648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Who calls what, with what data, under which controls, at what cost?</a:t>
              </a:r>
            </a:p>
          </p:txBody>
        </p:sp>
        <p:sp>
          <p:nvSpPr>
            <p:cNvPr id="854" name="Tag USE CASES STALL"/>
            <p:cNvSpPr/>
            <p:nvPr/>
          </p:nvSpPr>
          <p:spPr>
            <a:xfrm>
              <a:off x="6821424" y="3401568"/>
              <a:ext cx="1755648" cy="182880"/>
            </a:xfrm>
            <a:prstGeom prst="roundRect">
              <a:avLst>
                <a:gd name="adj" fmla="val 50000"/>
              </a:avLst>
            </a:prstGeom>
            <a:solidFill>
              <a:srgbClr val="C8553D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USE CASES STALL</a:t>
              </a:r>
            </a:p>
          </p:txBody>
        </p:sp>
      </p:grpSp>
      <p:grpSp>
        <p:nvGrpSpPr>
          <p:cNvPr id="7" name="Cost of the gap"/>
          <p:cNvGrpSpPr/>
          <p:nvPr/>
        </p:nvGrpSpPr>
        <p:grpSpPr>
          <a:xfrm>
            <a:off x="457200" y="3785615"/>
            <a:ext cx="8229600" cy="841248"/>
            <a:chOff x="457200" y="3785615"/>
            <a:chExt cx="8229600" cy="841248"/>
          </a:xfrm>
        </p:grpSpPr>
        <p:sp>
          <p:nvSpPr>
            <p:cNvPr id="865" name="Cost band"/>
            <p:cNvSpPr/>
            <p:nvPr/>
          </p:nvSpPr>
          <p:spPr>
            <a:xfrm>
              <a:off x="457200" y="3785615"/>
              <a:ext cx="8229600" cy="841248"/>
            </a:xfrm>
            <a:prstGeom prst="roundRect">
              <a:avLst>
                <a:gd name="adj" fmla="val 6000"/>
              </a:avLst>
            </a:prstGeom>
            <a:solidFill>
              <a:srgbClr val="FBECE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6" name="Label THE COST OF THE GAP TODAY"/>
            <p:cNvSpPr txBox="1"/>
            <p:nvPr/>
          </p:nvSpPr>
          <p:spPr>
            <a:xfrm>
              <a:off x="585216" y="3840480"/>
              <a:ext cx="45720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8553D"/>
                  </a:solidFill>
                  <a:latin typeface="Calibri"/>
                </a:rPr>
                <a:t>THE COST OF THE GAP TODAY</a:t>
              </a:r>
            </a:p>
          </p:txBody>
        </p:sp>
        <p:sp>
          <p:nvSpPr>
            <p:cNvPr id="867" name="Cost $180k"/>
            <p:cNvSpPr txBox="1"/>
            <p:nvPr/>
          </p:nvSpPr>
          <p:spPr>
            <a:xfrm>
              <a:off x="585216" y="3986784"/>
              <a:ext cx="2468880" cy="4389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1" i="0">
                  <a:solidFill>
                    <a:srgbClr val="C8553D"/>
                  </a:solidFill>
                  <a:latin typeface="Calibri"/>
                </a:rPr>
                <a:t>$1.2M</a:t>
              </a:r>
            </a:p>
          </p:txBody>
        </p:sp>
        <p:sp>
          <p:nvSpPr>
            <p:cNvPr id="868" name="Cost $180k label"/>
            <p:cNvSpPr txBox="1"/>
            <p:nvPr/>
          </p:nvSpPr>
          <p:spPr>
            <a:xfrm>
              <a:off x="585216" y="4425696"/>
              <a:ext cx="246888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a month of use-case value on hold</a:t>
              </a:r>
            </a:p>
          </p:txBody>
        </p:sp>
        <p:sp>
          <p:nvSpPr>
            <p:cNvPr id="869" name="Cost 0%"/>
            <p:cNvSpPr txBox="1"/>
            <p:nvPr/>
          </p:nvSpPr>
          <p:spPr>
            <a:xfrm>
              <a:off x="3383280" y="4041648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>
                  <a:solidFill>
                    <a:srgbClr val="C8553D"/>
                  </a:solidFill>
                  <a:latin typeface="Calibri"/>
                </a:rPr>
                <a:t>0%</a:t>
              </a:r>
            </a:p>
          </p:txBody>
        </p:sp>
        <p:sp>
          <p:nvSpPr>
            <p:cNvPr id="870" name="Cost 0% label"/>
            <p:cNvSpPr txBox="1"/>
            <p:nvPr/>
          </p:nvSpPr>
          <p:spPr>
            <a:xfrm>
              <a:off x="3383280" y="4425696"/>
              <a:ext cx="246888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of prompts checked before reaching a model</a:t>
              </a:r>
            </a:p>
          </p:txBody>
        </p:sp>
        <p:sp>
          <p:nvSpPr>
            <p:cNvPr id="871" name="Cost 0%"/>
            <p:cNvSpPr txBox="1"/>
            <p:nvPr/>
          </p:nvSpPr>
          <p:spPr>
            <a:xfrm>
              <a:off x="6035040" y="4041648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>
                  <a:solidFill>
                    <a:srgbClr val="C8553D"/>
                  </a:solidFill>
                  <a:latin typeface="Calibri"/>
                </a:rPr>
                <a:t>0%</a:t>
              </a:r>
            </a:p>
          </p:txBody>
        </p:sp>
        <p:sp>
          <p:nvSpPr>
            <p:cNvPr id="872" name="Cost 0% label"/>
            <p:cNvSpPr txBox="1"/>
            <p:nvPr/>
          </p:nvSpPr>
          <p:spPr>
            <a:xfrm>
              <a:off x="6035040" y="4425696"/>
              <a:ext cx="246888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of tokens owned by a use case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CHALLENGE  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Every use case needs every control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Col Connectivity &amp; traffic"/>
          <p:cNvSpPr txBox="1"/>
          <p:nvPr/>
        </p:nvSpPr>
        <p:spPr>
          <a:xfrm>
            <a:off x="2743200" y="95097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Connectivity &amp; traffic</a:t>
            </a:r>
          </a:p>
        </p:txBody>
      </p:sp>
      <p:sp>
        <p:nvSpPr>
          <p:cNvPr id="817" name="Col Security &amp; identity"/>
          <p:cNvSpPr txBox="1"/>
          <p:nvPr/>
        </p:nvSpPr>
        <p:spPr>
          <a:xfrm>
            <a:off x="3584448" y="95097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Security &amp; identity</a:t>
            </a:r>
          </a:p>
        </p:txBody>
      </p:sp>
      <p:sp>
        <p:nvSpPr>
          <p:cNvPr id="818" name="Col Model output"/>
          <p:cNvSpPr txBox="1"/>
          <p:nvPr/>
        </p:nvSpPr>
        <p:spPr>
          <a:xfrm>
            <a:off x="4425696" y="960230"/>
            <a:ext cx="804672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dirty="0">
                <a:solidFill>
                  <a:srgbClr val="001408"/>
                </a:solidFill>
                <a:latin typeface="Calibri"/>
              </a:rPr>
              <a:t>Model </a:t>
            </a:r>
            <a:br>
              <a:rPr lang="en-US" sz="950" b="1" i="0" dirty="0">
                <a:solidFill>
                  <a:srgbClr val="001408"/>
                </a:solidFill>
                <a:latin typeface="Calibri"/>
              </a:rPr>
            </a:br>
            <a:r>
              <a:rPr sz="950" b="1" i="0" dirty="0">
                <a:solidFill>
                  <a:srgbClr val="001408"/>
                </a:solidFill>
                <a:latin typeface="Calibri"/>
              </a:rPr>
              <a:t>output</a:t>
            </a:r>
          </a:p>
        </p:txBody>
      </p:sp>
      <p:sp>
        <p:nvSpPr>
          <p:cNvPr id="819" name="Col Risk &amp; compliance"/>
          <p:cNvSpPr txBox="1"/>
          <p:nvPr/>
        </p:nvSpPr>
        <p:spPr>
          <a:xfrm>
            <a:off x="5266944" y="95097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Risk &amp; compliance</a:t>
            </a:r>
          </a:p>
        </p:txBody>
      </p:sp>
      <p:sp>
        <p:nvSpPr>
          <p:cNvPr id="820" name="Col Tokenomics"/>
          <p:cNvSpPr txBox="1"/>
          <p:nvPr/>
        </p:nvSpPr>
        <p:spPr>
          <a:xfrm>
            <a:off x="6108192" y="95097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Tokenomics</a:t>
            </a:r>
          </a:p>
        </p:txBody>
      </p:sp>
      <p:sp>
        <p:nvSpPr>
          <p:cNvPr id="821" name="Col Observability"/>
          <p:cNvSpPr txBox="1"/>
          <p:nvPr/>
        </p:nvSpPr>
        <p:spPr>
          <a:xfrm>
            <a:off x="6949440" y="95097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Observability</a:t>
            </a:r>
          </a:p>
        </p:txBody>
      </p:sp>
      <p:sp>
        <p:nvSpPr>
          <p:cNvPr id="822" name="Col status"/>
          <p:cNvSpPr txBox="1"/>
          <p:nvPr/>
        </p:nvSpPr>
        <p:spPr>
          <a:xfrm>
            <a:off x="7845552" y="950976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STATUS</a:t>
            </a:r>
          </a:p>
        </p:txBody>
      </p:sp>
      <p:grpSp>
        <p:nvGrpSpPr>
          <p:cNvPr id="2" name="Block GENERATIVE"/>
          <p:cNvGrpSpPr/>
          <p:nvPr/>
        </p:nvGrpSpPr>
        <p:grpSpPr>
          <a:xfrm>
            <a:off x="457200" y="1298448"/>
            <a:ext cx="8229600" cy="1298448"/>
            <a:chOff x="457200" y="1298448"/>
            <a:chExt cx="8229600" cy="1298448"/>
          </a:xfrm>
        </p:grpSpPr>
        <p:sp>
          <p:nvSpPr>
            <p:cNvPr id="823" name="GENERATIVE block"/>
            <p:cNvSpPr/>
            <p:nvPr/>
          </p:nvSpPr>
          <p:spPr>
            <a:xfrm>
              <a:off x="457200" y="1298448"/>
              <a:ext cx="8229600" cy="129844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4" name="GENERATIVE badge badge"/>
            <p:cNvSpPr/>
            <p:nvPr/>
          </p:nvSpPr>
          <p:spPr>
            <a:xfrm>
              <a:off x="548640" y="1371600"/>
              <a:ext cx="274320" cy="274320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5" name="GENERATIVE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76" y="1437436"/>
              <a:ext cx="142646" cy="142646"/>
            </a:xfrm>
            <a:prstGeom prst="rect">
              <a:avLst/>
            </a:prstGeom>
          </p:spPr>
        </p:pic>
        <p:sp>
          <p:nvSpPr>
            <p:cNvPr id="826" name="GENERATIVE label"/>
            <p:cNvSpPr txBox="1"/>
            <p:nvPr/>
          </p:nvSpPr>
          <p:spPr>
            <a:xfrm>
              <a:off x="877824" y="1362456"/>
              <a:ext cx="18288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GENERATIVE</a:t>
              </a:r>
            </a:p>
          </p:txBody>
        </p:sp>
        <p:sp>
          <p:nvSpPr>
            <p:cNvPr id="827" name="GENERATIVE sub"/>
            <p:cNvSpPr txBox="1"/>
            <p:nvPr/>
          </p:nvSpPr>
          <p:spPr>
            <a:xfrm>
              <a:off x="877824" y="1499616"/>
              <a:ext cx="1828800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50" b="0" i="1">
                  <a:solidFill>
                    <a:srgbClr val="6B7069"/>
                  </a:solidFill>
                  <a:latin typeface="Calibri"/>
                </a:rPr>
                <a:t>LLMs on vLLM, RAG over bank documents</a:t>
              </a:r>
            </a:p>
          </p:txBody>
        </p:sp>
        <p:sp>
          <p:nvSpPr>
            <p:cNvPr id="828" name="UC Arabic customer copilot"/>
            <p:cNvSpPr txBox="1"/>
            <p:nvPr/>
          </p:nvSpPr>
          <p:spPr>
            <a:xfrm>
              <a:off x="877824" y="1645919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Arabic customer copilot</a:t>
              </a:r>
            </a:p>
          </p:txBody>
        </p:sp>
        <p:sp>
          <p:nvSpPr>
            <p:cNvPr id="829" name="Need"/>
            <p:cNvSpPr/>
            <p:nvPr/>
          </p:nvSpPr>
          <p:spPr>
            <a:xfrm>
              <a:off x="3081528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0" name="Need"/>
            <p:cNvSpPr/>
            <p:nvPr/>
          </p:nvSpPr>
          <p:spPr>
            <a:xfrm>
              <a:off x="3922776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1" name="Need"/>
            <p:cNvSpPr/>
            <p:nvPr/>
          </p:nvSpPr>
          <p:spPr>
            <a:xfrm>
              <a:off x="4764024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2" name="Need"/>
            <p:cNvSpPr/>
            <p:nvPr/>
          </p:nvSpPr>
          <p:spPr>
            <a:xfrm>
              <a:off x="5605272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3" name="Need"/>
            <p:cNvSpPr/>
            <p:nvPr/>
          </p:nvSpPr>
          <p:spPr>
            <a:xfrm>
              <a:off x="6446520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4" name="Need"/>
            <p:cNvSpPr/>
            <p:nvPr/>
          </p:nvSpPr>
          <p:spPr>
            <a:xfrm>
              <a:off x="7287768" y="16642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5" name="Pilot tag"/>
            <p:cNvSpPr/>
            <p:nvPr/>
          </p:nvSpPr>
          <p:spPr>
            <a:xfrm>
              <a:off x="7882127" y="1664207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36" name="UC Credit memo drafting"/>
            <p:cNvSpPr txBox="1"/>
            <p:nvPr/>
          </p:nvSpPr>
          <p:spPr>
            <a:xfrm>
              <a:off x="877824" y="1874519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Credit memo drafting</a:t>
              </a:r>
            </a:p>
          </p:txBody>
        </p:sp>
        <p:sp>
          <p:nvSpPr>
            <p:cNvPr id="837" name="Need"/>
            <p:cNvSpPr/>
            <p:nvPr/>
          </p:nvSpPr>
          <p:spPr>
            <a:xfrm>
              <a:off x="3081528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8" name="Need"/>
            <p:cNvSpPr/>
            <p:nvPr/>
          </p:nvSpPr>
          <p:spPr>
            <a:xfrm>
              <a:off x="3922776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9" name="Need"/>
            <p:cNvSpPr/>
            <p:nvPr/>
          </p:nvSpPr>
          <p:spPr>
            <a:xfrm>
              <a:off x="4764024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0" name="Need"/>
            <p:cNvSpPr/>
            <p:nvPr/>
          </p:nvSpPr>
          <p:spPr>
            <a:xfrm>
              <a:off x="5605272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1" name="Need"/>
            <p:cNvSpPr/>
            <p:nvPr/>
          </p:nvSpPr>
          <p:spPr>
            <a:xfrm>
              <a:off x="6446520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2" name="Need"/>
            <p:cNvSpPr/>
            <p:nvPr/>
          </p:nvSpPr>
          <p:spPr>
            <a:xfrm>
              <a:off x="7287768" y="1892807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3" name="Pilot tag"/>
            <p:cNvSpPr/>
            <p:nvPr/>
          </p:nvSpPr>
          <p:spPr>
            <a:xfrm>
              <a:off x="7882127" y="1892807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44" name="UC AML alert summaries"/>
            <p:cNvSpPr txBox="1"/>
            <p:nvPr/>
          </p:nvSpPr>
          <p:spPr>
            <a:xfrm>
              <a:off x="877824" y="21031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AML alert summaries</a:t>
              </a:r>
            </a:p>
          </p:txBody>
        </p:sp>
        <p:sp>
          <p:nvSpPr>
            <p:cNvPr id="845" name="Need"/>
            <p:cNvSpPr/>
            <p:nvPr/>
          </p:nvSpPr>
          <p:spPr>
            <a:xfrm>
              <a:off x="3081528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6" name="Need"/>
            <p:cNvSpPr/>
            <p:nvPr/>
          </p:nvSpPr>
          <p:spPr>
            <a:xfrm>
              <a:off x="3922776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7" name="Need"/>
            <p:cNvSpPr/>
            <p:nvPr/>
          </p:nvSpPr>
          <p:spPr>
            <a:xfrm>
              <a:off x="4764024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8" name="Need"/>
            <p:cNvSpPr/>
            <p:nvPr/>
          </p:nvSpPr>
          <p:spPr>
            <a:xfrm>
              <a:off x="5605272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9" name="Need"/>
            <p:cNvSpPr/>
            <p:nvPr/>
          </p:nvSpPr>
          <p:spPr>
            <a:xfrm>
              <a:off x="6446520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0" name="Need"/>
            <p:cNvSpPr/>
            <p:nvPr/>
          </p:nvSpPr>
          <p:spPr>
            <a:xfrm>
              <a:off x="7287768" y="21214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1" name="Pilot tag"/>
            <p:cNvSpPr/>
            <p:nvPr/>
          </p:nvSpPr>
          <p:spPr>
            <a:xfrm>
              <a:off x="7882127" y="2121408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52" name="UC Knowledge assistant"/>
            <p:cNvSpPr txBox="1"/>
            <p:nvPr/>
          </p:nvSpPr>
          <p:spPr>
            <a:xfrm>
              <a:off x="877824" y="23317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Knowledge assistant</a:t>
              </a:r>
            </a:p>
          </p:txBody>
        </p:sp>
        <p:sp>
          <p:nvSpPr>
            <p:cNvPr id="853" name="Need"/>
            <p:cNvSpPr/>
            <p:nvPr/>
          </p:nvSpPr>
          <p:spPr>
            <a:xfrm>
              <a:off x="3081528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4" name="Need"/>
            <p:cNvSpPr/>
            <p:nvPr/>
          </p:nvSpPr>
          <p:spPr>
            <a:xfrm>
              <a:off x="3922776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Need"/>
            <p:cNvSpPr/>
            <p:nvPr/>
          </p:nvSpPr>
          <p:spPr>
            <a:xfrm>
              <a:off x="4764024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6" name="Need"/>
            <p:cNvSpPr/>
            <p:nvPr/>
          </p:nvSpPr>
          <p:spPr>
            <a:xfrm>
              <a:off x="5605272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7" name="Need"/>
            <p:cNvSpPr/>
            <p:nvPr/>
          </p:nvSpPr>
          <p:spPr>
            <a:xfrm>
              <a:off x="6446520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8" name="Need"/>
            <p:cNvSpPr/>
            <p:nvPr/>
          </p:nvSpPr>
          <p:spPr>
            <a:xfrm>
              <a:off x="7287768" y="2350008"/>
              <a:ext cx="164592" cy="164592"/>
            </a:xfrm>
            <a:prstGeom prst="ellipse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9" name="Pilot tag"/>
            <p:cNvSpPr/>
            <p:nvPr/>
          </p:nvSpPr>
          <p:spPr>
            <a:xfrm>
              <a:off x="7882127" y="2350008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</p:grpSp>
      <p:grpSp>
        <p:nvGrpSpPr>
          <p:cNvPr id="3" name="Block AGENTIC"/>
          <p:cNvGrpSpPr/>
          <p:nvPr/>
        </p:nvGrpSpPr>
        <p:grpSpPr>
          <a:xfrm>
            <a:off x="457200" y="2670048"/>
            <a:ext cx="8229600" cy="1298448"/>
            <a:chOff x="457200" y="2670048"/>
            <a:chExt cx="8229600" cy="1298448"/>
          </a:xfrm>
        </p:grpSpPr>
        <p:sp>
          <p:nvSpPr>
            <p:cNvPr id="860" name="AGENTIC block"/>
            <p:cNvSpPr/>
            <p:nvPr/>
          </p:nvSpPr>
          <p:spPr>
            <a:xfrm>
              <a:off x="457200" y="2670048"/>
              <a:ext cx="8229600" cy="129844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1" name="AGENTIC badge badge"/>
            <p:cNvSpPr/>
            <p:nvPr/>
          </p:nvSpPr>
          <p:spPr>
            <a:xfrm>
              <a:off x="548640" y="2743200"/>
              <a:ext cx="274320" cy="274320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2" name="AGENTIC badge icon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476" y="2809036"/>
              <a:ext cx="142646" cy="142646"/>
            </a:xfrm>
            <a:prstGeom prst="rect">
              <a:avLst/>
            </a:prstGeom>
          </p:spPr>
        </p:pic>
        <p:sp>
          <p:nvSpPr>
            <p:cNvPr id="863" name="AGENTIC label"/>
            <p:cNvSpPr txBox="1"/>
            <p:nvPr/>
          </p:nvSpPr>
          <p:spPr>
            <a:xfrm>
              <a:off x="877824" y="2734056"/>
              <a:ext cx="18288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001408"/>
                  </a:solidFill>
                  <a:latin typeface="Calibri"/>
                </a:rPr>
                <a:t>AGENTIC</a:t>
              </a:r>
            </a:p>
          </p:txBody>
        </p:sp>
        <p:sp>
          <p:nvSpPr>
            <p:cNvPr id="864" name="AGENTIC sub"/>
            <p:cNvSpPr txBox="1"/>
            <p:nvPr/>
          </p:nvSpPr>
          <p:spPr>
            <a:xfrm>
              <a:off x="877824" y="2871216"/>
              <a:ext cx="1828800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50" b="0" i="1">
                  <a:solidFill>
                    <a:srgbClr val="6B7069"/>
                  </a:solidFill>
                  <a:latin typeface="Calibri"/>
                </a:rPr>
                <a:t>agents calling models, tools and other agents</a:t>
              </a:r>
            </a:p>
          </p:txBody>
        </p:sp>
        <p:sp>
          <p:nvSpPr>
            <p:cNvPr id="865" name="UC Card-ops agent"/>
            <p:cNvSpPr txBox="1"/>
            <p:nvPr/>
          </p:nvSpPr>
          <p:spPr>
            <a:xfrm>
              <a:off x="877824" y="30175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Card-ops agent</a:t>
              </a:r>
            </a:p>
          </p:txBody>
        </p:sp>
        <p:sp>
          <p:nvSpPr>
            <p:cNvPr id="866" name="Need"/>
            <p:cNvSpPr/>
            <p:nvPr/>
          </p:nvSpPr>
          <p:spPr>
            <a:xfrm>
              <a:off x="3081528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7" name="Need"/>
            <p:cNvSpPr/>
            <p:nvPr/>
          </p:nvSpPr>
          <p:spPr>
            <a:xfrm>
              <a:off x="3922776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8" name="Need"/>
            <p:cNvSpPr/>
            <p:nvPr/>
          </p:nvSpPr>
          <p:spPr>
            <a:xfrm>
              <a:off x="4764024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9" name="Need"/>
            <p:cNvSpPr/>
            <p:nvPr/>
          </p:nvSpPr>
          <p:spPr>
            <a:xfrm>
              <a:off x="5605272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0" name="Need"/>
            <p:cNvSpPr/>
            <p:nvPr/>
          </p:nvSpPr>
          <p:spPr>
            <a:xfrm>
              <a:off x="6446520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1" name="Need"/>
            <p:cNvSpPr/>
            <p:nvPr/>
          </p:nvSpPr>
          <p:spPr>
            <a:xfrm>
              <a:off x="7287768" y="30358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2" name="Pilot tag"/>
            <p:cNvSpPr/>
            <p:nvPr/>
          </p:nvSpPr>
          <p:spPr>
            <a:xfrm>
              <a:off x="7882127" y="3035808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73" name="UC KYC onboarding agent"/>
            <p:cNvSpPr txBox="1"/>
            <p:nvPr/>
          </p:nvSpPr>
          <p:spPr>
            <a:xfrm>
              <a:off x="877824" y="32461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KYC onboarding agent</a:t>
              </a:r>
            </a:p>
          </p:txBody>
        </p:sp>
        <p:sp>
          <p:nvSpPr>
            <p:cNvPr id="874" name="Need"/>
            <p:cNvSpPr/>
            <p:nvPr/>
          </p:nvSpPr>
          <p:spPr>
            <a:xfrm>
              <a:off x="3081528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5" name="Need"/>
            <p:cNvSpPr/>
            <p:nvPr/>
          </p:nvSpPr>
          <p:spPr>
            <a:xfrm>
              <a:off x="3922776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6" name="Need"/>
            <p:cNvSpPr/>
            <p:nvPr/>
          </p:nvSpPr>
          <p:spPr>
            <a:xfrm>
              <a:off x="4764024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7" name="Need"/>
            <p:cNvSpPr/>
            <p:nvPr/>
          </p:nvSpPr>
          <p:spPr>
            <a:xfrm>
              <a:off x="5605272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8" name="Need"/>
            <p:cNvSpPr/>
            <p:nvPr/>
          </p:nvSpPr>
          <p:spPr>
            <a:xfrm>
              <a:off x="6446520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9" name="Need"/>
            <p:cNvSpPr/>
            <p:nvPr/>
          </p:nvSpPr>
          <p:spPr>
            <a:xfrm>
              <a:off x="7287768" y="32644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0" name="Pilot tag"/>
            <p:cNvSpPr/>
            <p:nvPr/>
          </p:nvSpPr>
          <p:spPr>
            <a:xfrm>
              <a:off x="7882127" y="3264408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81" name="UC Collections agent"/>
            <p:cNvSpPr txBox="1"/>
            <p:nvPr/>
          </p:nvSpPr>
          <p:spPr>
            <a:xfrm>
              <a:off x="877824" y="34747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Collections agent</a:t>
              </a:r>
            </a:p>
          </p:txBody>
        </p:sp>
        <p:sp>
          <p:nvSpPr>
            <p:cNvPr id="882" name="Need"/>
            <p:cNvSpPr/>
            <p:nvPr/>
          </p:nvSpPr>
          <p:spPr>
            <a:xfrm>
              <a:off x="3081528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3" name="Need"/>
            <p:cNvSpPr/>
            <p:nvPr/>
          </p:nvSpPr>
          <p:spPr>
            <a:xfrm>
              <a:off x="3922776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4" name="Need"/>
            <p:cNvSpPr/>
            <p:nvPr/>
          </p:nvSpPr>
          <p:spPr>
            <a:xfrm>
              <a:off x="4764024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5" name="Need"/>
            <p:cNvSpPr/>
            <p:nvPr/>
          </p:nvSpPr>
          <p:spPr>
            <a:xfrm>
              <a:off x="5605272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6" name="Need"/>
            <p:cNvSpPr/>
            <p:nvPr/>
          </p:nvSpPr>
          <p:spPr>
            <a:xfrm>
              <a:off x="6446520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7" name="Need"/>
            <p:cNvSpPr/>
            <p:nvPr/>
          </p:nvSpPr>
          <p:spPr>
            <a:xfrm>
              <a:off x="7287768" y="3493008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8" name="Pilot tag"/>
            <p:cNvSpPr/>
            <p:nvPr/>
          </p:nvSpPr>
          <p:spPr>
            <a:xfrm>
              <a:off x="7882127" y="3493008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  <p:sp>
          <p:nvSpPr>
            <p:cNvPr id="889" name="UC Complaints triage agent"/>
            <p:cNvSpPr txBox="1"/>
            <p:nvPr/>
          </p:nvSpPr>
          <p:spPr>
            <a:xfrm>
              <a:off x="877824" y="3703320"/>
              <a:ext cx="1828800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0" i="0">
                  <a:solidFill>
                    <a:srgbClr val="001408"/>
                  </a:solidFill>
                  <a:latin typeface="Calibri"/>
                </a:rPr>
                <a:t>Complaints triage agent</a:t>
              </a:r>
            </a:p>
          </p:txBody>
        </p:sp>
        <p:sp>
          <p:nvSpPr>
            <p:cNvPr id="890" name="Need"/>
            <p:cNvSpPr/>
            <p:nvPr/>
          </p:nvSpPr>
          <p:spPr>
            <a:xfrm>
              <a:off x="3081528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1" name="Need"/>
            <p:cNvSpPr/>
            <p:nvPr/>
          </p:nvSpPr>
          <p:spPr>
            <a:xfrm>
              <a:off x="3922776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2" name="Need"/>
            <p:cNvSpPr/>
            <p:nvPr/>
          </p:nvSpPr>
          <p:spPr>
            <a:xfrm>
              <a:off x="4764024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3" name="Need"/>
            <p:cNvSpPr/>
            <p:nvPr/>
          </p:nvSpPr>
          <p:spPr>
            <a:xfrm>
              <a:off x="5605272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4" name="Need"/>
            <p:cNvSpPr/>
            <p:nvPr/>
          </p:nvSpPr>
          <p:spPr>
            <a:xfrm>
              <a:off x="6446520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5" name="Need"/>
            <p:cNvSpPr/>
            <p:nvPr/>
          </p:nvSpPr>
          <p:spPr>
            <a:xfrm>
              <a:off x="7287768" y="3721607"/>
              <a:ext cx="164592" cy="164592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6" name="Pilot tag"/>
            <p:cNvSpPr/>
            <p:nvPr/>
          </p:nvSpPr>
          <p:spPr>
            <a:xfrm>
              <a:off x="7882127" y="3721607"/>
              <a:ext cx="768096" cy="173736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PILOT</a:t>
              </a:r>
            </a:p>
          </p:txBody>
        </p:sp>
      </p:grpSp>
      <p:grpSp>
        <p:nvGrpSpPr>
          <p:cNvPr id="4" name="Challenge takeaway"/>
          <p:cNvGrpSpPr/>
          <p:nvPr/>
        </p:nvGrpSpPr>
        <p:grpSpPr>
          <a:xfrm>
            <a:off x="457200" y="4078224"/>
            <a:ext cx="8229600" cy="457200"/>
            <a:chOff x="457200" y="4078224"/>
            <a:chExt cx="8229600" cy="457200"/>
          </a:xfrm>
        </p:grpSpPr>
        <p:sp>
          <p:nvSpPr>
            <p:cNvPr id="897" name="Takeaway band"/>
            <p:cNvSpPr/>
            <p:nvPr/>
          </p:nvSpPr>
          <p:spPr>
            <a:xfrm>
              <a:off x="457200" y="4078224"/>
              <a:ext cx="8229600" cy="457200"/>
            </a:xfrm>
            <a:prstGeom prst="roundRect">
              <a:avLst>
                <a:gd name="adj" fmla="val 8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8" name="Takeaway"/>
            <p:cNvSpPr txBox="1"/>
            <p:nvPr/>
          </p:nvSpPr>
          <p:spPr>
            <a:xfrm>
              <a:off x="621792" y="4078224"/>
              <a:ext cx="786384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12 use cases × 6 control areas: 72 controls rebuilt team by team.  </a:t>
              </a:r>
              <a:r>
                <a:rPr sz="1200" b="1" i="0">
                  <a:solidFill>
                    <a:srgbClr val="CCFF00"/>
                  </a:solidFill>
                  <a:latin typeface="Calibri"/>
                </a:rPr>
                <a:t>Or built once, in one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17607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REQUIREMENTS  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What production means for each of you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grpSp>
        <p:nvGrpSpPr>
          <p:cNvPr id="2" name="Persona CIO"/>
          <p:cNvGrpSpPr/>
          <p:nvPr/>
        </p:nvGrpSpPr>
        <p:grpSpPr>
          <a:xfrm>
            <a:off x="457200" y="950976"/>
            <a:ext cx="2651760" cy="3694176"/>
            <a:chOff x="457200" y="950976"/>
            <a:chExt cx="2651760" cy="3694176"/>
          </a:xfrm>
        </p:grpSpPr>
        <p:sp>
          <p:nvSpPr>
            <p:cNvPr id="816" name="CIO card"/>
            <p:cNvSpPr/>
            <p:nvPr/>
          </p:nvSpPr>
          <p:spPr>
            <a:xfrm>
              <a:off x="457200" y="950976"/>
              <a:ext cx="2651760" cy="36941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CIO header"/>
            <p:cNvSpPr/>
            <p:nvPr/>
          </p:nvSpPr>
          <p:spPr>
            <a:xfrm>
              <a:off x="45720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CIO badge badge"/>
            <p:cNvSpPr/>
            <p:nvPr/>
          </p:nvSpPr>
          <p:spPr>
            <a:xfrm>
              <a:off x="56692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9" name="CIO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321" y="1134953"/>
              <a:ext cx="180685" cy="180685"/>
            </a:xfrm>
            <a:prstGeom prst="rect">
              <a:avLst/>
            </a:prstGeom>
          </p:spPr>
        </p:pic>
        <p:sp>
          <p:nvSpPr>
            <p:cNvPr id="820" name="CIO role"/>
            <p:cNvSpPr txBox="1"/>
            <p:nvPr/>
          </p:nvSpPr>
          <p:spPr>
            <a:xfrm>
              <a:off x="1005840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CIO</a:t>
              </a:r>
            </a:p>
          </p:txBody>
        </p:sp>
        <p:sp>
          <p:nvSpPr>
            <p:cNvPr id="821" name="CIO tag"/>
            <p:cNvSpPr txBox="1"/>
            <p:nvPr/>
          </p:nvSpPr>
          <p:spPr>
            <a:xfrm>
              <a:off x="1005840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SECURITY · RISK · ROI</a:t>
              </a:r>
            </a:p>
          </p:txBody>
        </p:sp>
        <p:sp>
          <p:nvSpPr>
            <p:cNvPr id="822" name="CIO quote"/>
            <p:cNvSpPr txBox="1"/>
            <p:nvPr/>
          </p:nvSpPr>
          <p:spPr>
            <a:xfrm>
              <a:off x="585216" y="1572768"/>
              <a:ext cx="2395728" cy="4754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“We’ve proven AI works. Now it must be secure, auditable and pay back.”</a:t>
              </a:r>
            </a:p>
          </p:txBody>
        </p:sp>
        <p:sp>
          <p:nvSpPr>
            <p:cNvPr id="823" name="Label MUST BE TRUE FOR PRODUCTION"/>
            <p:cNvSpPr txBox="1"/>
            <p:nvPr/>
          </p:nvSpPr>
          <p:spPr>
            <a:xfrm>
              <a:off x="585216" y="2103120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MUST BE TRUE FOR PRODUCTION</a:t>
              </a:r>
            </a:p>
          </p:txBody>
        </p:sp>
        <p:pic>
          <p:nvPicPr>
            <p:cNvPr id="824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304288"/>
              <a:ext cx="146304" cy="146304"/>
            </a:xfrm>
            <a:prstGeom prst="rect">
              <a:avLst/>
            </a:prstGeom>
          </p:spPr>
        </p:pic>
        <p:sp>
          <p:nvSpPr>
            <p:cNvPr id="825" name="CIO req 1"/>
            <p:cNvSpPr txBox="1"/>
            <p:nvPr/>
          </p:nvSpPr>
          <p:spPr>
            <a:xfrm>
              <a:off x="804672" y="2276856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No customer data exposed to any model</a:t>
              </a:r>
            </a:p>
          </p:txBody>
        </p:sp>
        <p:pic>
          <p:nvPicPr>
            <p:cNvPr id="826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633472"/>
              <a:ext cx="146304" cy="146304"/>
            </a:xfrm>
            <a:prstGeom prst="rect">
              <a:avLst/>
            </a:prstGeom>
          </p:spPr>
        </p:pic>
        <p:sp>
          <p:nvSpPr>
            <p:cNvPr id="827" name="CIO req 2"/>
            <p:cNvSpPr txBox="1"/>
            <p:nvPr/>
          </p:nvSpPr>
          <p:spPr>
            <a:xfrm>
              <a:off x="804672" y="2606040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Every AI call audited and visible to the SOC</a:t>
              </a:r>
            </a:p>
          </p:txBody>
        </p:sp>
        <p:pic>
          <p:nvPicPr>
            <p:cNvPr id="828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962656"/>
              <a:ext cx="146304" cy="146304"/>
            </a:xfrm>
            <a:prstGeom prst="rect">
              <a:avLst/>
            </a:prstGeom>
          </p:spPr>
        </p:pic>
        <p:sp>
          <p:nvSpPr>
            <p:cNvPr id="829" name="CIO req 3"/>
            <p:cNvSpPr txBox="1"/>
            <p:nvPr/>
          </p:nvSpPr>
          <p:spPr>
            <a:xfrm>
              <a:off x="804672" y="2935224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TCO, ROI and use-case KPIs measurable</a:t>
              </a:r>
            </a:p>
          </p:txBody>
        </p:sp>
        <p:cxnSp>
          <p:nvCxnSpPr>
            <p:cNvPr id="830" name="CIO divider"/>
            <p:cNvCxnSpPr/>
            <p:nvPr/>
          </p:nvCxnSpPr>
          <p:spPr>
            <a:xfrm>
              <a:off x="585216" y="3291840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31" name="Label MEASURED BY  ·  TARGET"/>
            <p:cNvSpPr txBox="1"/>
            <p:nvPr/>
          </p:nvSpPr>
          <p:spPr>
            <a:xfrm>
              <a:off x="585216" y="3346704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MEASURED BY  ·  TARGET</a:t>
              </a:r>
            </a:p>
          </p:txBody>
        </p:sp>
        <p:sp>
          <p:nvSpPr>
            <p:cNvPr id="832" name="CIO kpi 1"/>
            <p:cNvSpPr txBox="1"/>
            <p:nvPr/>
          </p:nvSpPr>
          <p:spPr>
            <a:xfrm>
              <a:off x="585216" y="3529584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PII reaching a model in clear</a:t>
              </a:r>
            </a:p>
          </p:txBody>
        </p:sp>
        <p:sp>
          <p:nvSpPr>
            <p:cNvPr id="833" name="CIO kpi 1 value"/>
            <p:cNvSpPr txBox="1"/>
            <p:nvPr/>
          </p:nvSpPr>
          <p:spPr>
            <a:xfrm>
              <a:off x="2157984" y="3529584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834" name="CIO kpi 2"/>
            <p:cNvSpPr txBox="1"/>
            <p:nvPr/>
          </p:nvSpPr>
          <p:spPr>
            <a:xfrm>
              <a:off x="585216" y="3767328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AI calls audited</a:t>
              </a:r>
            </a:p>
          </p:txBody>
        </p:sp>
        <p:sp>
          <p:nvSpPr>
            <p:cNvPr id="835" name="CIO kpi 2 value"/>
            <p:cNvSpPr txBox="1"/>
            <p:nvPr/>
          </p:nvSpPr>
          <p:spPr>
            <a:xfrm>
              <a:off x="2157984" y="3767328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36" name="CIO kpi 3"/>
            <p:cNvSpPr txBox="1"/>
            <p:nvPr/>
          </p:nvSpPr>
          <p:spPr>
            <a:xfrm>
              <a:off x="585216" y="4005072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Token cost per use case</a:t>
              </a:r>
            </a:p>
          </p:txBody>
        </p:sp>
        <p:sp>
          <p:nvSpPr>
            <p:cNvPr id="837" name="CIO kpi 3 value"/>
            <p:cNvSpPr txBox="1"/>
            <p:nvPr/>
          </p:nvSpPr>
          <p:spPr>
            <a:xfrm>
              <a:off x="2157984" y="4005072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Tracked</a:t>
              </a:r>
            </a:p>
          </p:txBody>
        </p:sp>
        <p:cxnSp>
          <p:nvCxnSpPr>
            <p:cNvPr id="838" name="CIO divider 2"/>
            <p:cNvCxnSpPr/>
            <p:nvPr/>
          </p:nvCxnSpPr>
          <p:spPr>
            <a:xfrm>
              <a:off x="585216" y="4279392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39" name="Label WHAT IT UNLOCKS"/>
            <p:cNvSpPr txBox="1"/>
            <p:nvPr/>
          </p:nvSpPr>
          <p:spPr>
            <a:xfrm>
              <a:off x="585216" y="4325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WHAT IT UNLOCKS</a:t>
              </a:r>
            </a:p>
          </p:txBody>
        </p:sp>
        <p:sp>
          <p:nvSpPr>
            <p:cNvPr id="840" name="CIO value"/>
            <p:cNvSpPr txBox="1"/>
            <p:nvPr/>
          </p:nvSpPr>
          <p:spPr>
            <a:xfrm>
              <a:off x="585216" y="4462272"/>
              <a:ext cx="23957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Use cases live, with ROI proven</a:t>
              </a:r>
            </a:p>
          </p:txBody>
        </p:sp>
      </p:grpSp>
      <p:grpSp>
        <p:nvGrpSpPr>
          <p:cNvPr id="3" name="Persona AI Platform Owner"/>
          <p:cNvGrpSpPr/>
          <p:nvPr/>
        </p:nvGrpSpPr>
        <p:grpSpPr>
          <a:xfrm>
            <a:off x="3246120" y="950976"/>
            <a:ext cx="2651760" cy="3694176"/>
            <a:chOff x="3246120" y="950976"/>
            <a:chExt cx="2651760" cy="3694176"/>
          </a:xfrm>
        </p:grpSpPr>
        <p:sp>
          <p:nvSpPr>
            <p:cNvPr id="841" name="AI Platform Owner card"/>
            <p:cNvSpPr/>
            <p:nvPr/>
          </p:nvSpPr>
          <p:spPr>
            <a:xfrm>
              <a:off x="3246120" y="950976"/>
              <a:ext cx="2651760" cy="36941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2" name="AI Platform Owner header"/>
            <p:cNvSpPr/>
            <p:nvPr/>
          </p:nvSpPr>
          <p:spPr>
            <a:xfrm>
              <a:off x="324612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3" name="AI Platform Owner badge badge"/>
            <p:cNvSpPr/>
            <p:nvPr/>
          </p:nvSpPr>
          <p:spPr>
            <a:xfrm>
              <a:off x="335584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4" name="AI Platform Owner badge icon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9241" y="1134953"/>
              <a:ext cx="180685" cy="180685"/>
            </a:xfrm>
            <a:prstGeom prst="rect">
              <a:avLst/>
            </a:prstGeom>
          </p:spPr>
        </p:pic>
        <p:sp>
          <p:nvSpPr>
            <p:cNvPr id="845" name="AI Platform Owner role"/>
            <p:cNvSpPr txBox="1"/>
            <p:nvPr/>
          </p:nvSpPr>
          <p:spPr>
            <a:xfrm>
              <a:off x="3794759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AI Platform Owner</a:t>
              </a:r>
            </a:p>
          </p:txBody>
        </p:sp>
        <p:sp>
          <p:nvSpPr>
            <p:cNvPr id="846" name="AI Platform Owner tag"/>
            <p:cNvSpPr txBox="1"/>
            <p:nvPr/>
          </p:nvSpPr>
          <p:spPr>
            <a:xfrm>
              <a:off x="3794759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MODELS · TRAFFIC · TOKENOMICS</a:t>
              </a:r>
            </a:p>
          </p:txBody>
        </p:sp>
        <p:sp>
          <p:nvSpPr>
            <p:cNvPr id="847" name="AI Platform Owner quote"/>
            <p:cNvSpPr txBox="1"/>
            <p:nvPr/>
          </p:nvSpPr>
          <p:spPr>
            <a:xfrm>
              <a:off x="3374136" y="1572768"/>
              <a:ext cx="2395728" cy="4754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“Every team wires models differently, and tokens are a cost nobody owns.”</a:t>
              </a:r>
            </a:p>
          </p:txBody>
        </p:sp>
        <p:sp>
          <p:nvSpPr>
            <p:cNvPr id="848" name="Label MUST BE TRUE FOR PRODUCTION"/>
            <p:cNvSpPr txBox="1"/>
            <p:nvPr/>
          </p:nvSpPr>
          <p:spPr>
            <a:xfrm>
              <a:off x="3374136" y="2103120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MUST BE TRUE FOR PRODUCTION</a:t>
              </a:r>
            </a:p>
          </p:txBody>
        </p:sp>
        <p:pic>
          <p:nvPicPr>
            <p:cNvPr id="849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304288"/>
              <a:ext cx="146304" cy="146304"/>
            </a:xfrm>
            <a:prstGeom prst="rect">
              <a:avLst/>
            </a:prstGeom>
          </p:spPr>
        </p:pic>
        <p:sp>
          <p:nvSpPr>
            <p:cNvPr id="850" name="AI Platform Owner req 1"/>
            <p:cNvSpPr txBox="1"/>
            <p:nvPr/>
          </p:nvSpPr>
          <p:spPr>
            <a:xfrm>
              <a:off x="3593591" y="2276856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Every model behind one governed endpoint</a:t>
              </a:r>
            </a:p>
          </p:txBody>
        </p:sp>
        <p:pic>
          <p:nvPicPr>
            <p:cNvPr id="851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633472"/>
              <a:ext cx="146304" cy="146304"/>
            </a:xfrm>
            <a:prstGeom prst="rect">
              <a:avLst/>
            </a:prstGeom>
          </p:spPr>
        </p:pic>
        <p:sp>
          <p:nvSpPr>
            <p:cNvPr id="852" name="AI Platform Owner req 2"/>
            <p:cNvSpPr txBox="1"/>
            <p:nvPr/>
          </p:nvSpPr>
          <p:spPr>
            <a:xfrm>
              <a:off x="3593591" y="2606040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Traffic routed by load, cost and meaning</a:t>
              </a:r>
            </a:p>
          </p:txBody>
        </p:sp>
        <p:pic>
          <p:nvPicPr>
            <p:cNvPr id="853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962656"/>
              <a:ext cx="146304" cy="146304"/>
            </a:xfrm>
            <a:prstGeom prst="rect">
              <a:avLst/>
            </a:prstGeom>
          </p:spPr>
        </p:pic>
        <p:sp>
          <p:nvSpPr>
            <p:cNvPr id="854" name="AI Platform Owner req 3"/>
            <p:cNvSpPr txBox="1"/>
            <p:nvPr/>
          </p:nvSpPr>
          <p:spPr>
            <a:xfrm>
              <a:off x="3593591" y="2935224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Token budgets per team; repeats from cache</a:t>
              </a:r>
            </a:p>
          </p:txBody>
        </p:sp>
        <p:cxnSp>
          <p:nvCxnSpPr>
            <p:cNvPr id="855" name="AI Platform Owner divider"/>
            <p:cNvCxnSpPr/>
            <p:nvPr/>
          </p:nvCxnSpPr>
          <p:spPr>
            <a:xfrm>
              <a:off x="3374136" y="3291840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56" name="Label MEASURED BY  ·  TARGET"/>
            <p:cNvSpPr txBox="1"/>
            <p:nvPr/>
          </p:nvSpPr>
          <p:spPr>
            <a:xfrm>
              <a:off x="3374136" y="3346704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MEASURED BY  ·  TARGET</a:t>
              </a:r>
            </a:p>
          </p:txBody>
        </p:sp>
        <p:sp>
          <p:nvSpPr>
            <p:cNvPr id="857" name="AI Platform Owner kpi 1"/>
            <p:cNvSpPr txBox="1"/>
            <p:nvPr/>
          </p:nvSpPr>
          <p:spPr>
            <a:xfrm>
              <a:off x="3374136" y="3529584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Models behind governed endpoints</a:t>
              </a:r>
            </a:p>
          </p:txBody>
        </p:sp>
        <p:sp>
          <p:nvSpPr>
            <p:cNvPr id="858" name="AI Platform Owner kpi 1 value"/>
            <p:cNvSpPr txBox="1"/>
            <p:nvPr/>
          </p:nvSpPr>
          <p:spPr>
            <a:xfrm>
              <a:off x="4946904" y="3529584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59" name="AI Platform Owner kpi 2"/>
            <p:cNvSpPr txBox="1"/>
            <p:nvPr/>
          </p:nvSpPr>
          <p:spPr>
            <a:xfrm>
              <a:off x="3374136" y="3767328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Tokens attributed per team</a:t>
              </a:r>
            </a:p>
          </p:txBody>
        </p:sp>
        <p:sp>
          <p:nvSpPr>
            <p:cNvPr id="860" name="AI Platform Owner kpi 2 value"/>
            <p:cNvSpPr txBox="1"/>
            <p:nvPr/>
          </p:nvSpPr>
          <p:spPr>
            <a:xfrm>
              <a:off x="4946904" y="3767328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61" name="AI Platform Owner kpi 3"/>
            <p:cNvSpPr txBox="1"/>
            <p:nvPr/>
          </p:nvSpPr>
          <p:spPr>
            <a:xfrm>
              <a:off x="3374136" y="4005072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Repeat prompts from cache</a:t>
              </a:r>
            </a:p>
          </p:txBody>
        </p:sp>
        <p:sp>
          <p:nvSpPr>
            <p:cNvPr id="862" name="AI Platform Owner kpi 3 value"/>
            <p:cNvSpPr txBox="1"/>
            <p:nvPr/>
          </p:nvSpPr>
          <p:spPr>
            <a:xfrm>
              <a:off x="4946904" y="4005072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~15%</a:t>
              </a:r>
            </a:p>
          </p:txBody>
        </p:sp>
        <p:cxnSp>
          <p:nvCxnSpPr>
            <p:cNvPr id="863" name="AI Platform Owner divider 2"/>
            <p:cNvCxnSpPr/>
            <p:nvPr/>
          </p:nvCxnSpPr>
          <p:spPr>
            <a:xfrm>
              <a:off x="3374136" y="4279392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64" name="Label WHAT IT UNLOCKS"/>
            <p:cNvSpPr txBox="1"/>
            <p:nvPr/>
          </p:nvSpPr>
          <p:spPr>
            <a:xfrm>
              <a:off x="3374136" y="4325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WHAT IT UNLOCKS</a:t>
              </a:r>
            </a:p>
          </p:txBody>
        </p:sp>
        <p:sp>
          <p:nvSpPr>
            <p:cNvPr id="865" name="AI Platform Owner value"/>
            <p:cNvSpPr txBox="1"/>
            <p:nvPr/>
          </p:nvSpPr>
          <p:spPr>
            <a:xfrm>
              <a:off x="3374136" y="4462272"/>
              <a:ext cx="23957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AI factory capacity freed for new use cases</a:t>
              </a:r>
            </a:p>
          </p:txBody>
        </p:sp>
      </p:grpSp>
      <p:grpSp>
        <p:nvGrpSpPr>
          <p:cNvPr id="4" name="Persona Lead Architect"/>
          <p:cNvGrpSpPr/>
          <p:nvPr/>
        </p:nvGrpSpPr>
        <p:grpSpPr>
          <a:xfrm>
            <a:off x="6035040" y="950976"/>
            <a:ext cx="2651760" cy="3694176"/>
            <a:chOff x="6035040" y="950976"/>
            <a:chExt cx="2651760" cy="3694176"/>
          </a:xfrm>
        </p:grpSpPr>
        <p:sp>
          <p:nvSpPr>
            <p:cNvPr id="866" name="Lead Architect card"/>
            <p:cNvSpPr/>
            <p:nvPr/>
          </p:nvSpPr>
          <p:spPr>
            <a:xfrm>
              <a:off x="6035040" y="950976"/>
              <a:ext cx="2651760" cy="36941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7" name="Lead Architect header"/>
            <p:cNvSpPr/>
            <p:nvPr/>
          </p:nvSpPr>
          <p:spPr>
            <a:xfrm>
              <a:off x="603504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8" name="Lead Architect badge badge"/>
            <p:cNvSpPr/>
            <p:nvPr/>
          </p:nvSpPr>
          <p:spPr>
            <a:xfrm>
              <a:off x="614476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9" name="Lead Architect badge icon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8161" y="1134953"/>
              <a:ext cx="180685" cy="180685"/>
            </a:xfrm>
            <a:prstGeom prst="rect">
              <a:avLst/>
            </a:prstGeom>
          </p:spPr>
        </p:pic>
        <p:sp>
          <p:nvSpPr>
            <p:cNvPr id="870" name="Lead Architect role"/>
            <p:cNvSpPr txBox="1"/>
            <p:nvPr/>
          </p:nvSpPr>
          <p:spPr>
            <a:xfrm>
              <a:off x="6583679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Lead Architect</a:t>
              </a:r>
            </a:p>
          </p:txBody>
        </p:sp>
        <p:sp>
          <p:nvSpPr>
            <p:cNvPr id="871" name="Lead Architect tag"/>
            <p:cNvSpPr txBox="1"/>
            <p:nvPr/>
          </p:nvSpPr>
          <p:spPr>
            <a:xfrm>
              <a:off x="6583679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INTEGRATION · SCALE · CONTINUITY</a:t>
              </a:r>
            </a:p>
          </p:txBody>
        </p:sp>
        <p:sp>
          <p:nvSpPr>
            <p:cNvPr id="872" name="Lead Architect quote"/>
            <p:cNvSpPr txBox="1"/>
            <p:nvPr/>
          </p:nvSpPr>
          <p:spPr>
            <a:xfrm>
              <a:off x="6163055" y="1572768"/>
              <a:ext cx="2395728" cy="4754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“It has to run on our platform, scale with demand and never be a single point of failure.”</a:t>
              </a:r>
            </a:p>
          </p:txBody>
        </p:sp>
        <p:sp>
          <p:nvSpPr>
            <p:cNvPr id="873" name="Label MUST BE TRUE FOR PRODUCTION"/>
            <p:cNvSpPr txBox="1"/>
            <p:nvPr/>
          </p:nvSpPr>
          <p:spPr>
            <a:xfrm>
              <a:off x="6163055" y="2103120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MUST BE TRUE FOR PRODUCTION</a:t>
              </a:r>
            </a:p>
          </p:txBody>
        </p:sp>
        <p:pic>
          <p:nvPicPr>
            <p:cNvPr id="874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304288"/>
              <a:ext cx="146304" cy="146304"/>
            </a:xfrm>
            <a:prstGeom prst="rect">
              <a:avLst/>
            </a:prstGeom>
          </p:spPr>
        </p:pic>
        <p:sp>
          <p:nvSpPr>
            <p:cNvPr id="875" name="Lead Architect req 1"/>
            <p:cNvSpPr txBox="1"/>
            <p:nvPr/>
          </p:nvSpPr>
          <p:spPr>
            <a:xfrm>
              <a:off x="6382512" y="2276856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Native fit: Kubernetes, IdP, secrets, SIEM</a:t>
              </a:r>
            </a:p>
          </p:txBody>
        </p:sp>
        <p:pic>
          <p:nvPicPr>
            <p:cNvPr id="876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633472"/>
              <a:ext cx="146304" cy="146304"/>
            </a:xfrm>
            <a:prstGeom prst="rect">
              <a:avLst/>
            </a:prstGeom>
          </p:spPr>
        </p:pic>
        <p:sp>
          <p:nvSpPr>
            <p:cNvPr id="877" name="Lead Architect req 2"/>
            <p:cNvSpPr txBox="1"/>
            <p:nvPr/>
          </p:nvSpPr>
          <p:spPr>
            <a:xfrm>
              <a:off x="6382512" y="2606040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Stateless, sized to scale out with demand</a:t>
              </a:r>
            </a:p>
          </p:txBody>
        </p:sp>
        <p:pic>
          <p:nvPicPr>
            <p:cNvPr id="878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962656"/>
              <a:ext cx="146304" cy="146304"/>
            </a:xfrm>
            <a:prstGeom prst="rect">
              <a:avLst/>
            </a:prstGeom>
          </p:spPr>
        </p:pic>
        <p:sp>
          <p:nvSpPr>
            <p:cNvPr id="879" name="Lead Architect req 3"/>
            <p:cNvSpPr txBox="1"/>
            <p:nvPr/>
          </p:nvSpPr>
          <p:spPr>
            <a:xfrm>
              <a:off x="6382512" y="2935224"/>
              <a:ext cx="21945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HA and DR with no single point of failure</a:t>
              </a:r>
            </a:p>
          </p:txBody>
        </p:sp>
        <p:cxnSp>
          <p:nvCxnSpPr>
            <p:cNvPr id="880" name="Lead Architect divider"/>
            <p:cNvCxnSpPr/>
            <p:nvPr/>
          </p:nvCxnSpPr>
          <p:spPr>
            <a:xfrm>
              <a:off x="6163055" y="3291840"/>
              <a:ext cx="2395729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81" name="Label MEASURED BY  ·  TARGET"/>
            <p:cNvSpPr txBox="1"/>
            <p:nvPr/>
          </p:nvSpPr>
          <p:spPr>
            <a:xfrm>
              <a:off x="6163055" y="3346704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MEASURED BY  ·  TARGET</a:t>
              </a:r>
            </a:p>
          </p:txBody>
        </p:sp>
        <p:sp>
          <p:nvSpPr>
            <p:cNvPr id="882" name="Lead Architect kpi 1"/>
            <p:cNvSpPr txBox="1"/>
            <p:nvPr/>
          </p:nvSpPr>
          <p:spPr>
            <a:xfrm>
              <a:off x="6163055" y="3529584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Platform integrations</a:t>
              </a:r>
            </a:p>
          </p:txBody>
        </p:sp>
        <p:sp>
          <p:nvSpPr>
            <p:cNvPr id="883" name="Lead Architect kpi 1 value"/>
            <p:cNvSpPr txBox="1"/>
            <p:nvPr/>
          </p:nvSpPr>
          <p:spPr>
            <a:xfrm>
              <a:off x="7735823" y="3529584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Native</a:t>
              </a:r>
            </a:p>
          </p:txBody>
        </p:sp>
        <p:sp>
          <p:nvSpPr>
            <p:cNvPr id="884" name="Lead Architect kpi 2"/>
            <p:cNvSpPr txBox="1"/>
            <p:nvPr/>
          </p:nvSpPr>
          <p:spPr>
            <a:xfrm>
              <a:off x="6163055" y="3767328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Data plane scaling</a:t>
              </a:r>
            </a:p>
          </p:txBody>
        </p:sp>
        <p:sp>
          <p:nvSpPr>
            <p:cNvPr id="885" name="Lead Architect kpi 2 value"/>
            <p:cNvSpPr txBox="1"/>
            <p:nvPr/>
          </p:nvSpPr>
          <p:spPr>
            <a:xfrm>
              <a:off x="7735823" y="3767328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Horizontal</a:t>
              </a:r>
            </a:p>
          </p:txBody>
        </p:sp>
        <p:sp>
          <p:nvSpPr>
            <p:cNvPr id="886" name="Lead Architect kpi 3"/>
            <p:cNvSpPr txBox="1"/>
            <p:nvPr/>
          </p:nvSpPr>
          <p:spPr>
            <a:xfrm>
              <a:off x="6163055" y="4005072"/>
              <a:ext cx="1600200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Outages from node or site loss</a:t>
              </a:r>
            </a:p>
          </p:txBody>
        </p:sp>
        <p:sp>
          <p:nvSpPr>
            <p:cNvPr id="887" name="Lead Architect kpi 3 value"/>
            <p:cNvSpPr txBox="1"/>
            <p:nvPr/>
          </p:nvSpPr>
          <p:spPr>
            <a:xfrm>
              <a:off x="7735823" y="4005072"/>
              <a:ext cx="822959" cy="21945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200" b="1" i="0">
                  <a:solidFill>
                    <a:srgbClr val="4A8500"/>
                  </a:solidFill>
                  <a:latin typeface="Calibri"/>
                </a:rPr>
                <a:t>0</a:t>
              </a:r>
            </a:p>
          </p:txBody>
        </p:sp>
        <p:cxnSp>
          <p:nvCxnSpPr>
            <p:cNvPr id="888" name="Lead Architect divider 2"/>
            <p:cNvCxnSpPr/>
            <p:nvPr/>
          </p:nvCxnSpPr>
          <p:spPr>
            <a:xfrm>
              <a:off x="6163055" y="4279392"/>
              <a:ext cx="2395729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89" name="Label WHAT IT UNLOCKS"/>
            <p:cNvSpPr txBox="1"/>
            <p:nvPr/>
          </p:nvSpPr>
          <p:spPr>
            <a:xfrm>
              <a:off x="6163055" y="4325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WHAT IT UNLOCKS</a:t>
              </a:r>
            </a:p>
          </p:txBody>
        </p:sp>
        <p:sp>
          <p:nvSpPr>
            <p:cNvPr id="890" name="Lead Architect value"/>
            <p:cNvSpPr txBox="1"/>
            <p:nvPr/>
          </p:nvSpPr>
          <p:spPr>
            <a:xfrm>
              <a:off x="6163055" y="4462272"/>
              <a:ext cx="23957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Architecture sign-off for every 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3180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0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69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GAP  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The missing layer in the AI factory</a:t>
            </a:r>
          </a:p>
        </p:txBody>
      </p:sp>
      <p:sp>
        <p:nvSpPr>
          <p:cNvPr id="770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1  STORY</a:t>
            </a:r>
          </a:p>
        </p:txBody>
      </p:sp>
      <p:sp>
        <p:nvSpPr>
          <p:cNvPr id="771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772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773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GNB has built the factory. What’s missing is the layer that lets security, risk and platform teams say yes.</a:t>
            </a:r>
          </a:p>
        </p:txBody>
      </p:sp>
      <p:sp>
        <p:nvSpPr>
          <p:cNvPr id="774" name="Label THE AI FACTORY STACK"/>
          <p:cNvSpPr txBox="1"/>
          <p:nvPr/>
        </p:nvSpPr>
        <p:spPr>
          <a:xfrm>
            <a:off x="457200" y="1170432"/>
            <a:ext cx="30723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THE AI FACTORY STACK</a:t>
            </a:r>
          </a:p>
        </p:txBody>
      </p:sp>
      <p:sp>
        <p:nvSpPr>
          <p:cNvPr id="775" name="Layer consumers"/>
          <p:cNvSpPr/>
          <p:nvPr/>
        </p:nvSpPr>
        <p:spPr>
          <a:xfrm>
            <a:off x="457200" y="1353312"/>
            <a:ext cx="3072384" cy="402336"/>
          </a:xfrm>
          <a:prstGeom prst="roundRect">
            <a:avLst>
              <a:gd name="adj" fmla="val 1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76" name="Consumers badge"/>
          <p:cNvSpPr/>
          <p:nvPr/>
        </p:nvSpPr>
        <p:spPr>
          <a:xfrm>
            <a:off x="548640" y="1403604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77" name="Icon FaUs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472184"/>
            <a:ext cx="164592" cy="164592"/>
          </a:xfrm>
          <a:prstGeom prst="rect">
            <a:avLst/>
          </a:prstGeom>
        </p:spPr>
      </p:pic>
      <p:sp>
        <p:nvSpPr>
          <p:cNvPr id="778" name="Consumers text"/>
          <p:cNvSpPr txBox="1"/>
          <p:nvPr/>
        </p:nvSpPr>
        <p:spPr>
          <a:xfrm>
            <a:off x="932688" y="1353312"/>
            <a:ext cx="25237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Consumers</a:t>
            </a:r>
          </a:p>
          <a:p>
            <a:pPr algn="l"/>
            <a:r>
              <a:rPr sz="950" b="0" i="0">
                <a:solidFill>
                  <a:srgbClr val="4B5650"/>
                </a:solidFill>
                <a:latin typeface="Calibri"/>
              </a:rPr>
              <a:t>copilots · agents · channels</a:t>
            </a:r>
          </a:p>
        </p:txBody>
      </p:sp>
      <p:sp>
        <p:nvSpPr>
          <p:cNvPr id="779" name="Layer gap"/>
          <p:cNvSpPr/>
          <p:nvPr/>
        </p:nvSpPr>
        <p:spPr>
          <a:xfrm>
            <a:off x="457200" y="1819656"/>
            <a:ext cx="3072384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8553D"/>
            </a:solidFill>
            <a:prstDash val="dash"/>
          </a:ln>
        </p:spPr>
        <p:txBody>
          <a:bodyPr rtlCol="0" anchor="ctr"/>
          <a:lstStyle/>
          <a:p>
            <a:endParaRPr/>
          </a:p>
        </p:txBody>
      </p:sp>
      <p:sp>
        <p:nvSpPr>
          <p:cNvPr id="780" name="Gap badge"/>
          <p:cNvSpPr/>
          <p:nvPr/>
        </p:nvSpPr>
        <p:spPr>
          <a:xfrm>
            <a:off x="548640" y="1888236"/>
            <a:ext cx="301752" cy="301752"/>
          </a:xfrm>
          <a:prstGeom prst="ellipse">
            <a:avLst/>
          </a:prstGeom>
          <a:solidFill>
            <a:srgbClr val="FBECE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81" name="Icon FaQuestion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61388"/>
            <a:ext cx="155448" cy="155448"/>
          </a:xfrm>
          <a:prstGeom prst="rect">
            <a:avLst/>
          </a:prstGeom>
        </p:spPr>
      </p:pic>
      <p:sp>
        <p:nvSpPr>
          <p:cNvPr id="782" name="Gap text"/>
          <p:cNvSpPr txBox="1"/>
          <p:nvPr/>
        </p:nvSpPr>
        <p:spPr>
          <a:xfrm>
            <a:off x="932688" y="1819656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C8553D"/>
                </a:solidFill>
                <a:latin typeface="Calibri"/>
              </a:rPr>
              <a:t>MISSING  ·  AI CONNECTIVITY LAYER</a:t>
            </a:r>
          </a:p>
          <a:p>
            <a:pPr algn="l"/>
            <a:r>
              <a:rPr sz="900" b="0" i="0">
                <a:solidFill>
                  <a:srgbClr val="6B7069"/>
                </a:solidFill>
                <a:latin typeface="Calibri"/>
              </a:rPr>
              <a:t>no security, traffic, output, risk or token control</a:t>
            </a:r>
          </a:p>
        </p:txBody>
      </p:sp>
      <p:sp>
        <p:nvSpPr>
          <p:cNvPr id="783" name="Factory container"/>
          <p:cNvSpPr/>
          <p:nvPr/>
        </p:nvSpPr>
        <p:spPr>
          <a:xfrm>
            <a:off x="457200" y="2322576"/>
            <a:ext cx="3072384" cy="1755648"/>
          </a:xfrm>
          <a:prstGeom prst="roundRect">
            <a:avLst>
              <a:gd name="adj" fmla="val 4000"/>
            </a:avLst>
          </a:prstGeom>
          <a:solidFill>
            <a:srgbClr val="F7F9F4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4" name="Layer Models"/>
          <p:cNvSpPr/>
          <p:nvPr/>
        </p:nvSpPr>
        <p:spPr>
          <a:xfrm>
            <a:off x="548640" y="2395728"/>
            <a:ext cx="2889503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5" name="Layer Models badge badge"/>
          <p:cNvSpPr/>
          <p:nvPr/>
        </p:nvSpPr>
        <p:spPr>
          <a:xfrm>
            <a:off x="612648" y="2459736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86" name="Layer Models badge icon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3" y="2529961"/>
            <a:ext cx="152156" cy="152156"/>
          </a:xfrm>
          <a:prstGeom prst="rect">
            <a:avLst/>
          </a:prstGeom>
        </p:spPr>
      </p:pic>
      <p:sp>
        <p:nvSpPr>
          <p:cNvPr id="787" name="Layer Models text"/>
          <p:cNvSpPr txBox="1"/>
          <p:nvPr/>
        </p:nvSpPr>
        <p:spPr>
          <a:xfrm>
            <a:off x="987552" y="2395728"/>
            <a:ext cx="238658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Models</a:t>
            </a:r>
          </a:p>
          <a:p>
            <a:pPr algn="l"/>
            <a:r>
              <a:rPr sz="950" b="0" i="0">
                <a:solidFill>
                  <a:srgbClr val="4B5650"/>
                </a:solidFill>
                <a:latin typeface="Calibri"/>
              </a:rPr>
              <a:t>LLMs · embedding models · agents</a:t>
            </a:r>
          </a:p>
        </p:txBody>
      </p:sp>
      <p:sp>
        <p:nvSpPr>
          <p:cNvPr id="788" name="Layer Model serving"/>
          <p:cNvSpPr/>
          <p:nvPr/>
        </p:nvSpPr>
        <p:spPr>
          <a:xfrm>
            <a:off x="548640" y="2871216"/>
            <a:ext cx="2889503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9" name="Layer Model serving badge badge"/>
          <p:cNvSpPr/>
          <p:nvPr/>
        </p:nvSpPr>
        <p:spPr>
          <a:xfrm>
            <a:off x="612648" y="2935224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90" name="Layer Model serving badge icon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3" y="3005449"/>
            <a:ext cx="152156" cy="152156"/>
          </a:xfrm>
          <a:prstGeom prst="rect">
            <a:avLst/>
          </a:prstGeom>
        </p:spPr>
      </p:pic>
      <p:sp>
        <p:nvSpPr>
          <p:cNvPr id="791" name="Layer Model serving text"/>
          <p:cNvSpPr txBox="1"/>
          <p:nvPr/>
        </p:nvSpPr>
        <p:spPr>
          <a:xfrm>
            <a:off x="987552" y="2871216"/>
            <a:ext cx="238658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Model serving</a:t>
            </a:r>
          </a:p>
          <a:p>
            <a:pPr algn="l"/>
            <a:r>
              <a:rPr sz="950" b="0" i="0">
                <a:solidFill>
                  <a:srgbClr val="4B5650"/>
                </a:solidFill>
                <a:latin typeface="Calibri"/>
              </a:rPr>
              <a:t>vLLM · agent runtimes · vector store</a:t>
            </a:r>
          </a:p>
        </p:txBody>
      </p:sp>
      <p:sp>
        <p:nvSpPr>
          <p:cNvPr id="792" name="Layer GPU infrastructure"/>
          <p:cNvSpPr/>
          <p:nvPr/>
        </p:nvSpPr>
        <p:spPr>
          <a:xfrm>
            <a:off x="548640" y="3346704"/>
            <a:ext cx="2889503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93" name="Layer GPU infrastructure badge badge"/>
          <p:cNvSpPr/>
          <p:nvPr/>
        </p:nvSpPr>
        <p:spPr>
          <a:xfrm>
            <a:off x="612648" y="3410712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94" name="Layer GPU infrastructure badge ico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873" y="3480937"/>
            <a:ext cx="152156" cy="152156"/>
          </a:xfrm>
          <a:prstGeom prst="rect">
            <a:avLst/>
          </a:prstGeom>
        </p:spPr>
      </p:pic>
      <p:sp>
        <p:nvSpPr>
          <p:cNvPr id="795" name="Layer GPU infrastructure text"/>
          <p:cNvSpPr txBox="1"/>
          <p:nvPr/>
        </p:nvSpPr>
        <p:spPr>
          <a:xfrm>
            <a:off x="987552" y="3346704"/>
            <a:ext cx="238658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GPU infrastructure</a:t>
            </a:r>
          </a:p>
          <a:p>
            <a:pPr algn="l"/>
            <a:r>
              <a:rPr sz="950" b="0" i="0">
                <a:solidFill>
                  <a:srgbClr val="4B5650"/>
                </a:solidFill>
                <a:latin typeface="Calibri"/>
              </a:rPr>
              <a:t>compute · storage · network</a:t>
            </a:r>
          </a:p>
        </p:txBody>
      </p:sp>
      <p:sp>
        <p:nvSpPr>
          <p:cNvPr id="796" name="Factory label"/>
          <p:cNvSpPr txBox="1"/>
          <p:nvPr/>
        </p:nvSpPr>
        <p:spPr>
          <a:xfrm>
            <a:off x="566928" y="3840480"/>
            <a:ext cx="28895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4A8500"/>
                </a:solidFill>
                <a:latin typeface="Calibri"/>
              </a:rPr>
              <a:t>✓ Built and paid for by GNB</a:t>
            </a:r>
          </a:p>
        </p:txBody>
      </p:sp>
      <p:sp>
        <p:nvSpPr>
          <p:cNvPr id="797" name="Label THE PRODUCTION GATE ASKS  ·  12 QUESTIONS, 6 OWNERS"/>
          <p:cNvSpPr txBox="1"/>
          <p:nvPr/>
        </p:nvSpPr>
        <p:spPr>
          <a:xfrm>
            <a:off x="3675887" y="1170432"/>
            <a:ext cx="5010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THE PRODUCTION GATE ASKS  ·  12 QUESTIONS, 6 OWNERS</a:t>
            </a:r>
          </a:p>
        </p:txBody>
      </p:sp>
      <p:grpSp>
        <p:nvGrpSpPr>
          <p:cNvPr id="2" name="Kong layer"/>
          <p:cNvGrpSpPr/>
          <p:nvPr/>
        </p:nvGrpSpPr>
        <p:grpSpPr>
          <a:xfrm>
            <a:off x="438912" y="1801368"/>
            <a:ext cx="3108960" cy="475488"/>
            <a:chOff x="438912" y="1801368"/>
            <a:chExt cx="3108960" cy="475488"/>
          </a:xfrm>
        </p:grpSpPr>
        <p:sp>
          <p:nvSpPr>
            <p:cNvPr id="858" name="Kong layer box"/>
            <p:cNvSpPr/>
            <p:nvPr/>
          </p:nvSpPr>
          <p:spPr>
            <a:xfrm>
              <a:off x="438912" y="1801368"/>
              <a:ext cx="3108960" cy="475488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9" name="Kong badge"/>
            <p:cNvSpPr/>
            <p:nvPr/>
          </p:nvSpPr>
          <p:spPr>
            <a:xfrm>
              <a:off x="548640" y="1888236"/>
              <a:ext cx="301752" cy="301752"/>
            </a:xfrm>
            <a:prstGeom prst="ellipse">
              <a:avLst/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0" name="Picture 85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8932" y="1952243"/>
              <a:ext cx="201168" cy="179222"/>
            </a:xfrm>
            <a:prstGeom prst="rect">
              <a:avLst/>
            </a:prstGeom>
          </p:spPr>
        </p:pic>
        <p:sp>
          <p:nvSpPr>
            <p:cNvPr id="861" name="Kong layer text"/>
            <p:cNvSpPr txBox="1"/>
            <p:nvPr/>
          </p:nvSpPr>
          <p:spPr>
            <a:xfrm>
              <a:off x="932688" y="1819656"/>
              <a:ext cx="2523744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CCFF00"/>
                  </a:solidFill>
                  <a:latin typeface="Calibri"/>
                </a:rPr>
                <a:t>KONG AI GATEWAY  ·  CONNECTIVITY LAYER</a:t>
              </a:r>
            </a:p>
            <a:p>
              <a:pPr algn="l"/>
              <a:r>
                <a:rPr sz="900" b="0" i="0">
                  <a:solidFill>
                    <a:srgbClr val="FFFFFF"/>
                  </a:solidFill>
                  <a:latin typeface="Calibri"/>
                </a:rPr>
                <a:t>AI security · AI governance · AI tokenomics</a:t>
              </a:r>
            </a:p>
          </p:txBody>
        </p:sp>
      </p:grpSp>
      <p:grpSp>
        <p:nvGrpSpPr>
          <p:cNvPr id="4" name="Takeaway"/>
          <p:cNvGrpSpPr/>
          <p:nvPr/>
        </p:nvGrpSpPr>
        <p:grpSpPr>
          <a:xfrm>
            <a:off x="457200" y="4169663"/>
            <a:ext cx="8229600" cy="420624"/>
            <a:chOff x="457200" y="4169663"/>
            <a:chExt cx="8229600" cy="420624"/>
          </a:xfrm>
        </p:grpSpPr>
        <p:sp>
          <p:nvSpPr>
            <p:cNvPr id="886" name="Takeaway band"/>
            <p:cNvSpPr/>
            <p:nvPr/>
          </p:nvSpPr>
          <p:spPr>
            <a:xfrm>
              <a:off x="457200" y="4169663"/>
              <a:ext cx="8229600" cy="420624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7" name="Takeaway"/>
            <p:cNvSpPr txBox="1"/>
            <p:nvPr/>
          </p:nvSpPr>
          <p:spPr>
            <a:xfrm>
              <a:off x="640080" y="4169663"/>
              <a:ext cx="7863840" cy="42062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50" b="1" i="0">
                  <a:solidFill>
                    <a:srgbClr val="FFFFFF"/>
                  </a:solidFill>
                  <a:latin typeface="Calibri"/>
                </a:rPr>
                <a:t>Kong removes the platform blockers,  </a:t>
              </a:r>
              <a:r>
                <a:rPr sz="1150" b="1" i="0">
                  <a:solidFill>
                    <a:srgbClr val="CCFF00"/>
                  </a:solidFill>
                  <a:latin typeface="Calibri"/>
                </a:rPr>
                <a:t>so the gate becomes a decision about each use case, not about missing infrastructure.</a:t>
              </a:r>
            </a:p>
          </p:txBody>
        </p:sp>
      </p:grpSp>
      <p:sp>
        <p:nvSpPr>
          <p:cNvPr id="888" name="Source"/>
          <p:cNvSpPr txBox="1"/>
          <p:nvPr/>
        </p:nvSpPr>
        <p:spPr>
          <a:xfrm>
            <a:off x="502920" y="4654296"/>
            <a:ext cx="8138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6B7069"/>
                </a:solidFill>
                <a:latin typeface="Calibri"/>
              </a:rPr>
              <a:t>Source: Kong docs · AI Gateway policies hub, AI Model entity (balancer, semantic routing), AI MCP Server, AI Gateway architecture</a:t>
            </a:r>
          </a:p>
        </p:txBody>
      </p:sp>
      <p:sp>
        <p:nvSpPr>
          <p:cNvPr id="930" name="Gate head owner"/>
          <p:cNvSpPr txBox="1"/>
          <p:nvPr/>
        </p:nvSpPr>
        <p:spPr>
          <a:xfrm>
            <a:off x="3767328" y="1344168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750" b="1" i="0">
                <a:solidFill>
                  <a:srgbClr val="6B7069"/>
                </a:solidFill>
                <a:latin typeface="Calibri"/>
              </a:rPr>
              <a:t>OWNER</a:t>
            </a:r>
            <a:endParaRPr lang="en-US" sz="800"/>
          </a:p>
        </p:txBody>
      </p:sp>
      <p:sp>
        <p:nvSpPr>
          <p:cNvPr id="931" name="Gate head question"/>
          <p:cNvSpPr txBox="1"/>
          <p:nvPr/>
        </p:nvSpPr>
        <p:spPr>
          <a:xfrm>
            <a:off x="4608576" y="1344168"/>
            <a:ext cx="237744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750" b="1" i="0">
                <a:solidFill>
                  <a:srgbClr val="6B7069"/>
                </a:solidFill>
                <a:latin typeface="Calibri"/>
              </a:rPr>
              <a:t>ASKS</a:t>
            </a:r>
            <a:endParaRPr lang="en-US" sz="800"/>
          </a:p>
        </p:txBody>
      </p:sp>
      <p:sp>
        <p:nvSpPr>
          <p:cNvPr id="933" name="Gate band SECURITY"/>
          <p:cNvSpPr/>
          <p:nvPr/>
        </p:nvSpPr>
        <p:spPr>
          <a:xfrm>
            <a:off x="3675888" y="1508760"/>
            <a:ext cx="5010912" cy="574243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34" name="Gate owner SECURITY"/>
          <p:cNvSpPr txBox="1"/>
          <p:nvPr/>
        </p:nvSpPr>
        <p:spPr>
          <a:xfrm>
            <a:off x="3767328" y="1508760"/>
            <a:ext cx="795528" cy="5742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SECURITY</a:t>
            </a:r>
            <a:endParaRPr lang="en-US" sz="800"/>
          </a:p>
        </p:txBody>
      </p:sp>
      <p:sp>
        <p:nvSpPr>
          <p:cNvPr id="935" name="Gate q SECURITY 1"/>
          <p:cNvSpPr txBox="1"/>
          <p:nvPr/>
        </p:nvSpPr>
        <p:spPr>
          <a:xfrm>
            <a:off x="4608576" y="1527048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Who may call which model or agent?</a:t>
            </a:r>
            <a:endParaRPr lang="en-US" sz="800"/>
          </a:p>
        </p:txBody>
      </p:sp>
      <p:sp>
        <p:nvSpPr>
          <p:cNvPr id="937" name="Gate q SECURITY 2"/>
          <p:cNvSpPr txBox="1"/>
          <p:nvPr/>
        </p:nvSpPr>
        <p:spPr>
          <a:xfrm>
            <a:off x="4608576" y="1706270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Is sensitive data protected first?</a:t>
            </a:r>
            <a:endParaRPr lang="en-US" sz="800"/>
          </a:p>
        </p:txBody>
      </p:sp>
      <p:sp>
        <p:nvSpPr>
          <p:cNvPr id="939" name="Gate q SECURITY 3"/>
          <p:cNvSpPr txBox="1"/>
          <p:nvPr/>
        </p:nvSpPr>
        <p:spPr>
          <a:xfrm>
            <a:off x="4608576" y="1885493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Are prompts safe from injection?</a:t>
            </a:r>
            <a:endParaRPr lang="en-US" sz="800"/>
          </a:p>
        </p:txBody>
      </p:sp>
      <p:sp>
        <p:nvSpPr>
          <p:cNvPr id="941" name="Gate band RISK"/>
          <p:cNvSpPr/>
          <p:nvPr/>
        </p:nvSpPr>
        <p:spPr>
          <a:xfrm>
            <a:off x="3675888" y="2104949"/>
            <a:ext cx="5010912" cy="3950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42" name="Gate owner RISK"/>
          <p:cNvSpPr txBox="1"/>
          <p:nvPr/>
        </p:nvSpPr>
        <p:spPr>
          <a:xfrm>
            <a:off x="3767328" y="2104949"/>
            <a:ext cx="795528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RISK</a:t>
            </a:r>
            <a:endParaRPr lang="en-US" sz="800"/>
          </a:p>
        </p:txBody>
      </p:sp>
      <p:sp>
        <p:nvSpPr>
          <p:cNvPr id="943" name="Gate q RISK 1"/>
          <p:cNvSpPr txBox="1"/>
          <p:nvPr/>
        </p:nvSpPr>
        <p:spPr>
          <a:xfrm>
            <a:off x="4608576" y="2123237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Is model output on-policy?</a:t>
            </a:r>
            <a:endParaRPr lang="en-US" sz="800"/>
          </a:p>
        </p:txBody>
      </p:sp>
      <p:sp>
        <p:nvSpPr>
          <p:cNvPr id="945" name="Gate q RISK 2"/>
          <p:cNvSpPr txBox="1"/>
          <p:nvPr/>
        </p:nvSpPr>
        <p:spPr>
          <a:xfrm>
            <a:off x="4608576" y="2302459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Is every call logged for audit?</a:t>
            </a:r>
            <a:endParaRPr lang="en-US" sz="800"/>
          </a:p>
        </p:txBody>
      </p:sp>
      <p:sp>
        <p:nvSpPr>
          <p:cNvPr id="947" name="Gate band AGENTS"/>
          <p:cNvSpPr/>
          <p:nvPr/>
        </p:nvSpPr>
        <p:spPr>
          <a:xfrm>
            <a:off x="3675888" y="2521915"/>
            <a:ext cx="5010912" cy="215798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48" name="Gate owner AGENTS"/>
          <p:cNvSpPr txBox="1"/>
          <p:nvPr/>
        </p:nvSpPr>
        <p:spPr>
          <a:xfrm>
            <a:off x="3767328" y="2521915"/>
            <a:ext cx="795528" cy="215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AGENTS</a:t>
            </a:r>
            <a:endParaRPr lang="en-US" sz="800"/>
          </a:p>
        </p:txBody>
      </p:sp>
      <p:sp>
        <p:nvSpPr>
          <p:cNvPr id="949" name="Gate q AGENTS 1"/>
          <p:cNvSpPr txBox="1"/>
          <p:nvPr/>
        </p:nvSpPr>
        <p:spPr>
          <a:xfrm>
            <a:off x="4608576" y="2540203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What can agents touch?</a:t>
            </a:r>
            <a:endParaRPr lang="en-US" sz="800"/>
          </a:p>
        </p:txBody>
      </p:sp>
      <p:sp>
        <p:nvSpPr>
          <p:cNvPr id="951" name="Gate band PLATFORM"/>
          <p:cNvSpPr/>
          <p:nvPr/>
        </p:nvSpPr>
        <p:spPr>
          <a:xfrm>
            <a:off x="3675888" y="2759659"/>
            <a:ext cx="5010912" cy="3950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52" name="Gate owner PLATFORM"/>
          <p:cNvSpPr txBox="1"/>
          <p:nvPr/>
        </p:nvSpPr>
        <p:spPr>
          <a:xfrm>
            <a:off x="3767328" y="2759659"/>
            <a:ext cx="795528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PLATFORM</a:t>
            </a:r>
            <a:endParaRPr lang="en-US" sz="800"/>
          </a:p>
        </p:txBody>
      </p:sp>
      <p:sp>
        <p:nvSpPr>
          <p:cNvPr id="953" name="Gate q PLATFORM 1"/>
          <p:cNvSpPr txBox="1"/>
          <p:nvPr/>
        </p:nvSpPr>
        <p:spPr>
          <a:xfrm>
            <a:off x="4608576" y="2777947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Is traffic balanced and failed over?</a:t>
            </a:r>
            <a:endParaRPr lang="en-US" sz="800"/>
          </a:p>
        </p:txBody>
      </p:sp>
      <p:sp>
        <p:nvSpPr>
          <p:cNvPr id="955" name="Gate q PLATFORM 2"/>
          <p:cNvSpPr txBox="1"/>
          <p:nvPr/>
        </p:nvSpPr>
        <p:spPr>
          <a:xfrm>
            <a:off x="4608576" y="2957170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Can we route by meaning and cache?</a:t>
            </a:r>
            <a:endParaRPr lang="en-US" sz="800"/>
          </a:p>
        </p:txBody>
      </p:sp>
      <p:sp>
        <p:nvSpPr>
          <p:cNvPr id="957" name="Gate band CIO"/>
          <p:cNvSpPr/>
          <p:nvPr/>
        </p:nvSpPr>
        <p:spPr>
          <a:xfrm>
            <a:off x="3675888" y="3176626"/>
            <a:ext cx="5010912" cy="395021"/>
          </a:xfrm>
          <a:prstGeom prst="roundRect">
            <a:avLst>
              <a:gd name="adj" fmla="val 6000"/>
            </a:avLst>
          </a:prstGeom>
          <a:solidFill>
            <a:srgbClr val="F3F5F0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58" name="Gate owner CIO"/>
          <p:cNvSpPr txBox="1"/>
          <p:nvPr/>
        </p:nvSpPr>
        <p:spPr>
          <a:xfrm>
            <a:off x="3767328" y="3176626"/>
            <a:ext cx="795528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CIO</a:t>
            </a:r>
            <a:endParaRPr lang="en-US" sz="800"/>
          </a:p>
        </p:txBody>
      </p:sp>
      <p:sp>
        <p:nvSpPr>
          <p:cNvPr id="959" name="Gate q CIO 1"/>
          <p:cNvSpPr txBox="1"/>
          <p:nvPr/>
        </p:nvSpPr>
        <p:spPr>
          <a:xfrm>
            <a:off x="4608576" y="3194914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What does each use case cost?</a:t>
            </a:r>
            <a:endParaRPr lang="en-US" sz="800"/>
          </a:p>
        </p:txBody>
      </p:sp>
      <p:sp>
        <p:nvSpPr>
          <p:cNvPr id="961" name="Gate q CIO 2"/>
          <p:cNvSpPr txBox="1"/>
          <p:nvPr/>
        </p:nvSpPr>
        <p:spPr>
          <a:xfrm>
            <a:off x="4608576" y="3374136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Can we show ROI and KPIs?</a:t>
            </a:r>
            <a:endParaRPr lang="en-US" sz="800"/>
          </a:p>
        </p:txBody>
      </p:sp>
      <p:sp>
        <p:nvSpPr>
          <p:cNvPr id="963" name="Gate band ARCHITECT"/>
          <p:cNvSpPr/>
          <p:nvPr/>
        </p:nvSpPr>
        <p:spPr>
          <a:xfrm>
            <a:off x="3675888" y="3593592"/>
            <a:ext cx="5010912" cy="3950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64" name="Gate owner ARCHITECT"/>
          <p:cNvSpPr txBox="1"/>
          <p:nvPr/>
        </p:nvSpPr>
        <p:spPr>
          <a:xfrm>
            <a:off x="3767328" y="3593592"/>
            <a:ext cx="795528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ARCHITECT</a:t>
            </a:r>
            <a:endParaRPr lang="en-US" sz="800"/>
          </a:p>
        </p:txBody>
      </p:sp>
      <p:sp>
        <p:nvSpPr>
          <p:cNvPr id="965" name="Gate q ARCHITECT 1"/>
          <p:cNvSpPr txBox="1"/>
          <p:nvPr/>
        </p:nvSpPr>
        <p:spPr>
          <a:xfrm>
            <a:off x="4608576" y="3611880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Does it fit Kubernetes and our IdP?</a:t>
            </a:r>
            <a:endParaRPr lang="en-US" sz="800"/>
          </a:p>
        </p:txBody>
      </p:sp>
      <p:sp>
        <p:nvSpPr>
          <p:cNvPr id="967" name="Gate q ARCHITECT 2"/>
          <p:cNvSpPr txBox="1"/>
          <p:nvPr/>
        </p:nvSpPr>
        <p:spPr>
          <a:xfrm>
            <a:off x="4608576" y="3791102"/>
            <a:ext cx="2331720" cy="1792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Does it survive node or site loss?</a:t>
            </a:r>
            <a:endParaRPr lang="en-US" sz="800"/>
          </a:p>
        </p:txBody>
      </p:sp>
      <p:grpSp>
        <p:nvGrpSpPr>
          <p:cNvPr id="970" name="Answers"/>
          <p:cNvGrpSpPr/>
          <p:nvPr/>
        </p:nvGrpSpPr>
        <p:grpSpPr>
          <a:xfrm>
            <a:off x="6986016" y="1344168"/>
            <a:ext cx="1792224" cy="2626156"/>
            <a:chOff x="6986016" y="1344168"/>
            <a:chExt cx="1792224" cy="2626156"/>
          </a:xfrm>
        </p:grpSpPr>
        <p:sp>
          <p:nvSpPr>
            <p:cNvPr id="932" name="Gate head answer"/>
            <p:cNvSpPr txBox="1"/>
            <p:nvPr/>
          </p:nvSpPr>
          <p:spPr>
            <a:xfrm>
              <a:off x="6986016" y="1344168"/>
              <a:ext cx="1792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4A8500"/>
                  </a:solidFill>
                  <a:latin typeface="Calibri"/>
                </a:rPr>
                <a:t>KONG ANSWERS WITH</a:t>
              </a:r>
              <a:endParaRPr lang="en-US" sz="800"/>
            </a:p>
          </p:txBody>
        </p:sp>
        <p:sp>
          <p:nvSpPr>
            <p:cNvPr id="936" name="Gate a SECURITY 1"/>
            <p:cNvSpPr txBox="1"/>
            <p:nvPr/>
          </p:nvSpPr>
          <p:spPr>
            <a:xfrm>
              <a:off x="6986016" y="1527048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OIDC · groups · ACL</a:t>
              </a:r>
              <a:endParaRPr lang="en-US" sz="800"/>
            </a:p>
          </p:txBody>
        </p:sp>
        <p:sp>
          <p:nvSpPr>
            <p:cNvPr id="938" name="Gate a SECURITY 2"/>
            <p:cNvSpPr txBox="1"/>
            <p:nvPr/>
          </p:nvSpPr>
          <p:spPr>
            <a:xfrm>
              <a:off x="6986016" y="1706270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AI PII Sanitizer</a:t>
              </a:r>
              <a:endParaRPr lang="en-US" sz="800"/>
            </a:p>
          </p:txBody>
        </p:sp>
        <p:sp>
          <p:nvSpPr>
            <p:cNvPr id="940" name="Gate a SECURITY 3"/>
            <p:cNvSpPr txBox="1"/>
            <p:nvPr/>
          </p:nvSpPr>
          <p:spPr>
            <a:xfrm>
              <a:off x="6986016" y="1885493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AI Semantic Prompt Guard</a:t>
              </a:r>
              <a:endParaRPr lang="en-US" sz="800"/>
            </a:p>
          </p:txBody>
        </p:sp>
        <p:sp>
          <p:nvSpPr>
            <p:cNvPr id="944" name="Gate a RISK 1"/>
            <p:cNvSpPr txBox="1"/>
            <p:nvPr/>
          </p:nvSpPr>
          <p:spPr>
            <a:xfrm>
              <a:off x="6986016" y="2123237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AI Semantic Response Guard</a:t>
              </a:r>
              <a:endParaRPr lang="en-US" sz="800"/>
            </a:p>
          </p:txBody>
        </p:sp>
        <p:sp>
          <p:nvSpPr>
            <p:cNvPr id="946" name="Gate a RISK 2"/>
            <p:cNvSpPr txBox="1"/>
            <p:nvPr/>
          </p:nvSpPr>
          <p:spPr>
            <a:xfrm>
              <a:off x="6986016" y="2302459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logs → SIEM · OTel</a:t>
              </a:r>
              <a:endParaRPr lang="en-US" sz="800"/>
            </a:p>
          </p:txBody>
        </p:sp>
        <p:sp>
          <p:nvSpPr>
            <p:cNvPr id="950" name="Gate a AGENTS 1"/>
            <p:cNvSpPr txBox="1"/>
            <p:nvPr/>
          </p:nvSpPr>
          <p:spPr>
            <a:xfrm>
              <a:off x="6986016" y="2540203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MCP Server · tool ACLs</a:t>
              </a:r>
              <a:endParaRPr lang="en-US" sz="800"/>
            </a:p>
          </p:txBody>
        </p:sp>
        <p:sp>
          <p:nvSpPr>
            <p:cNvPr id="954" name="Gate a PLATFORM 1"/>
            <p:cNvSpPr txBox="1"/>
            <p:nvPr/>
          </p:nvSpPr>
          <p:spPr>
            <a:xfrm>
              <a:off x="6986016" y="2777947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balancer · failover</a:t>
              </a:r>
              <a:endParaRPr lang="en-US" sz="800"/>
            </a:p>
          </p:txBody>
        </p:sp>
        <p:sp>
          <p:nvSpPr>
            <p:cNvPr id="956" name="Gate a PLATFORM 2"/>
            <p:cNvSpPr txBox="1"/>
            <p:nvPr/>
          </p:nvSpPr>
          <p:spPr>
            <a:xfrm>
              <a:off x="6986016" y="2957170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AI Semantic Cache · routing</a:t>
              </a:r>
              <a:endParaRPr lang="en-US" sz="800"/>
            </a:p>
          </p:txBody>
        </p:sp>
        <p:sp>
          <p:nvSpPr>
            <p:cNvPr id="960" name="Gate a CIO 1"/>
            <p:cNvSpPr txBox="1"/>
            <p:nvPr/>
          </p:nvSpPr>
          <p:spPr>
            <a:xfrm>
              <a:off x="6986016" y="3194914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AI Rate Limiting · billing</a:t>
              </a:r>
              <a:endParaRPr lang="en-US" sz="800"/>
            </a:p>
          </p:txBody>
        </p:sp>
        <p:sp>
          <p:nvSpPr>
            <p:cNvPr id="962" name="Gate a CIO 2"/>
            <p:cNvSpPr txBox="1"/>
            <p:nvPr/>
          </p:nvSpPr>
          <p:spPr>
            <a:xfrm>
              <a:off x="6986016" y="3374136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analytics per use case</a:t>
              </a:r>
              <a:endParaRPr lang="en-US" sz="800"/>
            </a:p>
          </p:txBody>
        </p:sp>
        <p:sp>
          <p:nvSpPr>
            <p:cNvPr id="966" name="Gate a ARCHITECT 1"/>
            <p:cNvSpPr txBox="1"/>
            <p:nvPr/>
          </p:nvSpPr>
          <p:spPr>
            <a:xfrm>
              <a:off x="6986016" y="3611880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K8s · OIDC · Vault</a:t>
              </a:r>
              <a:endParaRPr lang="en-US" sz="800"/>
            </a:p>
          </p:txBody>
        </p:sp>
        <p:sp>
          <p:nvSpPr>
            <p:cNvPr id="968" name="Gate a ARCHITECT 2"/>
            <p:cNvSpPr txBox="1"/>
            <p:nvPr/>
          </p:nvSpPr>
          <p:spPr>
            <a:xfrm>
              <a:off x="6986016" y="3791102"/>
              <a:ext cx="1682496" cy="179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4A8500"/>
                  </a:solidFill>
                  <a:latin typeface="Calibri"/>
                </a:rPr>
                <a:t>✓ </a:t>
              </a: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active-active · cached config</a:t>
              </a:r>
              <a:endParaRPr lang="en-US" sz="80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D63C-6595-A3A3-AE2D-8537F0AE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>
            <a:extLst>
              <a:ext uri="{FF2B5EF4-FFF2-40B4-BE49-F238E27FC236}">
                <a16:creationId xmlns:a16="http://schemas.microsoft.com/office/drawing/2014/main" id="{72FB362B-D437-EF26-A1E1-FE3FB3292B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812" name="Slide title">
            <a:extLst>
              <a:ext uri="{FF2B5EF4-FFF2-40B4-BE49-F238E27FC236}">
                <a16:creationId xmlns:a16="http://schemas.microsoft.com/office/drawing/2014/main" id="{9A91E70B-461E-28BE-9A9A-B7D40005A7A0}"/>
              </a:ext>
            </a:extLst>
          </p:cNvPr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STORY  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From AI factory to production, in five steps</a:t>
            </a:r>
          </a:p>
        </p:txBody>
      </p:sp>
      <p:sp>
        <p:nvSpPr>
          <p:cNvPr id="813" name="Chapter 1  STORY">
            <a:extLst>
              <a:ext uri="{FF2B5EF4-FFF2-40B4-BE49-F238E27FC236}">
                <a16:creationId xmlns:a16="http://schemas.microsoft.com/office/drawing/2014/main" id="{FCE49FA2-BD3C-D2F5-2EAC-6027178959C0}"/>
              </a:ext>
            </a:extLst>
          </p:cNvPr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>
            <a:extLst>
              <a:ext uri="{FF2B5EF4-FFF2-40B4-BE49-F238E27FC236}">
                <a16:creationId xmlns:a16="http://schemas.microsoft.com/office/drawing/2014/main" id="{724E9B9E-DB4B-2631-4B8C-7A83EDA9C51D}"/>
              </a:ext>
            </a:extLst>
          </p:cNvPr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>
            <a:extLst>
              <a:ext uri="{FF2B5EF4-FFF2-40B4-BE49-F238E27FC236}">
                <a16:creationId xmlns:a16="http://schemas.microsoft.com/office/drawing/2014/main" id="{DA7133DC-7C00-FA40-74C3-0F8B6E05E1D3}"/>
              </a:ext>
            </a:extLst>
          </p:cNvPr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grpSp>
        <p:nvGrpSpPr>
          <p:cNvPr id="2" name="Story step 1">
            <a:extLst>
              <a:ext uri="{FF2B5EF4-FFF2-40B4-BE49-F238E27FC236}">
                <a16:creationId xmlns:a16="http://schemas.microsoft.com/office/drawing/2014/main" id="{27E757F8-B7B0-E06A-9C86-6D4E70CF1654}"/>
              </a:ext>
            </a:extLst>
          </p:cNvPr>
          <p:cNvGrpSpPr/>
          <p:nvPr/>
        </p:nvGrpSpPr>
        <p:grpSpPr>
          <a:xfrm>
            <a:off x="457200" y="1152144"/>
            <a:ext cx="1554480" cy="2523744"/>
            <a:chOff x="457200" y="1152144"/>
            <a:chExt cx="1554480" cy="2523744"/>
          </a:xfrm>
        </p:grpSpPr>
        <p:sp>
          <p:nvSpPr>
            <p:cNvPr id="816" name="Step 1 node">
              <a:extLst>
                <a:ext uri="{FF2B5EF4-FFF2-40B4-BE49-F238E27FC236}">
                  <a16:creationId xmlns:a16="http://schemas.microsoft.com/office/drawing/2014/main" id="{68D832BF-255F-AB59-D6D0-7BA0D199F8CF}"/>
                </a:ext>
              </a:extLst>
            </p:cNvPr>
            <p:cNvSpPr/>
            <p:nvPr/>
          </p:nvSpPr>
          <p:spPr>
            <a:xfrm>
              <a:off x="1088136" y="1152144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Step 1 number">
              <a:extLst>
                <a:ext uri="{FF2B5EF4-FFF2-40B4-BE49-F238E27FC236}">
                  <a16:creationId xmlns:a16="http://schemas.microsoft.com/office/drawing/2014/main" id="{DF1F4137-6AF8-55E3-D13B-8912A6BBC4BD}"/>
                </a:ext>
              </a:extLst>
            </p:cNvPr>
            <p:cNvSpPr txBox="1"/>
            <p:nvPr/>
          </p:nvSpPr>
          <p:spPr>
            <a:xfrm>
              <a:off x="1088136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818" name="Step 1 card">
              <a:extLst>
                <a:ext uri="{FF2B5EF4-FFF2-40B4-BE49-F238E27FC236}">
                  <a16:creationId xmlns:a16="http://schemas.microsoft.com/office/drawing/2014/main" id="{0A62221E-D35C-44DA-AA4F-77E823A19171}"/>
                </a:ext>
              </a:extLst>
            </p:cNvPr>
            <p:cNvSpPr/>
            <p:nvPr/>
          </p:nvSpPr>
          <p:spPr>
            <a:xfrm>
              <a:off x="457200" y="1572768"/>
              <a:ext cx="1554480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9" name="Step 1 label">
              <a:extLst>
                <a:ext uri="{FF2B5EF4-FFF2-40B4-BE49-F238E27FC236}">
                  <a16:creationId xmlns:a16="http://schemas.microsoft.com/office/drawing/2014/main" id="{EF431EE4-4DC2-200C-85B7-518594206834}"/>
                </a:ext>
              </a:extLst>
            </p:cNvPr>
            <p:cNvSpPr txBox="1"/>
            <p:nvPr/>
          </p:nvSpPr>
          <p:spPr>
            <a:xfrm>
              <a:off x="566928" y="1645920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STEP 1  ·  INVEST</a:t>
              </a:r>
            </a:p>
          </p:txBody>
        </p:sp>
        <p:sp>
          <p:nvSpPr>
            <p:cNvPr id="820" name="Step 1 badge badge">
              <a:extLst>
                <a:ext uri="{FF2B5EF4-FFF2-40B4-BE49-F238E27FC236}">
                  <a16:creationId xmlns:a16="http://schemas.microsoft.com/office/drawing/2014/main" id="{95A1BA3F-E1F7-9EE6-30DB-CD6D53769885}"/>
                </a:ext>
              </a:extLst>
            </p:cNvPr>
            <p:cNvSpPr/>
            <p:nvPr/>
          </p:nvSpPr>
          <p:spPr>
            <a:xfrm>
              <a:off x="566928" y="1847088"/>
              <a:ext cx="402336" cy="402336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1" name="Step 1 badge icon" descr="image.png">
              <a:extLst>
                <a:ext uri="{FF2B5EF4-FFF2-40B4-BE49-F238E27FC236}">
                  <a16:creationId xmlns:a16="http://schemas.microsoft.com/office/drawing/2014/main" id="{339B88F8-4F82-96C5-33C0-4EA6FF377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488" y="1943648"/>
              <a:ext cx="209214" cy="209214"/>
            </a:xfrm>
            <a:prstGeom prst="rect">
              <a:avLst/>
            </a:prstGeom>
          </p:spPr>
        </p:pic>
        <p:sp>
          <p:nvSpPr>
            <p:cNvPr id="822" name="Step 1 title">
              <a:extLst>
                <a:ext uri="{FF2B5EF4-FFF2-40B4-BE49-F238E27FC236}">
                  <a16:creationId xmlns:a16="http://schemas.microsoft.com/office/drawing/2014/main" id="{1136E7A5-F3A7-EBD7-3EE2-EBFE5845BBEB}"/>
                </a:ext>
              </a:extLst>
            </p:cNvPr>
            <p:cNvSpPr txBox="1"/>
            <p:nvPr/>
          </p:nvSpPr>
          <p:spPr>
            <a:xfrm>
              <a:off x="566928" y="2322576"/>
              <a:ext cx="135331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The AI factory arrives</a:t>
              </a:r>
            </a:p>
          </p:txBody>
        </p:sp>
        <p:sp>
          <p:nvSpPr>
            <p:cNvPr id="823" name="Step 1 desc">
              <a:extLst>
                <a:ext uri="{FF2B5EF4-FFF2-40B4-BE49-F238E27FC236}">
                  <a16:creationId xmlns:a16="http://schemas.microsoft.com/office/drawing/2014/main" id="{4073F341-6309-C4BA-1748-FA8C6FE506A1}"/>
                </a:ext>
              </a:extLst>
            </p:cNvPr>
            <p:cNvSpPr txBox="1"/>
            <p:nvPr/>
          </p:nvSpPr>
          <p:spPr>
            <a:xfrm>
              <a:off x="566928" y="2743200"/>
              <a:ext cx="1353312" cy="4154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GPUs, </a:t>
              </a:r>
              <a:r>
                <a:rPr lang="en-US" sz="900" b="0" i="0" dirty="0">
                  <a:solidFill>
                    <a:srgbClr val="4B5650"/>
                  </a:solidFill>
                  <a:latin typeface="Calibri"/>
                </a:rPr>
                <a:t>Inferencing</a:t>
              </a:r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, Arabic-capable models, vector store.</a:t>
              </a:r>
            </a:p>
          </p:txBody>
        </p:sp>
        <p:sp>
          <p:nvSpPr>
            <p:cNvPr id="824" name="Tag CAPEX COMMITTED">
              <a:extLst>
                <a:ext uri="{FF2B5EF4-FFF2-40B4-BE49-F238E27FC236}">
                  <a16:creationId xmlns:a16="http://schemas.microsoft.com/office/drawing/2014/main" id="{7FD42463-A041-A525-F4CB-1814CDDE317C}"/>
                </a:ext>
              </a:extLst>
            </p:cNvPr>
            <p:cNvSpPr/>
            <p:nvPr/>
          </p:nvSpPr>
          <p:spPr>
            <a:xfrm>
              <a:off x="566928" y="3401568"/>
              <a:ext cx="1335024" cy="18288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6B7069"/>
                  </a:solidFill>
                  <a:latin typeface="Calibri"/>
                </a:rPr>
                <a:t>CAPEX COMMITTED</a:t>
              </a:r>
            </a:p>
          </p:txBody>
        </p:sp>
      </p:grpSp>
      <p:grpSp>
        <p:nvGrpSpPr>
          <p:cNvPr id="3" name="Story step 2">
            <a:extLst>
              <a:ext uri="{FF2B5EF4-FFF2-40B4-BE49-F238E27FC236}">
                <a16:creationId xmlns:a16="http://schemas.microsoft.com/office/drawing/2014/main" id="{08F0ED61-9B3E-E81C-6D69-C5B2E9F9C23D}"/>
              </a:ext>
            </a:extLst>
          </p:cNvPr>
          <p:cNvGrpSpPr/>
          <p:nvPr/>
        </p:nvGrpSpPr>
        <p:grpSpPr>
          <a:xfrm>
            <a:off x="1380744" y="1152144"/>
            <a:ext cx="2295144" cy="2523744"/>
            <a:chOff x="1380744" y="1152144"/>
            <a:chExt cx="2295144" cy="2523744"/>
          </a:xfrm>
        </p:grpSpPr>
        <p:cxnSp>
          <p:nvCxnSpPr>
            <p:cNvPr id="825" name="Story path">
              <a:extLst>
                <a:ext uri="{FF2B5EF4-FFF2-40B4-BE49-F238E27FC236}">
                  <a16:creationId xmlns:a16="http://schemas.microsoft.com/office/drawing/2014/main" id="{DEDCBC7C-B179-DFF9-8346-614E98C0BBEB}"/>
                </a:ext>
              </a:extLst>
            </p:cNvPr>
            <p:cNvCxnSpPr/>
            <p:nvPr/>
          </p:nvCxnSpPr>
          <p:spPr>
            <a:xfrm>
              <a:off x="1380744" y="1298448"/>
              <a:ext cx="1371600" cy="0"/>
            </a:xfrm>
            <a:prstGeom prst="line">
              <a:avLst/>
            </a:prstGeom>
            <a:ln w="22225">
              <a:solidFill>
                <a:srgbClr val="001408"/>
              </a:solidFill>
            </a:ln>
          </p:spPr>
        </p:cxnSp>
        <p:sp>
          <p:nvSpPr>
            <p:cNvPr id="826" name="Step 2 node">
              <a:extLst>
                <a:ext uri="{FF2B5EF4-FFF2-40B4-BE49-F238E27FC236}">
                  <a16:creationId xmlns:a16="http://schemas.microsoft.com/office/drawing/2014/main" id="{5112225C-221B-A38A-00B7-99889C3CB720}"/>
                </a:ext>
              </a:extLst>
            </p:cNvPr>
            <p:cNvSpPr/>
            <p:nvPr/>
          </p:nvSpPr>
          <p:spPr>
            <a:xfrm>
              <a:off x="2752344" y="1152144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7" name="Step 2 number">
              <a:extLst>
                <a:ext uri="{FF2B5EF4-FFF2-40B4-BE49-F238E27FC236}">
                  <a16:creationId xmlns:a16="http://schemas.microsoft.com/office/drawing/2014/main" id="{EDBA3AE7-45B0-4A48-3F26-929EF943519C}"/>
                </a:ext>
              </a:extLst>
            </p:cNvPr>
            <p:cNvSpPr txBox="1"/>
            <p:nvPr/>
          </p:nvSpPr>
          <p:spPr>
            <a:xfrm>
              <a:off x="2752344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828" name="Step 2 card">
              <a:extLst>
                <a:ext uri="{FF2B5EF4-FFF2-40B4-BE49-F238E27FC236}">
                  <a16:creationId xmlns:a16="http://schemas.microsoft.com/office/drawing/2014/main" id="{07CFE169-CBB5-34C3-BE0D-ACA1888F7DD1}"/>
                </a:ext>
              </a:extLst>
            </p:cNvPr>
            <p:cNvSpPr/>
            <p:nvPr/>
          </p:nvSpPr>
          <p:spPr>
            <a:xfrm>
              <a:off x="2121408" y="1572768"/>
              <a:ext cx="1554480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9" name="Step 2 label">
              <a:extLst>
                <a:ext uri="{FF2B5EF4-FFF2-40B4-BE49-F238E27FC236}">
                  <a16:creationId xmlns:a16="http://schemas.microsoft.com/office/drawing/2014/main" id="{5AB4783B-A4AF-0A74-AFBE-35D7042AFB91}"/>
                </a:ext>
              </a:extLst>
            </p:cNvPr>
            <p:cNvSpPr txBox="1"/>
            <p:nvPr/>
          </p:nvSpPr>
          <p:spPr>
            <a:xfrm>
              <a:off x="2231136" y="1645920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STEP 2  ·  BUILD</a:t>
              </a:r>
            </a:p>
          </p:txBody>
        </p:sp>
        <p:sp>
          <p:nvSpPr>
            <p:cNvPr id="830" name="Step 2 badge badge">
              <a:extLst>
                <a:ext uri="{FF2B5EF4-FFF2-40B4-BE49-F238E27FC236}">
                  <a16:creationId xmlns:a16="http://schemas.microsoft.com/office/drawing/2014/main" id="{BED72E19-D5D1-74BA-37FC-47AD12882A82}"/>
                </a:ext>
              </a:extLst>
            </p:cNvPr>
            <p:cNvSpPr/>
            <p:nvPr/>
          </p:nvSpPr>
          <p:spPr>
            <a:xfrm>
              <a:off x="2231136" y="1847088"/>
              <a:ext cx="402336" cy="402336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1" name="Step 2 badge icon" descr="image.png">
              <a:extLst>
                <a:ext uri="{FF2B5EF4-FFF2-40B4-BE49-F238E27FC236}">
                  <a16:creationId xmlns:a16="http://schemas.microsoft.com/office/drawing/2014/main" id="{C8661A62-D8A3-2E5D-D9AB-2131A8939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7696" y="1943648"/>
              <a:ext cx="209214" cy="209214"/>
            </a:xfrm>
            <a:prstGeom prst="rect">
              <a:avLst/>
            </a:prstGeom>
          </p:spPr>
        </p:pic>
        <p:sp>
          <p:nvSpPr>
            <p:cNvPr id="832" name="Step 2 title">
              <a:extLst>
                <a:ext uri="{FF2B5EF4-FFF2-40B4-BE49-F238E27FC236}">
                  <a16:creationId xmlns:a16="http://schemas.microsoft.com/office/drawing/2014/main" id="{38D9C6DB-61F5-5FF1-DB16-D2095067BE89}"/>
                </a:ext>
              </a:extLst>
            </p:cNvPr>
            <p:cNvSpPr txBox="1"/>
            <p:nvPr/>
          </p:nvSpPr>
          <p:spPr>
            <a:xfrm>
              <a:off x="2231136" y="2322576"/>
              <a:ext cx="135331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The AI team gets to work</a:t>
              </a:r>
            </a:p>
          </p:txBody>
        </p:sp>
        <p:sp>
          <p:nvSpPr>
            <p:cNvPr id="833" name="Step 2 desc">
              <a:extLst>
                <a:ext uri="{FF2B5EF4-FFF2-40B4-BE49-F238E27FC236}">
                  <a16:creationId xmlns:a16="http://schemas.microsoft.com/office/drawing/2014/main" id="{45448C32-2189-A3C8-916A-024AFA4128E6}"/>
                </a:ext>
              </a:extLst>
            </p:cNvPr>
            <p:cNvSpPr txBox="1"/>
            <p:nvPr/>
          </p:nvSpPr>
          <p:spPr>
            <a:xfrm>
              <a:off x="2231136" y="2743200"/>
              <a:ext cx="1353312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Twelve generative and agentic use cases built by the teams.</a:t>
              </a:r>
            </a:p>
          </p:txBody>
        </p:sp>
        <p:sp>
          <p:nvSpPr>
            <p:cNvPr id="834" name="Tag MOMENTUM">
              <a:extLst>
                <a:ext uri="{FF2B5EF4-FFF2-40B4-BE49-F238E27FC236}">
                  <a16:creationId xmlns:a16="http://schemas.microsoft.com/office/drawing/2014/main" id="{067DFD48-F4E5-2011-3F55-AB543BD286A9}"/>
                </a:ext>
              </a:extLst>
            </p:cNvPr>
            <p:cNvSpPr/>
            <p:nvPr/>
          </p:nvSpPr>
          <p:spPr>
            <a:xfrm>
              <a:off x="2231136" y="3401568"/>
              <a:ext cx="1335024" cy="18288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4A8500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4A8500"/>
                  </a:solidFill>
                  <a:latin typeface="Calibri"/>
                </a:rPr>
                <a:t>MOMENTUM</a:t>
              </a:r>
            </a:p>
          </p:txBody>
        </p:sp>
      </p:grpSp>
      <p:grpSp>
        <p:nvGrpSpPr>
          <p:cNvPr id="4" name="Story step 3">
            <a:extLst>
              <a:ext uri="{FF2B5EF4-FFF2-40B4-BE49-F238E27FC236}">
                <a16:creationId xmlns:a16="http://schemas.microsoft.com/office/drawing/2014/main" id="{FFBE2911-983B-5F7E-80D3-F594D684B271}"/>
              </a:ext>
            </a:extLst>
          </p:cNvPr>
          <p:cNvGrpSpPr/>
          <p:nvPr/>
        </p:nvGrpSpPr>
        <p:grpSpPr>
          <a:xfrm>
            <a:off x="3044952" y="1152144"/>
            <a:ext cx="2295144" cy="2523744"/>
            <a:chOff x="3044952" y="1152144"/>
            <a:chExt cx="2295144" cy="2523744"/>
          </a:xfrm>
        </p:grpSpPr>
        <p:cxnSp>
          <p:nvCxnSpPr>
            <p:cNvPr id="835" name="Story path">
              <a:extLst>
                <a:ext uri="{FF2B5EF4-FFF2-40B4-BE49-F238E27FC236}">
                  <a16:creationId xmlns:a16="http://schemas.microsoft.com/office/drawing/2014/main" id="{38EF7951-DDF7-E79F-DF9F-91EC350FEC86}"/>
                </a:ext>
              </a:extLst>
            </p:cNvPr>
            <p:cNvCxnSpPr/>
            <p:nvPr/>
          </p:nvCxnSpPr>
          <p:spPr>
            <a:xfrm>
              <a:off x="3044952" y="1298448"/>
              <a:ext cx="1371600" cy="0"/>
            </a:xfrm>
            <a:prstGeom prst="line">
              <a:avLst/>
            </a:prstGeom>
            <a:ln w="22225">
              <a:solidFill>
                <a:srgbClr val="C8553D"/>
              </a:solidFill>
            </a:ln>
          </p:spPr>
        </p:cxnSp>
        <p:sp>
          <p:nvSpPr>
            <p:cNvPr id="836" name="Step 3 node">
              <a:extLst>
                <a:ext uri="{FF2B5EF4-FFF2-40B4-BE49-F238E27FC236}">
                  <a16:creationId xmlns:a16="http://schemas.microsoft.com/office/drawing/2014/main" id="{575B74EF-6DE1-4611-4765-AA54091A2D6D}"/>
                </a:ext>
              </a:extLst>
            </p:cNvPr>
            <p:cNvSpPr/>
            <p:nvPr/>
          </p:nvSpPr>
          <p:spPr>
            <a:xfrm>
              <a:off x="4416552" y="1152144"/>
              <a:ext cx="292608" cy="292608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7" name="Step 3 number">
              <a:extLst>
                <a:ext uri="{FF2B5EF4-FFF2-40B4-BE49-F238E27FC236}">
                  <a16:creationId xmlns:a16="http://schemas.microsoft.com/office/drawing/2014/main" id="{348BA92D-0125-AB3B-2449-3D6C51148C80}"/>
                </a:ext>
              </a:extLst>
            </p:cNvPr>
            <p:cNvSpPr txBox="1"/>
            <p:nvPr/>
          </p:nvSpPr>
          <p:spPr>
            <a:xfrm>
              <a:off x="4416552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838" name="Step 3 card">
              <a:extLst>
                <a:ext uri="{FF2B5EF4-FFF2-40B4-BE49-F238E27FC236}">
                  <a16:creationId xmlns:a16="http://schemas.microsoft.com/office/drawing/2014/main" id="{2888EE11-B70B-CB43-08CA-A078039A23DD}"/>
                </a:ext>
              </a:extLst>
            </p:cNvPr>
            <p:cNvSpPr/>
            <p:nvPr/>
          </p:nvSpPr>
          <p:spPr>
            <a:xfrm>
              <a:off x="3785616" y="1572768"/>
              <a:ext cx="1554480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9" name="Step 3 label">
              <a:extLst>
                <a:ext uri="{FF2B5EF4-FFF2-40B4-BE49-F238E27FC236}">
                  <a16:creationId xmlns:a16="http://schemas.microsoft.com/office/drawing/2014/main" id="{DCD40E34-B98A-5D4A-C17E-0F142DBEF35C}"/>
                </a:ext>
              </a:extLst>
            </p:cNvPr>
            <p:cNvSpPr txBox="1"/>
            <p:nvPr/>
          </p:nvSpPr>
          <p:spPr>
            <a:xfrm>
              <a:off x="3895344" y="1645920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C8553D"/>
                  </a:solidFill>
                  <a:latin typeface="Calibri"/>
                </a:rPr>
                <a:t>STEP 3  ·  PILOT</a:t>
              </a:r>
            </a:p>
          </p:txBody>
        </p:sp>
        <p:sp>
          <p:nvSpPr>
            <p:cNvPr id="840" name="Step 3 badge badge">
              <a:extLst>
                <a:ext uri="{FF2B5EF4-FFF2-40B4-BE49-F238E27FC236}">
                  <a16:creationId xmlns:a16="http://schemas.microsoft.com/office/drawing/2014/main" id="{E7FBFD76-AA30-1484-65F2-3C68FA98D0F1}"/>
                </a:ext>
              </a:extLst>
            </p:cNvPr>
            <p:cNvSpPr/>
            <p:nvPr/>
          </p:nvSpPr>
          <p:spPr>
            <a:xfrm>
              <a:off x="3895344" y="1847088"/>
              <a:ext cx="402336" cy="402336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1" name="Step 3 badge icon" descr="image.png">
              <a:extLst>
                <a:ext uri="{FF2B5EF4-FFF2-40B4-BE49-F238E27FC236}">
                  <a16:creationId xmlns:a16="http://schemas.microsoft.com/office/drawing/2014/main" id="{26E7D6F1-D1C7-18DF-E911-D0402D1BD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1904" y="1943648"/>
              <a:ext cx="209214" cy="209214"/>
            </a:xfrm>
            <a:prstGeom prst="rect">
              <a:avLst/>
            </a:prstGeom>
          </p:spPr>
        </p:pic>
        <p:sp>
          <p:nvSpPr>
            <p:cNvPr id="842" name="Step 3 title">
              <a:extLst>
                <a:ext uri="{FF2B5EF4-FFF2-40B4-BE49-F238E27FC236}">
                  <a16:creationId xmlns:a16="http://schemas.microsoft.com/office/drawing/2014/main" id="{0C87F28F-1C4B-CC00-B6F8-43E0B6B5E5E2}"/>
                </a:ext>
              </a:extLst>
            </p:cNvPr>
            <p:cNvSpPr txBox="1"/>
            <p:nvPr/>
          </p:nvSpPr>
          <p:spPr>
            <a:xfrm>
              <a:off x="3895344" y="2322576"/>
              <a:ext cx="135331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Pilots prove value fast</a:t>
              </a:r>
            </a:p>
          </p:txBody>
        </p:sp>
        <p:sp>
          <p:nvSpPr>
            <p:cNvPr id="843" name="Step 3 desc">
              <a:extLst>
                <a:ext uri="{FF2B5EF4-FFF2-40B4-BE49-F238E27FC236}">
                  <a16:creationId xmlns:a16="http://schemas.microsoft.com/office/drawing/2014/main" id="{8176C9E4-A8C1-CFCE-246C-89F50CE3E862}"/>
                </a:ext>
              </a:extLst>
            </p:cNvPr>
            <p:cNvSpPr txBox="1"/>
            <p:nvPr/>
          </p:nvSpPr>
          <p:spPr>
            <a:xfrm>
              <a:off x="3895344" y="2743200"/>
              <a:ext cx="1353312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Direct model calls, shared keys, </a:t>
              </a:r>
              <a:r>
                <a:rPr lang="en-US" sz="900" b="0" i="0" dirty="0">
                  <a:solidFill>
                    <a:srgbClr val="4B5650"/>
                  </a:solidFill>
                  <a:latin typeface="Calibri"/>
                </a:rPr>
                <a:t>no availability, no observability, and </a:t>
              </a:r>
              <a:r>
                <a:rPr sz="900" b="0" i="0" dirty="0">
                  <a:solidFill>
                    <a:srgbClr val="4B5650"/>
                  </a:solidFill>
                  <a:latin typeface="Calibri"/>
                </a:rPr>
                <a:t>no guardrails</a:t>
              </a:r>
              <a:r>
                <a:rPr lang="en-US" sz="900" dirty="0">
                  <a:solidFill>
                    <a:srgbClr val="4B5650"/>
                  </a:solidFill>
                  <a:latin typeface="Calibri"/>
                </a:rPr>
                <a:t>.</a:t>
              </a:r>
              <a:endParaRPr sz="900" b="0" i="0" dirty="0">
                <a:solidFill>
                  <a:srgbClr val="4B5650"/>
                </a:solidFill>
                <a:latin typeface="Calibri"/>
              </a:endParaRPr>
            </a:p>
          </p:txBody>
        </p:sp>
        <p:sp>
          <p:nvSpPr>
            <p:cNvPr id="844" name="Tag HIDDEN RISK">
              <a:extLst>
                <a:ext uri="{FF2B5EF4-FFF2-40B4-BE49-F238E27FC236}">
                  <a16:creationId xmlns:a16="http://schemas.microsoft.com/office/drawing/2014/main" id="{169E1AD1-BE43-AD00-34FA-4772DD571521}"/>
                </a:ext>
              </a:extLst>
            </p:cNvPr>
            <p:cNvSpPr/>
            <p:nvPr/>
          </p:nvSpPr>
          <p:spPr>
            <a:xfrm>
              <a:off x="3895344" y="3401568"/>
              <a:ext cx="1335024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C8553D"/>
                  </a:solidFill>
                  <a:latin typeface="Calibri"/>
                </a:rPr>
                <a:t>HIDDEN RISK</a:t>
              </a:r>
            </a:p>
          </p:txBody>
        </p:sp>
      </p:grpSp>
      <p:grpSp>
        <p:nvGrpSpPr>
          <p:cNvPr id="5" name="Story step 4">
            <a:extLst>
              <a:ext uri="{FF2B5EF4-FFF2-40B4-BE49-F238E27FC236}">
                <a16:creationId xmlns:a16="http://schemas.microsoft.com/office/drawing/2014/main" id="{8EDE379E-9FE9-044C-88B6-C74A269CE8F7}"/>
              </a:ext>
            </a:extLst>
          </p:cNvPr>
          <p:cNvGrpSpPr/>
          <p:nvPr/>
        </p:nvGrpSpPr>
        <p:grpSpPr>
          <a:xfrm>
            <a:off x="4709160" y="1152144"/>
            <a:ext cx="2295144" cy="2523744"/>
            <a:chOff x="4709160" y="1152144"/>
            <a:chExt cx="2295144" cy="2523744"/>
          </a:xfrm>
        </p:grpSpPr>
        <p:cxnSp>
          <p:nvCxnSpPr>
            <p:cNvPr id="845" name="Story path">
              <a:extLst>
                <a:ext uri="{FF2B5EF4-FFF2-40B4-BE49-F238E27FC236}">
                  <a16:creationId xmlns:a16="http://schemas.microsoft.com/office/drawing/2014/main" id="{9DAFEFDE-8397-C425-1640-03729DC86914}"/>
                </a:ext>
              </a:extLst>
            </p:cNvPr>
            <p:cNvCxnSpPr/>
            <p:nvPr/>
          </p:nvCxnSpPr>
          <p:spPr>
            <a:xfrm>
              <a:off x="4709160" y="1298448"/>
              <a:ext cx="1371599" cy="0"/>
            </a:xfrm>
            <a:prstGeom prst="line">
              <a:avLst/>
            </a:prstGeom>
            <a:ln w="22225">
              <a:solidFill>
                <a:srgbClr val="C8553D"/>
              </a:solidFill>
            </a:ln>
          </p:spPr>
        </p:cxnSp>
        <p:sp>
          <p:nvSpPr>
            <p:cNvPr id="846" name="Step 4 node">
              <a:extLst>
                <a:ext uri="{FF2B5EF4-FFF2-40B4-BE49-F238E27FC236}">
                  <a16:creationId xmlns:a16="http://schemas.microsoft.com/office/drawing/2014/main" id="{970AF1C8-D73F-C444-2686-59C884B5589A}"/>
                </a:ext>
              </a:extLst>
            </p:cNvPr>
            <p:cNvSpPr/>
            <p:nvPr/>
          </p:nvSpPr>
          <p:spPr>
            <a:xfrm>
              <a:off x="6080759" y="1152144"/>
              <a:ext cx="292608" cy="292608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7" name="Step 4 number">
              <a:extLst>
                <a:ext uri="{FF2B5EF4-FFF2-40B4-BE49-F238E27FC236}">
                  <a16:creationId xmlns:a16="http://schemas.microsoft.com/office/drawing/2014/main" id="{4752F302-F612-9EE9-0DD2-CC393B12A956}"/>
                </a:ext>
              </a:extLst>
            </p:cNvPr>
            <p:cNvSpPr txBox="1"/>
            <p:nvPr/>
          </p:nvSpPr>
          <p:spPr>
            <a:xfrm>
              <a:off x="6080759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848" name="Step 4 card">
              <a:extLst>
                <a:ext uri="{FF2B5EF4-FFF2-40B4-BE49-F238E27FC236}">
                  <a16:creationId xmlns:a16="http://schemas.microsoft.com/office/drawing/2014/main" id="{663F13FA-72D5-09F0-7E79-9D449112BB39}"/>
                </a:ext>
              </a:extLst>
            </p:cNvPr>
            <p:cNvSpPr/>
            <p:nvPr/>
          </p:nvSpPr>
          <p:spPr>
            <a:xfrm>
              <a:off x="5449824" y="1572768"/>
              <a:ext cx="1554480" cy="21031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9" name="Step 4 label">
              <a:extLst>
                <a:ext uri="{FF2B5EF4-FFF2-40B4-BE49-F238E27FC236}">
                  <a16:creationId xmlns:a16="http://schemas.microsoft.com/office/drawing/2014/main" id="{19FB3116-AC7B-35D4-8461-80AC454C6A79}"/>
                </a:ext>
              </a:extLst>
            </p:cNvPr>
            <p:cNvSpPr txBox="1"/>
            <p:nvPr/>
          </p:nvSpPr>
          <p:spPr>
            <a:xfrm>
              <a:off x="5559552" y="1645920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C8553D"/>
                  </a:solidFill>
                  <a:latin typeface="Calibri"/>
                </a:rPr>
                <a:t>STEP 4  ·  PRODUCTION GATE</a:t>
              </a:r>
            </a:p>
          </p:txBody>
        </p:sp>
        <p:sp>
          <p:nvSpPr>
            <p:cNvPr id="850" name="Step 4 badge badge">
              <a:extLst>
                <a:ext uri="{FF2B5EF4-FFF2-40B4-BE49-F238E27FC236}">
                  <a16:creationId xmlns:a16="http://schemas.microsoft.com/office/drawing/2014/main" id="{DFCCE450-07A6-2149-334F-432256DFD3B6}"/>
                </a:ext>
              </a:extLst>
            </p:cNvPr>
            <p:cNvSpPr/>
            <p:nvPr/>
          </p:nvSpPr>
          <p:spPr>
            <a:xfrm>
              <a:off x="5559552" y="1847088"/>
              <a:ext cx="402336" cy="402336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1" name="Step 4 badge icon" descr="image.png">
              <a:extLst>
                <a:ext uri="{FF2B5EF4-FFF2-40B4-BE49-F238E27FC236}">
                  <a16:creationId xmlns:a16="http://schemas.microsoft.com/office/drawing/2014/main" id="{A874411B-BA84-0AF4-E74A-C411C90C6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6112" y="1943648"/>
              <a:ext cx="209214" cy="209214"/>
            </a:xfrm>
            <a:prstGeom prst="rect">
              <a:avLst/>
            </a:prstGeom>
          </p:spPr>
        </p:pic>
        <p:sp>
          <p:nvSpPr>
            <p:cNvPr id="852" name="Step 4 title">
              <a:extLst>
                <a:ext uri="{FF2B5EF4-FFF2-40B4-BE49-F238E27FC236}">
                  <a16:creationId xmlns:a16="http://schemas.microsoft.com/office/drawing/2014/main" id="{ED109A80-AB83-A33D-B1F3-35E70FD1EDA8}"/>
                </a:ext>
              </a:extLst>
            </p:cNvPr>
            <p:cNvSpPr txBox="1"/>
            <p:nvPr/>
          </p:nvSpPr>
          <p:spPr>
            <a:xfrm>
              <a:off x="5559552" y="2322576"/>
              <a:ext cx="135331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Security and risk say: not yet</a:t>
              </a:r>
            </a:p>
          </p:txBody>
        </p:sp>
        <p:sp>
          <p:nvSpPr>
            <p:cNvPr id="853" name="Step 4 desc">
              <a:extLst>
                <a:ext uri="{FF2B5EF4-FFF2-40B4-BE49-F238E27FC236}">
                  <a16:creationId xmlns:a16="http://schemas.microsoft.com/office/drawing/2014/main" id="{663CB4E5-D60B-8022-E94B-F5090AA883EC}"/>
                </a:ext>
              </a:extLst>
            </p:cNvPr>
            <p:cNvSpPr txBox="1"/>
            <p:nvPr/>
          </p:nvSpPr>
          <p:spPr>
            <a:xfrm>
              <a:off x="5559552" y="2743200"/>
              <a:ext cx="1353312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Who calls what, with what data, under which controls, at what cost?</a:t>
              </a:r>
            </a:p>
          </p:txBody>
        </p:sp>
        <p:sp>
          <p:nvSpPr>
            <p:cNvPr id="854" name="Tag USE CASES STALL">
              <a:extLst>
                <a:ext uri="{FF2B5EF4-FFF2-40B4-BE49-F238E27FC236}">
                  <a16:creationId xmlns:a16="http://schemas.microsoft.com/office/drawing/2014/main" id="{2A5B1529-552B-2F5A-2455-F0F0D590B665}"/>
                </a:ext>
              </a:extLst>
            </p:cNvPr>
            <p:cNvSpPr/>
            <p:nvPr/>
          </p:nvSpPr>
          <p:spPr>
            <a:xfrm>
              <a:off x="5559552" y="3401568"/>
              <a:ext cx="1335024" cy="182880"/>
            </a:xfrm>
            <a:prstGeom prst="roundRect">
              <a:avLst>
                <a:gd name="adj" fmla="val 50000"/>
              </a:avLst>
            </a:prstGeom>
            <a:solidFill>
              <a:srgbClr val="C8553D"/>
            </a:solidFill>
            <a:ln w="9525">
              <a:solidFill>
                <a:srgbClr val="C8553D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Calibri"/>
                </a:rPr>
                <a:t>USE CASES STALL</a:t>
              </a:r>
            </a:p>
          </p:txBody>
        </p:sp>
      </p:grpSp>
      <p:grpSp>
        <p:nvGrpSpPr>
          <p:cNvPr id="6" name="Story step 5">
            <a:extLst>
              <a:ext uri="{FF2B5EF4-FFF2-40B4-BE49-F238E27FC236}">
                <a16:creationId xmlns:a16="http://schemas.microsoft.com/office/drawing/2014/main" id="{BDAB1838-8780-E21B-F8AE-11352A201AC8}"/>
              </a:ext>
            </a:extLst>
          </p:cNvPr>
          <p:cNvGrpSpPr/>
          <p:nvPr/>
        </p:nvGrpSpPr>
        <p:grpSpPr>
          <a:xfrm>
            <a:off x="6373368" y="1152144"/>
            <a:ext cx="2295144" cy="2523744"/>
            <a:chOff x="6373368" y="1152144"/>
            <a:chExt cx="2295144" cy="2523744"/>
          </a:xfrm>
        </p:grpSpPr>
        <p:cxnSp>
          <p:nvCxnSpPr>
            <p:cNvPr id="855" name="Story path">
              <a:extLst>
                <a:ext uri="{FF2B5EF4-FFF2-40B4-BE49-F238E27FC236}">
                  <a16:creationId xmlns:a16="http://schemas.microsoft.com/office/drawing/2014/main" id="{3FE6D08F-CBC7-A4DE-F75B-E3676895A3A8}"/>
                </a:ext>
              </a:extLst>
            </p:cNvPr>
            <p:cNvCxnSpPr/>
            <p:nvPr/>
          </p:nvCxnSpPr>
          <p:spPr>
            <a:xfrm>
              <a:off x="6373368" y="1298448"/>
              <a:ext cx="1371600" cy="0"/>
            </a:xfrm>
            <a:prstGeom prst="line">
              <a:avLst/>
            </a:prstGeom>
            <a:ln w="22225">
              <a:solidFill>
                <a:srgbClr val="4A8500"/>
              </a:solidFill>
            </a:ln>
          </p:spPr>
        </p:cxnSp>
        <p:sp>
          <p:nvSpPr>
            <p:cNvPr id="856" name="Step 5 node">
              <a:extLst>
                <a:ext uri="{FF2B5EF4-FFF2-40B4-BE49-F238E27FC236}">
                  <a16:creationId xmlns:a16="http://schemas.microsoft.com/office/drawing/2014/main" id="{E4F9063F-0503-C6AB-D91A-292194344BB1}"/>
                </a:ext>
              </a:extLst>
            </p:cNvPr>
            <p:cNvSpPr/>
            <p:nvPr/>
          </p:nvSpPr>
          <p:spPr>
            <a:xfrm>
              <a:off x="7744968" y="1152144"/>
              <a:ext cx="292608" cy="292608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7" name="Step 5 number">
              <a:extLst>
                <a:ext uri="{FF2B5EF4-FFF2-40B4-BE49-F238E27FC236}">
                  <a16:creationId xmlns:a16="http://schemas.microsoft.com/office/drawing/2014/main" id="{B1F9EAB4-7208-EC47-A1D1-40A56F382486}"/>
                </a:ext>
              </a:extLst>
            </p:cNvPr>
            <p:cNvSpPr txBox="1"/>
            <p:nvPr/>
          </p:nvSpPr>
          <p:spPr>
            <a:xfrm>
              <a:off x="7744968" y="1152144"/>
              <a:ext cx="292608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>
                  <a:solidFill>
                    <a:srgbClr val="001408"/>
                  </a:solidFill>
                  <a:latin typeface="Calibri"/>
                </a:rPr>
                <a:t>5</a:t>
              </a:r>
            </a:p>
          </p:txBody>
        </p:sp>
        <p:sp>
          <p:nvSpPr>
            <p:cNvPr id="858" name="Step 5 card">
              <a:extLst>
                <a:ext uri="{FF2B5EF4-FFF2-40B4-BE49-F238E27FC236}">
                  <a16:creationId xmlns:a16="http://schemas.microsoft.com/office/drawing/2014/main" id="{C7D7A937-D73A-990B-8CA4-C4FA4A0C5736}"/>
                </a:ext>
              </a:extLst>
            </p:cNvPr>
            <p:cNvSpPr/>
            <p:nvPr/>
          </p:nvSpPr>
          <p:spPr>
            <a:xfrm>
              <a:off x="7114032" y="1572768"/>
              <a:ext cx="1554480" cy="2103120"/>
            </a:xfrm>
            <a:prstGeom prst="roundRect">
              <a:avLst>
                <a:gd name="adj" fmla="val 5000"/>
              </a:avLst>
            </a:prstGeom>
            <a:solidFill>
              <a:srgbClr val="F7F9F4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9" name="Step 5 label">
              <a:extLst>
                <a:ext uri="{FF2B5EF4-FFF2-40B4-BE49-F238E27FC236}">
                  <a16:creationId xmlns:a16="http://schemas.microsoft.com/office/drawing/2014/main" id="{F4C71B13-C79F-0EFD-3325-B77548A161CC}"/>
                </a:ext>
              </a:extLst>
            </p:cNvPr>
            <p:cNvSpPr txBox="1"/>
            <p:nvPr/>
          </p:nvSpPr>
          <p:spPr>
            <a:xfrm>
              <a:off x="7223760" y="1645920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STEP 5  ·  SCALE</a:t>
              </a:r>
            </a:p>
          </p:txBody>
        </p:sp>
        <p:sp>
          <p:nvSpPr>
            <p:cNvPr id="860" name="Kong badge">
              <a:extLst>
                <a:ext uri="{FF2B5EF4-FFF2-40B4-BE49-F238E27FC236}">
                  <a16:creationId xmlns:a16="http://schemas.microsoft.com/office/drawing/2014/main" id="{7DA82BFD-CFAF-CBD5-0D65-E4F1917185E6}"/>
                </a:ext>
              </a:extLst>
            </p:cNvPr>
            <p:cNvSpPr/>
            <p:nvPr/>
          </p:nvSpPr>
          <p:spPr>
            <a:xfrm>
              <a:off x="7223760" y="1847088"/>
              <a:ext cx="402336" cy="402336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1" name="Picture 860" descr="image.png">
              <a:extLst>
                <a:ext uri="{FF2B5EF4-FFF2-40B4-BE49-F238E27FC236}">
                  <a16:creationId xmlns:a16="http://schemas.microsoft.com/office/drawing/2014/main" id="{95DD3412-46F1-1B73-E8D7-42E77645E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6056" y="1929384"/>
              <a:ext cx="237744" cy="212140"/>
            </a:xfrm>
            <a:prstGeom prst="rect">
              <a:avLst/>
            </a:prstGeom>
          </p:spPr>
        </p:pic>
        <p:sp>
          <p:nvSpPr>
            <p:cNvPr id="862" name="Step 5 title">
              <a:extLst>
                <a:ext uri="{FF2B5EF4-FFF2-40B4-BE49-F238E27FC236}">
                  <a16:creationId xmlns:a16="http://schemas.microsoft.com/office/drawing/2014/main" id="{BB9E2757-AE8D-AE27-1BC1-791B03341F35}"/>
                </a:ext>
              </a:extLst>
            </p:cNvPr>
            <p:cNvSpPr txBox="1"/>
            <p:nvPr/>
          </p:nvSpPr>
          <p:spPr>
            <a:xfrm>
              <a:off x="7223760" y="2322576"/>
              <a:ext cx="135331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50" b="1" i="0">
                  <a:solidFill>
                    <a:srgbClr val="001408"/>
                  </a:solidFill>
                  <a:latin typeface="Calibri"/>
                </a:rPr>
                <a:t>Kong adds the AI connectivity layer</a:t>
              </a:r>
            </a:p>
          </p:txBody>
        </p:sp>
        <p:sp>
          <p:nvSpPr>
            <p:cNvPr id="863" name="Step 5 desc">
              <a:extLst>
                <a:ext uri="{FF2B5EF4-FFF2-40B4-BE49-F238E27FC236}">
                  <a16:creationId xmlns:a16="http://schemas.microsoft.com/office/drawing/2014/main" id="{5C7F3C2D-FDC2-F997-69F9-E9A7C75F9127}"/>
                </a:ext>
              </a:extLst>
            </p:cNvPr>
            <p:cNvSpPr txBox="1"/>
            <p:nvPr/>
          </p:nvSpPr>
          <p:spPr>
            <a:xfrm>
              <a:off x="7223760" y="2743200"/>
              <a:ext cx="1353312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Removes the platform blockers: AI security, governance and tokenomics for every use case.</a:t>
              </a:r>
            </a:p>
          </p:txBody>
        </p:sp>
        <p:sp>
          <p:nvSpPr>
            <p:cNvPr id="864" name="Tag PRODUCTION AT SCALE">
              <a:extLst>
                <a:ext uri="{FF2B5EF4-FFF2-40B4-BE49-F238E27FC236}">
                  <a16:creationId xmlns:a16="http://schemas.microsoft.com/office/drawing/2014/main" id="{8B669197-0200-221D-855A-5AA9F1499089}"/>
                </a:ext>
              </a:extLst>
            </p:cNvPr>
            <p:cNvSpPr/>
            <p:nvPr/>
          </p:nvSpPr>
          <p:spPr>
            <a:xfrm>
              <a:off x="7223760" y="3401568"/>
              <a:ext cx="1335024" cy="182880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 w="9525">
              <a:solidFill>
                <a:srgbClr val="CCFF00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1000" b="1" i="0">
                  <a:solidFill>
                    <a:srgbClr val="001408"/>
                  </a:solidFill>
                  <a:latin typeface="Calibri"/>
                </a:rPr>
                <a:t>PRODUCTION AT SCALE</a:t>
              </a:r>
            </a:p>
          </p:txBody>
        </p:sp>
      </p:grpSp>
      <p:grpSp>
        <p:nvGrpSpPr>
          <p:cNvPr id="7" name="Cost of the gap">
            <a:extLst>
              <a:ext uri="{FF2B5EF4-FFF2-40B4-BE49-F238E27FC236}">
                <a16:creationId xmlns:a16="http://schemas.microsoft.com/office/drawing/2014/main" id="{7F83A594-C665-0D39-A676-E260428A17B8}"/>
              </a:ext>
            </a:extLst>
          </p:cNvPr>
          <p:cNvGrpSpPr/>
          <p:nvPr/>
        </p:nvGrpSpPr>
        <p:grpSpPr>
          <a:xfrm>
            <a:off x="457200" y="3785615"/>
            <a:ext cx="4087368" cy="841248"/>
            <a:chOff x="457200" y="3785615"/>
            <a:chExt cx="4087368" cy="841248"/>
          </a:xfrm>
        </p:grpSpPr>
        <p:sp>
          <p:nvSpPr>
            <p:cNvPr id="865" name="Cost band">
              <a:extLst>
                <a:ext uri="{FF2B5EF4-FFF2-40B4-BE49-F238E27FC236}">
                  <a16:creationId xmlns:a16="http://schemas.microsoft.com/office/drawing/2014/main" id="{9AA94F29-747A-17D5-61D5-9242C7AC8A84}"/>
                </a:ext>
              </a:extLst>
            </p:cNvPr>
            <p:cNvSpPr/>
            <p:nvPr/>
          </p:nvSpPr>
          <p:spPr>
            <a:xfrm>
              <a:off x="457200" y="3785615"/>
              <a:ext cx="4087368" cy="841248"/>
            </a:xfrm>
            <a:prstGeom prst="roundRect">
              <a:avLst>
                <a:gd name="adj" fmla="val 6000"/>
              </a:avLst>
            </a:prstGeom>
            <a:solidFill>
              <a:srgbClr val="FBECE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6" name="Label THE COST OF THE GAP TODAY">
              <a:extLst>
                <a:ext uri="{FF2B5EF4-FFF2-40B4-BE49-F238E27FC236}">
                  <a16:creationId xmlns:a16="http://schemas.microsoft.com/office/drawing/2014/main" id="{54EA631B-0F4E-E3FC-C7A1-2408DDE21F5B}"/>
                </a:ext>
              </a:extLst>
            </p:cNvPr>
            <p:cNvSpPr txBox="1"/>
            <p:nvPr/>
          </p:nvSpPr>
          <p:spPr>
            <a:xfrm>
              <a:off x="585216" y="3840480"/>
              <a:ext cx="27432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8553D"/>
                  </a:solidFill>
                  <a:latin typeface="Calibri"/>
                </a:rPr>
                <a:t>THE COST OF THE GAP TODAY</a:t>
              </a:r>
            </a:p>
          </p:txBody>
        </p:sp>
        <p:sp>
          <p:nvSpPr>
            <p:cNvPr id="867" name="Cost $180k">
              <a:extLst>
                <a:ext uri="{FF2B5EF4-FFF2-40B4-BE49-F238E27FC236}">
                  <a16:creationId xmlns:a16="http://schemas.microsoft.com/office/drawing/2014/main" id="{AC000211-1D5F-9CC0-E569-0A9D586A9DAF}"/>
                </a:ext>
              </a:extLst>
            </p:cNvPr>
            <p:cNvSpPr txBox="1"/>
            <p:nvPr/>
          </p:nvSpPr>
          <p:spPr>
            <a:xfrm>
              <a:off x="585216" y="3986784"/>
              <a:ext cx="1783080" cy="4389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1" i="0">
                  <a:solidFill>
                    <a:srgbClr val="C8553D"/>
                  </a:solidFill>
                  <a:latin typeface="Calibri"/>
                </a:rPr>
                <a:t>$1.2M</a:t>
              </a:r>
            </a:p>
          </p:txBody>
        </p:sp>
        <p:sp>
          <p:nvSpPr>
            <p:cNvPr id="868" name="Cost $180k label">
              <a:extLst>
                <a:ext uri="{FF2B5EF4-FFF2-40B4-BE49-F238E27FC236}">
                  <a16:creationId xmlns:a16="http://schemas.microsoft.com/office/drawing/2014/main" id="{12DE53E0-36D2-CC27-3E3D-BB637867AB03}"/>
                </a:ext>
              </a:extLst>
            </p:cNvPr>
            <p:cNvSpPr txBox="1"/>
            <p:nvPr/>
          </p:nvSpPr>
          <p:spPr>
            <a:xfrm>
              <a:off x="585216" y="4425696"/>
              <a:ext cx="1783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a month of use-case value on hold</a:t>
              </a:r>
            </a:p>
          </p:txBody>
        </p:sp>
        <p:sp>
          <p:nvSpPr>
            <p:cNvPr id="869" name="Cost 0%">
              <a:extLst>
                <a:ext uri="{FF2B5EF4-FFF2-40B4-BE49-F238E27FC236}">
                  <a16:creationId xmlns:a16="http://schemas.microsoft.com/office/drawing/2014/main" id="{2693385D-6637-C5D5-6124-806F995D11D6}"/>
                </a:ext>
              </a:extLst>
            </p:cNvPr>
            <p:cNvSpPr txBox="1"/>
            <p:nvPr/>
          </p:nvSpPr>
          <p:spPr>
            <a:xfrm>
              <a:off x="2505456" y="4023360"/>
              <a:ext cx="969264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i="0">
                  <a:solidFill>
                    <a:srgbClr val="C8553D"/>
                  </a:solidFill>
                  <a:latin typeface="Calibri"/>
                </a:rPr>
                <a:t>0%</a:t>
              </a:r>
            </a:p>
          </p:txBody>
        </p:sp>
        <p:sp>
          <p:nvSpPr>
            <p:cNvPr id="870" name="Cost 0% label">
              <a:extLst>
                <a:ext uri="{FF2B5EF4-FFF2-40B4-BE49-F238E27FC236}">
                  <a16:creationId xmlns:a16="http://schemas.microsoft.com/office/drawing/2014/main" id="{0BBF3AD6-4B5B-923E-E708-64FF116B0FDA}"/>
                </a:ext>
              </a:extLst>
            </p:cNvPr>
            <p:cNvSpPr txBox="1"/>
            <p:nvPr/>
          </p:nvSpPr>
          <p:spPr>
            <a:xfrm>
              <a:off x="2505456" y="4315968"/>
              <a:ext cx="9692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4B5650"/>
                  </a:solidFill>
                  <a:latin typeface="Calibri"/>
                </a:rPr>
                <a:t>of prompts checked before a model</a:t>
              </a:r>
            </a:p>
          </p:txBody>
        </p:sp>
        <p:sp>
          <p:nvSpPr>
            <p:cNvPr id="871" name="Cost 0%">
              <a:extLst>
                <a:ext uri="{FF2B5EF4-FFF2-40B4-BE49-F238E27FC236}">
                  <a16:creationId xmlns:a16="http://schemas.microsoft.com/office/drawing/2014/main" id="{0ADBEAE1-7C32-4302-9CEA-A0CA6AFFEA2D}"/>
                </a:ext>
              </a:extLst>
            </p:cNvPr>
            <p:cNvSpPr txBox="1"/>
            <p:nvPr/>
          </p:nvSpPr>
          <p:spPr>
            <a:xfrm>
              <a:off x="3529584" y="4023360"/>
              <a:ext cx="969264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i="0">
                  <a:solidFill>
                    <a:srgbClr val="C8553D"/>
                  </a:solidFill>
                  <a:latin typeface="Calibri"/>
                </a:rPr>
                <a:t>0%</a:t>
              </a:r>
            </a:p>
          </p:txBody>
        </p:sp>
        <p:sp>
          <p:nvSpPr>
            <p:cNvPr id="872" name="Cost 0% label">
              <a:extLst>
                <a:ext uri="{FF2B5EF4-FFF2-40B4-BE49-F238E27FC236}">
                  <a16:creationId xmlns:a16="http://schemas.microsoft.com/office/drawing/2014/main" id="{99A5C095-FD6D-6979-2D07-B63450C9A537}"/>
                </a:ext>
              </a:extLst>
            </p:cNvPr>
            <p:cNvSpPr txBox="1"/>
            <p:nvPr/>
          </p:nvSpPr>
          <p:spPr>
            <a:xfrm>
              <a:off x="3529584" y="4315968"/>
              <a:ext cx="9692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4B5650"/>
                  </a:solidFill>
                  <a:latin typeface="Calibri"/>
                </a:rPr>
                <a:t>of tokens owned by a use case</a:t>
              </a:r>
            </a:p>
          </p:txBody>
        </p:sp>
      </p:grpSp>
      <p:grpSp>
        <p:nvGrpSpPr>
          <p:cNvPr id="8" name="With Kong">
            <a:extLst>
              <a:ext uri="{FF2B5EF4-FFF2-40B4-BE49-F238E27FC236}">
                <a16:creationId xmlns:a16="http://schemas.microsoft.com/office/drawing/2014/main" id="{7F27BFBF-34B1-2D81-FACC-F8504F56EBCA}"/>
              </a:ext>
            </a:extLst>
          </p:cNvPr>
          <p:cNvGrpSpPr/>
          <p:nvPr/>
        </p:nvGrpSpPr>
        <p:grpSpPr>
          <a:xfrm>
            <a:off x="4599432" y="3785615"/>
            <a:ext cx="4087368" cy="841248"/>
            <a:chOff x="4599432" y="3785615"/>
            <a:chExt cx="4087368" cy="841248"/>
          </a:xfrm>
        </p:grpSpPr>
        <p:sp>
          <p:nvSpPr>
            <p:cNvPr id="873" name="Kong band">
              <a:extLst>
                <a:ext uri="{FF2B5EF4-FFF2-40B4-BE49-F238E27FC236}">
                  <a16:creationId xmlns:a16="http://schemas.microsoft.com/office/drawing/2014/main" id="{C175E811-D6BA-3260-EC8B-28807D34AF51}"/>
                </a:ext>
              </a:extLst>
            </p:cNvPr>
            <p:cNvSpPr/>
            <p:nvPr/>
          </p:nvSpPr>
          <p:spPr>
            <a:xfrm>
              <a:off x="4599432" y="3785615"/>
              <a:ext cx="4087368" cy="841248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4" name="Label WITH THE AI CONNECTIVITY LAYER  ·  TARGETS">
              <a:extLst>
                <a:ext uri="{FF2B5EF4-FFF2-40B4-BE49-F238E27FC236}">
                  <a16:creationId xmlns:a16="http://schemas.microsoft.com/office/drawing/2014/main" id="{22DCC797-186C-D773-609E-2C3DB8F7C29A}"/>
                </a:ext>
              </a:extLst>
            </p:cNvPr>
            <p:cNvSpPr txBox="1"/>
            <p:nvPr/>
          </p:nvSpPr>
          <p:spPr>
            <a:xfrm>
              <a:off x="4727448" y="3840480"/>
              <a:ext cx="31089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WITH THE AI CONNECTIVITY LAYER  ·  TARGETS</a:t>
              </a:r>
            </a:p>
          </p:txBody>
        </p:sp>
        <p:sp>
          <p:nvSpPr>
            <p:cNvPr id="875" name="Gain 12 of 12">
              <a:extLst>
                <a:ext uri="{FF2B5EF4-FFF2-40B4-BE49-F238E27FC236}">
                  <a16:creationId xmlns:a16="http://schemas.microsoft.com/office/drawing/2014/main" id="{487E92E9-0E2C-4EB7-01C7-749EAC003153}"/>
                </a:ext>
              </a:extLst>
            </p:cNvPr>
            <p:cNvSpPr txBox="1"/>
            <p:nvPr/>
          </p:nvSpPr>
          <p:spPr>
            <a:xfrm>
              <a:off x="4727448" y="4023360"/>
              <a:ext cx="12801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12 of 12</a:t>
              </a:r>
            </a:p>
          </p:txBody>
        </p:sp>
        <p:sp>
          <p:nvSpPr>
            <p:cNvPr id="876" name="Gain 12 of 12 label">
              <a:extLst>
                <a:ext uri="{FF2B5EF4-FFF2-40B4-BE49-F238E27FC236}">
                  <a16:creationId xmlns:a16="http://schemas.microsoft.com/office/drawing/2014/main" id="{1B762D8B-686E-DB31-F5C7-40FB729A0699}"/>
                </a:ext>
              </a:extLst>
            </p:cNvPr>
            <p:cNvSpPr txBox="1"/>
            <p:nvPr/>
          </p:nvSpPr>
          <p:spPr>
            <a:xfrm>
              <a:off x="4727448" y="4315968"/>
              <a:ext cx="124358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4B5650"/>
                  </a:solidFill>
                  <a:latin typeface="Calibri"/>
                </a:rPr>
                <a:t>cleared through one governed path</a:t>
              </a:r>
            </a:p>
          </p:txBody>
        </p:sp>
        <p:sp>
          <p:nvSpPr>
            <p:cNvPr id="877" name="Gain 100%">
              <a:extLst>
                <a:ext uri="{FF2B5EF4-FFF2-40B4-BE49-F238E27FC236}">
                  <a16:creationId xmlns:a16="http://schemas.microsoft.com/office/drawing/2014/main" id="{853FF748-9402-C880-45D9-E480699F59CD}"/>
                </a:ext>
              </a:extLst>
            </p:cNvPr>
            <p:cNvSpPr txBox="1"/>
            <p:nvPr/>
          </p:nvSpPr>
          <p:spPr>
            <a:xfrm>
              <a:off x="6062472" y="4023360"/>
              <a:ext cx="12801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78" name="Gain 100% label">
              <a:extLst>
                <a:ext uri="{FF2B5EF4-FFF2-40B4-BE49-F238E27FC236}">
                  <a16:creationId xmlns:a16="http://schemas.microsoft.com/office/drawing/2014/main" id="{17F18C08-8E4C-D771-9D22-79C8B9F28988}"/>
                </a:ext>
              </a:extLst>
            </p:cNvPr>
            <p:cNvSpPr txBox="1"/>
            <p:nvPr/>
          </p:nvSpPr>
          <p:spPr>
            <a:xfrm>
              <a:off x="6062472" y="4315968"/>
              <a:ext cx="124358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4B5650"/>
                  </a:solidFill>
                  <a:latin typeface="Calibri"/>
                </a:rPr>
                <a:t>of AI calls secured and governed before any model</a:t>
              </a:r>
            </a:p>
          </p:txBody>
        </p:sp>
        <p:sp>
          <p:nvSpPr>
            <p:cNvPr id="879" name="Gain 100%">
              <a:extLst>
                <a:ext uri="{FF2B5EF4-FFF2-40B4-BE49-F238E27FC236}">
                  <a16:creationId xmlns:a16="http://schemas.microsoft.com/office/drawing/2014/main" id="{A8914A2D-0692-7474-3888-4774D951B386}"/>
                </a:ext>
              </a:extLst>
            </p:cNvPr>
            <p:cNvSpPr txBox="1"/>
            <p:nvPr/>
          </p:nvSpPr>
          <p:spPr>
            <a:xfrm>
              <a:off x="7397496" y="4023360"/>
              <a:ext cx="12801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80" name="Gain 100% label">
              <a:extLst>
                <a:ext uri="{FF2B5EF4-FFF2-40B4-BE49-F238E27FC236}">
                  <a16:creationId xmlns:a16="http://schemas.microsoft.com/office/drawing/2014/main" id="{D1D4D09D-FBD6-31CA-0710-A3B5F7D809D3}"/>
                </a:ext>
              </a:extLst>
            </p:cNvPr>
            <p:cNvSpPr txBox="1"/>
            <p:nvPr/>
          </p:nvSpPr>
          <p:spPr>
            <a:xfrm>
              <a:off x="7397496" y="4315968"/>
              <a:ext cx="124358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0" i="0">
                  <a:solidFill>
                    <a:srgbClr val="4B5650"/>
                  </a:solidFill>
                  <a:latin typeface="Calibri"/>
                </a:rPr>
                <a:t>of tokens attributed and budgeted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2198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ARCHITECTURE  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Where Kong sits: hybrid by design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Kong runs on the AI path inside your data centre; Konnect only configures it and receives usage metadata.</a:t>
            </a:r>
          </a:p>
        </p:txBody>
      </p:sp>
      <p:sp>
        <p:nvSpPr>
          <p:cNvPr id="817" name="GNB data centre"/>
          <p:cNvSpPr/>
          <p:nvPr/>
        </p:nvSpPr>
        <p:spPr>
          <a:xfrm>
            <a:off x="457200" y="1810512"/>
            <a:ext cx="8229600" cy="2395728"/>
          </a:xfrm>
          <a:prstGeom prst="roundRect">
            <a:avLst>
              <a:gd name="adj" fmla="val 3000"/>
            </a:avLst>
          </a:prstGeom>
          <a:solidFill>
            <a:srgbClr val="F7F9F4"/>
          </a:solidFill>
          <a:ln w="12700">
            <a:solidFill>
              <a:srgbClr val="4A8500"/>
            </a:solidFill>
            <a:prstDash val="dash"/>
          </a:ln>
        </p:spPr>
        <p:txBody>
          <a:bodyPr rtlCol="0" anchor="ctr"/>
          <a:lstStyle/>
          <a:p>
            <a:endParaRPr/>
          </a:p>
        </p:txBody>
      </p:sp>
      <p:sp>
        <p:nvSpPr>
          <p:cNvPr id="818" name="Label GNB DATA CENTRE  ·  ALL AI TRAFFIC STAYS ON-PREM"/>
          <p:cNvSpPr txBox="1"/>
          <p:nvPr/>
        </p:nvSpPr>
        <p:spPr>
          <a:xfrm>
            <a:off x="566928" y="184708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GNB DATA CENTRE  ·  ALL AI TRAFFIC STAYS ON-PREM</a:t>
            </a:r>
          </a:p>
        </p:txBody>
      </p:sp>
      <p:sp>
        <p:nvSpPr>
          <p:cNvPr id="819" name="Client Channels"/>
          <p:cNvSpPr/>
          <p:nvPr/>
        </p:nvSpPr>
        <p:spPr>
          <a:xfrm>
            <a:off x="676656" y="2103120"/>
            <a:ext cx="329184" cy="329184"/>
          </a:xfrm>
          <a:prstGeom prst="ellipse">
            <a:avLst/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0" name="Icon FaMobileAl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85415"/>
            <a:ext cx="164592" cy="164592"/>
          </a:xfrm>
          <a:prstGeom prst="rect">
            <a:avLst/>
          </a:prstGeom>
        </p:spPr>
      </p:pic>
      <p:sp>
        <p:nvSpPr>
          <p:cNvPr id="821" name="Client Channels label"/>
          <p:cNvSpPr txBox="1"/>
          <p:nvPr/>
        </p:nvSpPr>
        <p:spPr>
          <a:xfrm>
            <a:off x="512064" y="2441448"/>
            <a:ext cx="6583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01408"/>
                </a:solidFill>
                <a:latin typeface="Calibri"/>
              </a:rPr>
              <a:t>Channels</a:t>
            </a:r>
          </a:p>
        </p:txBody>
      </p:sp>
      <p:sp>
        <p:nvSpPr>
          <p:cNvPr id="822" name="Client Copilots"/>
          <p:cNvSpPr/>
          <p:nvPr/>
        </p:nvSpPr>
        <p:spPr>
          <a:xfrm>
            <a:off x="676656" y="2615184"/>
            <a:ext cx="329184" cy="329184"/>
          </a:xfrm>
          <a:prstGeom prst="ellipse">
            <a:avLst/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3" name="Icon FaUs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697479"/>
            <a:ext cx="164592" cy="164592"/>
          </a:xfrm>
          <a:prstGeom prst="rect">
            <a:avLst/>
          </a:prstGeom>
        </p:spPr>
      </p:pic>
      <p:sp>
        <p:nvSpPr>
          <p:cNvPr id="824" name="Client Copilots label"/>
          <p:cNvSpPr txBox="1"/>
          <p:nvPr/>
        </p:nvSpPr>
        <p:spPr>
          <a:xfrm>
            <a:off x="512064" y="2953512"/>
            <a:ext cx="6583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01408"/>
                </a:solidFill>
                <a:latin typeface="Calibri"/>
              </a:rPr>
              <a:t>Copilots</a:t>
            </a:r>
          </a:p>
        </p:txBody>
      </p:sp>
      <p:sp>
        <p:nvSpPr>
          <p:cNvPr id="825" name="Client AI agents"/>
          <p:cNvSpPr/>
          <p:nvPr/>
        </p:nvSpPr>
        <p:spPr>
          <a:xfrm>
            <a:off x="676656" y="3127248"/>
            <a:ext cx="329184" cy="329184"/>
          </a:xfrm>
          <a:prstGeom prst="ellipse">
            <a:avLst/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6" name="Icon FaRobo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09544"/>
            <a:ext cx="164592" cy="164592"/>
          </a:xfrm>
          <a:prstGeom prst="rect">
            <a:avLst/>
          </a:prstGeom>
        </p:spPr>
      </p:pic>
      <p:sp>
        <p:nvSpPr>
          <p:cNvPr id="827" name="Client AI agents label"/>
          <p:cNvSpPr txBox="1"/>
          <p:nvPr/>
        </p:nvSpPr>
        <p:spPr>
          <a:xfrm>
            <a:off x="512064" y="3465576"/>
            <a:ext cx="6583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01408"/>
                </a:solidFill>
                <a:latin typeface="Calibri"/>
              </a:rPr>
              <a:t>AI agents</a:t>
            </a:r>
          </a:p>
        </p:txBody>
      </p:sp>
      <p:sp>
        <p:nvSpPr>
          <p:cNvPr id="828" name="Client Data teams"/>
          <p:cNvSpPr/>
          <p:nvPr/>
        </p:nvSpPr>
        <p:spPr>
          <a:xfrm>
            <a:off x="676656" y="3639312"/>
            <a:ext cx="329184" cy="329184"/>
          </a:xfrm>
          <a:prstGeom prst="ellipse">
            <a:avLst/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9" name="Icon FaFlas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721608"/>
            <a:ext cx="164592" cy="164592"/>
          </a:xfrm>
          <a:prstGeom prst="rect">
            <a:avLst/>
          </a:prstGeom>
        </p:spPr>
      </p:pic>
      <p:sp>
        <p:nvSpPr>
          <p:cNvPr id="830" name="Client Data teams label"/>
          <p:cNvSpPr txBox="1"/>
          <p:nvPr/>
        </p:nvSpPr>
        <p:spPr>
          <a:xfrm>
            <a:off x="512064" y="3977639"/>
            <a:ext cx="6583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01408"/>
                </a:solidFill>
                <a:latin typeface="Calibri"/>
              </a:rPr>
              <a:t>Data teams</a:t>
            </a:r>
          </a:p>
        </p:txBody>
      </p:sp>
      <p:sp>
        <p:nvSpPr>
          <p:cNvPr id="831" name="AI factory"/>
          <p:cNvSpPr/>
          <p:nvPr/>
        </p:nvSpPr>
        <p:spPr>
          <a:xfrm>
            <a:off x="6839712" y="2029968"/>
            <a:ext cx="1773936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2" name="Factory label"/>
          <p:cNvSpPr txBox="1"/>
          <p:nvPr/>
        </p:nvSpPr>
        <p:spPr>
          <a:xfrm>
            <a:off x="6931152" y="207568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069"/>
                </a:solidFill>
                <a:latin typeface="Calibri"/>
              </a:rPr>
              <a:t>GNB AI FACTORY</a:t>
            </a:r>
          </a:p>
        </p:txBody>
      </p:sp>
      <p:sp>
        <p:nvSpPr>
          <p:cNvPr id="833" name="Factory LLMs on vLLM"/>
          <p:cNvSpPr/>
          <p:nvPr/>
        </p:nvSpPr>
        <p:spPr>
          <a:xfrm>
            <a:off x="6931152" y="2258568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4" name="Icon FaBrai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016" y="2304288"/>
            <a:ext cx="146304" cy="146304"/>
          </a:xfrm>
          <a:prstGeom prst="rect">
            <a:avLst/>
          </a:prstGeom>
        </p:spPr>
      </p:pic>
      <p:sp>
        <p:nvSpPr>
          <p:cNvPr id="835" name="Factory LLMs on vLLM label"/>
          <p:cNvSpPr txBox="1"/>
          <p:nvPr/>
        </p:nvSpPr>
        <p:spPr>
          <a:xfrm>
            <a:off x="7187184" y="2300496"/>
            <a:ext cx="13258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001408"/>
                </a:solidFill>
                <a:latin typeface="Calibri"/>
              </a:rPr>
              <a:t>LLMs on </a:t>
            </a:r>
            <a:r>
              <a:rPr lang="en-US" sz="1000" b="0" i="0" dirty="0">
                <a:solidFill>
                  <a:srgbClr val="001408"/>
                </a:solidFill>
                <a:latin typeface="Calibri"/>
              </a:rPr>
              <a:t>Inference</a:t>
            </a:r>
            <a:endParaRPr sz="1000" b="0" i="0" dirty="0">
              <a:solidFill>
                <a:srgbClr val="001408"/>
              </a:solidFill>
              <a:latin typeface="Calibri"/>
            </a:endParaRPr>
          </a:p>
        </p:txBody>
      </p:sp>
      <p:sp>
        <p:nvSpPr>
          <p:cNvPr id="836" name="Factory Embedding models"/>
          <p:cNvSpPr/>
          <p:nvPr/>
        </p:nvSpPr>
        <p:spPr>
          <a:xfrm>
            <a:off x="6931152" y="2532888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7" name="Icon FaLayerGroup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2578608"/>
            <a:ext cx="146304" cy="146304"/>
          </a:xfrm>
          <a:prstGeom prst="rect">
            <a:avLst/>
          </a:prstGeom>
        </p:spPr>
      </p:pic>
      <p:sp>
        <p:nvSpPr>
          <p:cNvPr id="838" name="Factory Embedding models label"/>
          <p:cNvSpPr txBox="1"/>
          <p:nvPr/>
        </p:nvSpPr>
        <p:spPr>
          <a:xfrm>
            <a:off x="7187184" y="253288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Embedding models</a:t>
            </a:r>
          </a:p>
        </p:txBody>
      </p:sp>
      <p:sp>
        <p:nvSpPr>
          <p:cNvPr id="839" name="Factory Core banking APIs"/>
          <p:cNvSpPr/>
          <p:nvPr/>
        </p:nvSpPr>
        <p:spPr>
          <a:xfrm>
            <a:off x="6931152" y="2990088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0" name="Icon FaUniversity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016" y="3035808"/>
            <a:ext cx="146304" cy="146304"/>
          </a:xfrm>
          <a:prstGeom prst="rect">
            <a:avLst/>
          </a:prstGeom>
        </p:spPr>
      </p:pic>
      <p:sp>
        <p:nvSpPr>
          <p:cNvPr id="841" name="Factory Core banking APIs label"/>
          <p:cNvSpPr txBox="1"/>
          <p:nvPr/>
        </p:nvSpPr>
        <p:spPr>
          <a:xfrm>
            <a:off x="7187184" y="299008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Core banking APIs</a:t>
            </a:r>
          </a:p>
        </p:txBody>
      </p:sp>
      <p:sp>
        <p:nvSpPr>
          <p:cNvPr id="842" name="Factory Vector store"/>
          <p:cNvSpPr/>
          <p:nvPr/>
        </p:nvSpPr>
        <p:spPr>
          <a:xfrm>
            <a:off x="6931152" y="3291840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3" name="Icon FaTab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6016" y="3337560"/>
            <a:ext cx="146304" cy="146304"/>
          </a:xfrm>
          <a:prstGeom prst="rect">
            <a:avLst/>
          </a:prstGeom>
        </p:spPr>
      </p:pic>
      <p:sp>
        <p:nvSpPr>
          <p:cNvPr id="844" name="Factory Vector store label"/>
          <p:cNvSpPr txBox="1"/>
          <p:nvPr/>
        </p:nvSpPr>
        <p:spPr>
          <a:xfrm>
            <a:off x="7187184" y="3291840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Vector store</a:t>
            </a:r>
          </a:p>
        </p:txBody>
      </p:sp>
      <p:sp>
        <p:nvSpPr>
          <p:cNvPr id="845" name="Factory Agents (A2A)"/>
          <p:cNvSpPr/>
          <p:nvPr/>
        </p:nvSpPr>
        <p:spPr>
          <a:xfrm>
            <a:off x="6931152" y="3593592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6" name="Icon FaRobo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3639312"/>
            <a:ext cx="146304" cy="146304"/>
          </a:xfrm>
          <a:prstGeom prst="rect">
            <a:avLst/>
          </a:prstGeom>
        </p:spPr>
      </p:pic>
      <p:sp>
        <p:nvSpPr>
          <p:cNvPr id="847" name="Factory Agents (A2A) label"/>
          <p:cNvSpPr txBox="1"/>
          <p:nvPr/>
        </p:nvSpPr>
        <p:spPr>
          <a:xfrm>
            <a:off x="7187184" y="3593592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Agents (A2A)</a:t>
            </a:r>
          </a:p>
        </p:txBody>
      </p:sp>
      <p:sp>
        <p:nvSpPr>
          <p:cNvPr id="848" name="Factory PII anonymizer"/>
          <p:cNvSpPr/>
          <p:nvPr/>
        </p:nvSpPr>
        <p:spPr>
          <a:xfrm>
            <a:off x="6931152" y="3867912"/>
            <a:ext cx="1609344" cy="237744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9" name="Icon FaLock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6016" y="3913632"/>
            <a:ext cx="146304" cy="146304"/>
          </a:xfrm>
          <a:prstGeom prst="rect">
            <a:avLst/>
          </a:prstGeom>
        </p:spPr>
      </p:pic>
      <p:sp>
        <p:nvSpPr>
          <p:cNvPr id="850" name="Factory PII anonymizer label"/>
          <p:cNvSpPr txBox="1"/>
          <p:nvPr/>
        </p:nvSpPr>
        <p:spPr>
          <a:xfrm>
            <a:off x="7187184" y="3867912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PII anonymizer</a:t>
            </a:r>
          </a:p>
        </p:txBody>
      </p:sp>
      <p:grpSp>
        <p:nvGrpSpPr>
          <p:cNvPr id="2" name="Data plane"/>
          <p:cNvGrpSpPr/>
          <p:nvPr/>
        </p:nvGrpSpPr>
        <p:grpSpPr>
          <a:xfrm>
            <a:off x="1024128" y="2029968"/>
            <a:ext cx="5724144" cy="2103120"/>
            <a:chOff x="1024128" y="2029968"/>
            <a:chExt cx="5724144" cy="2103120"/>
          </a:xfrm>
        </p:grpSpPr>
        <p:sp>
          <p:nvSpPr>
            <p:cNvPr id="851" name="DP pool"/>
            <p:cNvSpPr/>
            <p:nvPr/>
          </p:nvSpPr>
          <p:spPr>
            <a:xfrm>
              <a:off x="1280160" y="2029968"/>
              <a:ext cx="5468112" cy="210312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2" name="DP label"/>
            <p:cNvSpPr txBox="1"/>
            <p:nvPr/>
          </p:nvSpPr>
          <p:spPr>
            <a:xfrm>
              <a:off x="1389888" y="2075688"/>
              <a:ext cx="4206240" cy="137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1" i="0">
                  <a:solidFill>
                    <a:srgbClr val="4A8500"/>
                  </a:solidFill>
                  <a:latin typeface="Calibri"/>
                </a:rPr>
                <a:t>KONG AI GATEWAY DATA PLANE  ·  ACTIVE-ACTIVE  ·  ON KUBERNETES</a:t>
              </a:r>
            </a:p>
          </p:txBody>
        </p:sp>
        <p:pic>
          <p:nvPicPr>
            <p:cNvPr id="853" name="Icon FaServer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58384" y="2066543"/>
              <a:ext cx="118872" cy="118872"/>
            </a:xfrm>
            <a:prstGeom prst="rect">
              <a:avLst/>
            </a:prstGeom>
          </p:spPr>
        </p:pic>
        <p:pic>
          <p:nvPicPr>
            <p:cNvPr id="854" name="Icon FaServer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13832" y="2066543"/>
              <a:ext cx="118872" cy="118872"/>
            </a:xfrm>
            <a:prstGeom prst="rect">
              <a:avLst/>
            </a:prstGeom>
          </p:spPr>
        </p:pic>
        <p:pic>
          <p:nvPicPr>
            <p:cNvPr id="855" name="Icon FaServer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69280" y="2066543"/>
              <a:ext cx="118872" cy="118872"/>
            </a:xfrm>
            <a:prstGeom prst="rect">
              <a:avLst/>
            </a:prstGeom>
          </p:spPr>
        </p:pic>
        <p:cxnSp>
          <p:nvCxnSpPr>
            <p:cNvPr id="856" name="Client arrow"/>
            <p:cNvCxnSpPr/>
            <p:nvPr/>
          </p:nvCxnSpPr>
          <p:spPr>
            <a:xfrm>
              <a:off x="1024128" y="2267712"/>
              <a:ext cx="25603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857" name="Client arrow"/>
            <p:cNvCxnSpPr/>
            <p:nvPr/>
          </p:nvCxnSpPr>
          <p:spPr>
            <a:xfrm>
              <a:off x="1024128" y="2779776"/>
              <a:ext cx="25603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858" name="Client arrow"/>
            <p:cNvCxnSpPr/>
            <p:nvPr/>
          </p:nvCxnSpPr>
          <p:spPr>
            <a:xfrm>
              <a:off x="1024128" y="3291840"/>
              <a:ext cx="25603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859" name="Client arrow"/>
            <p:cNvCxnSpPr/>
            <p:nvPr/>
          </p:nvCxnSpPr>
          <p:spPr>
            <a:xfrm>
              <a:off x="1024128" y="3803904"/>
              <a:ext cx="25603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860" name="Request path"/>
            <p:cNvCxnSpPr/>
            <p:nvPr/>
          </p:nvCxnSpPr>
          <p:spPr>
            <a:xfrm>
              <a:off x="1389888" y="2587752"/>
              <a:ext cx="4389120" cy="0"/>
            </a:xfrm>
            <a:prstGeom prst="line">
              <a:avLst/>
            </a:prstGeom>
            <a:ln w="22225">
              <a:solidFill>
                <a:srgbClr val="4A8500"/>
              </a:solidFill>
            </a:ln>
          </p:spPr>
        </p:cxnSp>
        <p:cxnSp>
          <p:nvCxnSpPr>
            <p:cNvPr id="861" name="Entity bus"/>
            <p:cNvCxnSpPr/>
            <p:nvPr/>
          </p:nvCxnSpPr>
          <p:spPr>
            <a:xfrm>
              <a:off x="5779008" y="2505456"/>
              <a:ext cx="0" cy="1207007"/>
            </a:xfrm>
            <a:prstGeom prst="line">
              <a:avLst/>
            </a:prstGeom>
            <a:ln w="22225">
              <a:solidFill>
                <a:srgbClr val="4A8500"/>
              </a:solidFill>
            </a:ln>
          </p:spPr>
        </p:cxnSp>
        <p:sp>
          <p:nvSpPr>
            <p:cNvPr id="862" name="Stage Identity"/>
            <p:cNvSpPr/>
            <p:nvPr/>
          </p:nvSpPr>
          <p:spPr>
            <a:xfrm>
              <a:off x="1527048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3" name="Icon FaKey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27631" y="2496312"/>
              <a:ext cx="182880" cy="182880"/>
            </a:xfrm>
            <a:prstGeom prst="rect">
              <a:avLst/>
            </a:prstGeom>
          </p:spPr>
        </p:pic>
        <p:sp>
          <p:nvSpPr>
            <p:cNvPr id="864" name="Stage Identity label"/>
            <p:cNvSpPr txBox="1"/>
            <p:nvPr/>
          </p:nvSpPr>
          <p:spPr>
            <a:xfrm>
              <a:off x="1408175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Identity</a:t>
              </a:r>
            </a:p>
          </p:txBody>
        </p:sp>
        <p:sp>
          <p:nvSpPr>
            <p:cNvPr id="866" name="Stage Security"/>
            <p:cNvSpPr/>
            <p:nvPr/>
          </p:nvSpPr>
          <p:spPr>
            <a:xfrm>
              <a:off x="2148840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7" name="Icon FaLock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249424" y="2496312"/>
              <a:ext cx="182880" cy="182880"/>
            </a:xfrm>
            <a:prstGeom prst="rect">
              <a:avLst/>
            </a:prstGeom>
          </p:spPr>
        </p:pic>
        <p:sp>
          <p:nvSpPr>
            <p:cNvPr id="868" name="Stage Security label"/>
            <p:cNvSpPr txBox="1"/>
            <p:nvPr/>
          </p:nvSpPr>
          <p:spPr>
            <a:xfrm>
              <a:off x="2029968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Security</a:t>
              </a:r>
            </a:p>
          </p:txBody>
        </p:sp>
        <p:sp>
          <p:nvSpPr>
            <p:cNvPr id="870" name="Stage Output"/>
            <p:cNvSpPr/>
            <p:nvPr/>
          </p:nvSpPr>
          <p:spPr>
            <a:xfrm>
              <a:off x="2770632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1" name="Icon FaClipboardCheck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71216" y="2496312"/>
              <a:ext cx="182880" cy="182880"/>
            </a:xfrm>
            <a:prstGeom prst="rect">
              <a:avLst/>
            </a:prstGeom>
          </p:spPr>
        </p:pic>
        <p:sp>
          <p:nvSpPr>
            <p:cNvPr id="872" name="Stage Output label"/>
            <p:cNvSpPr txBox="1"/>
            <p:nvPr/>
          </p:nvSpPr>
          <p:spPr>
            <a:xfrm>
              <a:off x="2651760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Output</a:t>
              </a:r>
            </a:p>
          </p:txBody>
        </p:sp>
        <p:sp>
          <p:nvSpPr>
            <p:cNvPr id="874" name="Stage Traffic"/>
            <p:cNvSpPr/>
            <p:nvPr/>
          </p:nvSpPr>
          <p:spPr>
            <a:xfrm>
              <a:off x="3392424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5" name="Icon FaRoute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93008" y="2496312"/>
              <a:ext cx="182880" cy="182880"/>
            </a:xfrm>
            <a:prstGeom prst="rect">
              <a:avLst/>
            </a:prstGeom>
          </p:spPr>
        </p:pic>
        <p:sp>
          <p:nvSpPr>
            <p:cNvPr id="876" name="Stage Traffic label"/>
            <p:cNvSpPr txBox="1"/>
            <p:nvPr/>
          </p:nvSpPr>
          <p:spPr>
            <a:xfrm>
              <a:off x="3273552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Traffic</a:t>
              </a:r>
            </a:p>
          </p:txBody>
        </p:sp>
        <p:sp>
          <p:nvSpPr>
            <p:cNvPr id="878" name="Stage Tokens"/>
            <p:cNvSpPr/>
            <p:nvPr/>
          </p:nvSpPr>
          <p:spPr>
            <a:xfrm>
              <a:off x="4014215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9" name="Icon FaCoins" descr="imag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114800" y="2496312"/>
              <a:ext cx="182880" cy="182880"/>
            </a:xfrm>
            <a:prstGeom prst="rect">
              <a:avLst/>
            </a:prstGeom>
          </p:spPr>
        </p:pic>
        <p:sp>
          <p:nvSpPr>
            <p:cNvPr id="880" name="Stage Tokens label"/>
            <p:cNvSpPr txBox="1"/>
            <p:nvPr/>
          </p:nvSpPr>
          <p:spPr>
            <a:xfrm>
              <a:off x="3895344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Tokens</a:t>
              </a:r>
            </a:p>
          </p:txBody>
        </p:sp>
        <p:sp>
          <p:nvSpPr>
            <p:cNvPr id="882" name="Stage Build"/>
            <p:cNvSpPr/>
            <p:nvPr/>
          </p:nvSpPr>
          <p:spPr>
            <a:xfrm>
              <a:off x="4636008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3" name="Icon FaPuzzlePiece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736592" y="2496312"/>
              <a:ext cx="182880" cy="182880"/>
            </a:xfrm>
            <a:prstGeom prst="rect">
              <a:avLst/>
            </a:prstGeom>
          </p:spPr>
        </p:pic>
        <p:sp>
          <p:nvSpPr>
            <p:cNvPr id="884" name="Stage Build label"/>
            <p:cNvSpPr txBox="1"/>
            <p:nvPr/>
          </p:nvSpPr>
          <p:spPr>
            <a:xfrm>
              <a:off x="4517136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Build</a:t>
              </a:r>
            </a:p>
          </p:txBody>
        </p:sp>
        <p:sp>
          <p:nvSpPr>
            <p:cNvPr id="886" name="Stage Observe"/>
            <p:cNvSpPr/>
            <p:nvPr/>
          </p:nvSpPr>
          <p:spPr>
            <a:xfrm>
              <a:off x="5257800" y="2395728"/>
              <a:ext cx="384048" cy="38404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7" name="Icon FaChartBar" descr="imag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358384" y="2496312"/>
              <a:ext cx="182880" cy="182880"/>
            </a:xfrm>
            <a:prstGeom prst="rect">
              <a:avLst/>
            </a:prstGeom>
          </p:spPr>
        </p:pic>
        <p:sp>
          <p:nvSpPr>
            <p:cNvPr id="888" name="Stage Observe label"/>
            <p:cNvSpPr txBox="1"/>
            <p:nvPr/>
          </p:nvSpPr>
          <p:spPr>
            <a:xfrm>
              <a:off x="5138928" y="2816352"/>
              <a:ext cx="621792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>
                  <a:solidFill>
                    <a:srgbClr val="001408"/>
                  </a:solidFill>
                  <a:latin typeface="Calibri"/>
                </a:rPr>
                <a:t>Observe</a:t>
              </a:r>
            </a:p>
          </p:txBody>
        </p:sp>
        <p:sp>
          <p:nvSpPr>
            <p:cNvPr id="890" name="Pipeline note"/>
            <p:cNvSpPr/>
            <p:nvPr/>
          </p:nvSpPr>
          <p:spPr>
            <a:xfrm>
              <a:off x="1389888" y="3639312"/>
              <a:ext cx="4315968" cy="384048"/>
            </a:xfrm>
            <a:prstGeom prst="roundRect">
              <a:avLst>
                <a:gd name="adj" fmla="val 2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109728" tIns="0" rIns="109728" bIns="0" rtlCol="0" anchor="ctr"/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One policy pipeline for every request.  </a:t>
              </a:r>
              <a:r>
                <a:rPr sz="1000" b="0" i="0">
                  <a:solidFill>
                    <a:srgbClr val="4B5650"/>
                  </a:solidFill>
                  <a:latin typeface="Calibri"/>
                </a:rPr>
                <a:t>Auth runs first; policies then run in a fixed priority order, attached globally, per model or per team.</a:t>
              </a:r>
            </a:p>
          </p:txBody>
        </p:sp>
      </p:grpSp>
      <p:grpSp>
        <p:nvGrpSpPr>
          <p:cNvPr id="3" name="Stage policies"/>
          <p:cNvGrpSpPr/>
          <p:nvPr/>
        </p:nvGrpSpPr>
        <p:grpSpPr>
          <a:xfrm>
            <a:off x="1426463" y="2980944"/>
            <a:ext cx="4315969" cy="548640"/>
            <a:chOff x="1426463" y="2980944"/>
            <a:chExt cx="4315969" cy="548640"/>
          </a:xfrm>
        </p:grpSpPr>
        <p:sp>
          <p:nvSpPr>
            <p:cNvPr id="865" name="Stage Identity policies"/>
            <p:cNvSpPr txBox="1"/>
            <p:nvPr/>
          </p:nvSpPr>
          <p:spPr>
            <a:xfrm>
              <a:off x="1426463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API key · OIDC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consumer groups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ACL · OPA</a:t>
              </a:r>
            </a:p>
          </p:txBody>
        </p:sp>
        <p:sp>
          <p:nvSpPr>
            <p:cNvPr id="869" name="Stage Security policies"/>
            <p:cNvSpPr txBox="1"/>
            <p:nvPr/>
          </p:nvSpPr>
          <p:spPr>
            <a:xfrm>
              <a:off x="2048256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PII redaction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prompt guards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injection checks</a:t>
              </a:r>
            </a:p>
          </p:txBody>
        </p:sp>
        <p:sp>
          <p:nvSpPr>
            <p:cNvPr id="873" name="Stage Output policies"/>
            <p:cNvSpPr txBox="1"/>
            <p:nvPr/>
          </p:nvSpPr>
          <p:spPr>
            <a:xfrm>
              <a:off x="2670048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response guard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LLM as judge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custom guardrails</a:t>
              </a:r>
            </a:p>
          </p:txBody>
        </p:sp>
        <p:sp>
          <p:nvSpPr>
            <p:cNvPr id="877" name="Stage Traffic policies"/>
            <p:cNvSpPr txBox="1"/>
            <p:nvPr/>
          </p:nvSpPr>
          <p:spPr>
            <a:xfrm>
              <a:off x="3291840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semantic routing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latency · load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retry · failover</a:t>
              </a:r>
            </a:p>
          </p:txBody>
        </p:sp>
        <p:sp>
          <p:nvSpPr>
            <p:cNvPr id="881" name="Stage Tokens policies"/>
            <p:cNvSpPr txBox="1"/>
            <p:nvPr/>
          </p:nvSpPr>
          <p:spPr>
            <a:xfrm>
              <a:off x="3913631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token budgets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semantic cache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compression</a:t>
              </a:r>
            </a:p>
          </p:txBody>
        </p:sp>
        <p:sp>
          <p:nvSpPr>
            <p:cNvPr id="885" name="Stage Build policies"/>
            <p:cNvSpPr txBox="1"/>
            <p:nvPr/>
          </p:nvSpPr>
          <p:spPr>
            <a:xfrm>
              <a:off x="4535424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prompt templates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RAG injection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transformers</a:t>
              </a:r>
            </a:p>
          </p:txBody>
        </p:sp>
        <p:sp>
          <p:nvSpPr>
            <p:cNvPr id="889" name="Stage Observe policies"/>
            <p:cNvSpPr txBox="1"/>
            <p:nvPr/>
          </p:nvSpPr>
          <p:spPr>
            <a:xfrm>
              <a:off x="5157216" y="2980944"/>
              <a:ext cx="585216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OpenTelemetry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Prometheus</a:t>
              </a:r>
            </a:p>
            <a:p>
              <a:pPr algn="ctr">
                <a:spcAft>
                  <a:spcPts val="100"/>
                </a:spcAft>
              </a:pPr>
              <a:r>
                <a:rPr sz="700" b="0" i="0">
                  <a:solidFill>
                    <a:srgbClr val="4B5650"/>
                  </a:solidFill>
                  <a:latin typeface="Calibri"/>
                </a:rPr>
                <a:t>logs → SIEM</a:t>
              </a:r>
            </a:p>
          </p:txBody>
        </p:sp>
      </p:grpSp>
      <p:grpSp>
        <p:nvGrpSpPr>
          <p:cNvPr id="4" name="Entities"/>
          <p:cNvGrpSpPr/>
          <p:nvPr/>
        </p:nvGrpSpPr>
        <p:grpSpPr>
          <a:xfrm>
            <a:off x="5779008" y="2249424"/>
            <a:ext cx="1152144" cy="1719072"/>
            <a:chOff x="5779008" y="2249424"/>
            <a:chExt cx="1152144" cy="1719072"/>
          </a:xfrm>
        </p:grpSpPr>
        <p:sp>
          <p:nvSpPr>
            <p:cNvPr id="891" name="Entity AI Model"/>
            <p:cNvSpPr/>
            <p:nvPr/>
          </p:nvSpPr>
          <p:spPr>
            <a:xfrm>
              <a:off x="5925312" y="2249424"/>
              <a:ext cx="786384" cy="512064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2" name="Icon FaBrain" descr="imag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519672" y="2569464"/>
              <a:ext cx="137160" cy="137160"/>
            </a:xfrm>
            <a:prstGeom prst="rect">
              <a:avLst/>
            </a:prstGeom>
          </p:spPr>
        </p:pic>
        <p:sp>
          <p:nvSpPr>
            <p:cNvPr id="893" name="Entity AI Model name"/>
            <p:cNvSpPr txBox="1"/>
            <p:nvPr/>
          </p:nvSpPr>
          <p:spPr>
            <a:xfrm>
              <a:off x="5980176" y="2313432"/>
              <a:ext cx="713232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AI Model</a:t>
              </a:r>
            </a:p>
          </p:txBody>
        </p:sp>
        <p:sp>
          <p:nvSpPr>
            <p:cNvPr id="894" name="Entity AI Model sub"/>
            <p:cNvSpPr txBox="1"/>
            <p:nvPr/>
          </p:nvSpPr>
          <p:spPr>
            <a:xfrm>
              <a:off x="5980176" y="2532888"/>
              <a:ext cx="512064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FFFFFF"/>
                  </a:solidFill>
                  <a:latin typeface="Calibri"/>
                </a:rPr>
                <a:t>LLM traffic</a:t>
              </a:r>
            </a:p>
          </p:txBody>
        </p:sp>
        <p:cxnSp>
          <p:nvCxnSpPr>
            <p:cNvPr id="895" name="Path to entity"/>
            <p:cNvCxnSpPr/>
            <p:nvPr/>
          </p:nvCxnSpPr>
          <p:spPr>
            <a:xfrm>
              <a:off x="5779008" y="2505456"/>
              <a:ext cx="146304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896" name="Entity AI MCP Server"/>
            <p:cNvSpPr/>
            <p:nvPr/>
          </p:nvSpPr>
          <p:spPr>
            <a:xfrm>
              <a:off x="5925312" y="2852928"/>
              <a:ext cx="786384" cy="512064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7" name="Icon FaPuzzlePiece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519672" y="3172968"/>
              <a:ext cx="137160" cy="137160"/>
            </a:xfrm>
            <a:prstGeom prst="rect">
              <a:avLst/>
            </a:prstGeom>
          </p:spPr>
        </p:pic>
        <p:sp>
          <p:nvSpPr>
            <p:cNvPr id="898" name="Entity AI MCP Server name"/>
            <p:cNvSpPr txBox="1"/>
            <p:nvPr/>
          </p:nvSpPr>
          <p:spPr>
            <a:xfrm>
              <a:off x="5980176" y="2916936"/>
              <a:ext cx="713232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AI MCP Server</a:t>
              </a:r>
            </a:p>
          </p:txBody>
        </p:sp>
        <p:sp>
          <p:nvSpPr>
            <p:cNvPr id="899" name="Entity AI MCP Server sub"/>
            <p:cNvSpPr txBox="1"/>
            <p:nvPr/>
          </p:nvSpPr>
          <p:spPr>
            <a:xfrm>
              <a:off x="5980176" y="3136392"/>
              <a:ext cx="512064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FFFFFF"/>
                  </a:solidFill>
                  <a:latin typeface="Calibri"/>
                </a:rPr>
                <a:t>tools</a:t>
              </a:r>
            </a:p>
          </p:txBody>
        </p:sp>
        <p:cxnSp>
          <p:nvCxnSpPr>
            <p:cNvPr id="900" name="Path to entity"/>
            <p:cNvCxnSpPr/>
            <p:nvPr/>
          </p:nvCxnSpPr>
          <p:spPr>
            <a:xfrm>
              <a:off x="5779008" y="3108960"/>
              <a:ext cx="146304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01" name="Entity AI Agent"/>
            <p:cNvSpPr/>
            <p:nvPr/>
          </p:nvSpPr>
          <p:spPr>
            <a:xfrm>
              <a:off x="5925312" y="3456432"/>
              <a:ext cx="786384" cy="512064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02" name="Icon FaRobot" descr="imag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519672" y="3776472"/>
              <a:ext cx="137160" cy="137160"/>
            </a:xfrm>
            <a:prstGeom prst="rect">
              <a:avLst/>
            </a:prstGeom>
          </p:spPr>
        </p:pic>
        <p:sp>
          <p:nvSpPr>
            <p:cNvPr id="903" name="Entity AI Agent name"/>
            <p:cNvSpPr txBox="1"/>
            <p:nvPr/>
          </p:nvSpPr>
          <p:spPr>
            <a:xfrm>
              <a:off x="5980176" y="3520440"/>
              <a:ext cx="713232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AI Agent</a:t>
              </a:r>
            </a:p>
          </p:txBody>
        </p:sp>
        <p:sp>
          <p:nvSpPr>
            <p:cNvPr id="904" name="Entity AI Agent sub"/>
            <p:cNvSpPr txBox="1"/>
            <p:nvPr/>
          </p:nvSpPr>
          <p:spPr>
            <a:xfrm>
              <a:off x="5980176" y="3739896"/>
              <a:ext cx="512064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FFFFFF"/>
                  </a:solidFill>
                  <a:latin typeface="Calibri"/>
                </a:rPr>
                <a:t>A2A</a:t>
              </a:r>
            </a:p>
          </p:txBody>
        </p:sp>
        <p:cxnSp>
          <p:nvCxnSpPr>
            <p:cNvPr id="905" name="Path to entity"/>
            <p:cNvCxnSpPr/>
            <p:nvPr/>
          </p:nvCxnSpPr>
          <p:spPr>
            <a:xfrm>
              <a:off x="5779008" y="3712464"/>
              <a:ext cx="146304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906" name="Entity route"/>
            <p:cNvCxnSpPr/>
            <p:nvPr/>
          </p:nvCxnSpPr>
          <p:spPr>
            <a:xfrm>
              <a:off x="6711696" y="2377440"/>
              <a:ext cx="219456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907" name="Entity route"/>
            <p:cNvCxnSpPr/>
            <p:nvPr/>
          </p:nvCxnSpPr>
          <p:spPr>
            <a:xfrm>
              <a:off x="6711696" y="2651760"/>
              <a:ext cx="219456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908" name="Entity route"/>
            <p:cNvCxnSpPr/>
            <p:nvPr/>
          </p:nvCxnSpPr>
          <p:spPr>
            <a:xfrm>
              <a:off x="6711696" y="3108960"/>
              <a:ext cx="219456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909" name="Entity route"/>
            <p:cNvCxnSpPr/>
            <p:nvPr/>
          </p:nvCxnSpPr>
          <p:spPr>
            <a:xfrm>
              <a:off x="6711696" y="3712464"/>
              <a:ext cx="219456" cy="0"/>
            </a:xfrm>
            <a:prstGeom prst="line">
              <a:avLst/>
            </a:prstGeom>
            <a:ln w="15875">
              <a:solidFill>
                <a:srgbClr val="4A8500"/>
              </a:solidFill>
              <a:tailEnd type="triangle" w="med" len="med"/>
            </a:ln>
          </p:spPr>
        </p:cxnSp>
      </p:grpSp>
      <p:grpSp>
        <p:nvGrpSpPr>
          <p:cNvPr id="5" name="Control plane"/>
          <p:cNvGrpSpPr/>
          <p:nvPr/>
        </p:nvGrpSpPr>
        <p:grpSpPr>
          <a:xfrm>
            <a:off x="457200" y="1133856"/>
            <a:ext cx="8229600" cy="667512"/>
            <a:chOff x="457200" y="1133856"/>
            <a:chExt cx="8229600" cy="667512"/>
          </a:xfrm>
        </p:grpSpPr>
        <p:sp>
          <p:nvSpPr>
            <p:cNvPr id="910" name="Control plane"/>
            <p:cNvSpPr/>
            <p:nvPr/>
          </p:nvSpPr>
          <p:spPr>
            <a:xfrm>
              <a:off x="457200" y="1133856"/>
              <a:ext cx="8229600" cy="402336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1" name="CP label"/>
            <p:cNvSpPr txBox="1"/>
            <p:nvPr/>
          </p:nvSpPr>
          <p:spPr>
            <a:xfrm>
              <a:off x="566928" y="1133856"/>
              <a:ext cx="1325880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KONNECT  ·  SaaS</a:t>
              </a:r>
            </a:p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CONTROL PLANE · ME</a:t>
              </a:r>
            </a:p>
          </p:txBody>
        </p:sp>
        <p:sp>
          <p:nvSpPr>
            <p:cNvPr id="912" name="CP AI Models"/>
            <p:cNvSpPr/>
            <p:nvPr/>
          </p:nvSpPr>
          <p:spPr>
            <a:xfrm>
              <a:off x="1920240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13" name="Icon FaBrain" descr="imag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84248" y="1266444"/>
              <a:ext cx="137160" cy="137160"/>
            </a:xfrm>
            <a:prstGeom prst="rect">
              <a:avLst/>
            </a:prstGeom>
          </p:spPr>
        </p:pic>
        <p:sp>
          <p:nvSpPr>
            <p:cNvPr id="914" name="CP AI Models label"/>
            <p:cNvSpPr txBox="1"/>
            <p:nvPr/>
          </p:nvSpPr>
          <p:spPr>
            <a:xfrm>
              <a:off x="2148840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AI Models</a:t>
              </a:r>
            </a:p>
          </p:txBody>
        </p:sp>
        <p:sp>
          <p:nvSpPr>
            <p:cNvPr id="915" name="CP Providers"/>
            <p:cNvSpPr/>
            <p:nvPr/>
          </p:nvSpPr>
          <p:spPr>
            <a:xfrm>
              <a:off x="2761488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16" name="Icon FaPuzzlePiece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825496" y="1266444"/>
              <a:ext cx="137160" cy="137160"/>
            </a:xfrm>
            <a:prstGeom prst="rect">
              <a:avLst/>
            </a:prstGeom>
          </p:spPr>
        </p:pic>
        <p:sp>
          <p:nvSpPr>
            <p:cNvPr id="917" name="CP Providers label"/>
            <p:cNvSpPr txBox="1"/>
            <p:nvPr/>
          </p:nvSpPr>
          <p:spPr>
            <a:xfrm>
              <a:off x="2990088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Providers</a:t>
              </a:r>
            </a:p>
          </p:txBody>
        </p:sp>
        <p:sp>
          <p:nvSpPr>
            <p:cNvPr id="918" name="CP Policies"/>
            <p:cNvSpPr/>
            <p:nvPr/>
          </p:nvSpPr>
          <p:spPr>
            <a:xfrm>
              <a:off x="3602736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19" name="Icon FaShieldAlt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666744" y="1266444"/>
              <a:ext cx="137160" cy="137160"/>
            </a:xfrm>
            <a:prstGeom prst="rect">
              <a:avLst/>
            </a:prstGeom>
          </p:spPr>
        </p:pic>
        <p:sp>
          <p:nvSpPr>
            <p:cNvPr id="920" name="CP Policies label"/>
            <p:cNvSpPr txBox="1"/>
            <p:nvPr/>
          </p:nvSpPr>
          <p:spPr>
            <a:xfrm>
              <a:off x="3831336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Policies</a:t>
              </a:r>
            </a:p>
          </p:txBody>
        </p:sp>
        <p:sp>
          <p:nvSpPr>
            <p:cNvPr id="921" name="CP Consumers"/>
            <p:cNvSpPr/>
            <p:nvPr/>
          </p:nvSpPr>
          <p:spPr>
            <a:xfrm>
              <a:off x="4443984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22" name="Icon FaUsers" descr="image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507992" y="1266444"/>
              <a:ext cx="137160" cy="137160"/>
            </a:xfrm>
            <a:prstGeom prst="rect">
              <a:avLst/>
            </a:prstGeom>
          </p:spPr>
        </p:pic>
        <p:sp>
          <p:nvSpPr>
            <p:cNvPr id="923" name="CP Consumers label"/>
            <p:cNvSpPr txBox="1"/>
            <p:nvPr/>
          </p:nvSpPr>
          <p:spPr>
            <a:xfrm>
              <a:off x="4672584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Consumers</a:t>
              </a:r>
            </a:p>
          </p:txBody>
        </p:sp>
        <p:sp>
          <p:nvSpPr>
            <p:cNvPr id="924" name="CP MCP Servers"/>
            <p:cNvSpPr/>
            <p:nvPr/>
          </p:nvSpPr>
          <p:spPr>
            <a:xfrm>
              <a:off x="5285232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25" name="Icon FaTable" descr="image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349240" y="1266444"/>
              <a:ext cx="137160" cy="137160"/>
            </a:xfrm>
            <a:prstGeom prst="rect">
              <a:avLst/>
            </a:prstGeom>
          </p:spPr>
        </p:pic>
        <p:sp>
          <p:nvSpPr>
            <p:cNvPr id="926" name="CP MCP Servers label"/>
            <p:cNvSpPr txBox="1"/>
            <p:nvPr/>
          </p:nvSpPr>
          <p:spPr>
            <a:xfrm>
              <a:off x="5513832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MCP Servers</a:t>
              </a:r>
            </a:p>
          </p:txBody>
        </p:sp>
        <p:sp>
          <p:nvSpPr>
            <p:cNvPr id="927" name="CP Agents"/>
            <p:cNvSpPr/>
            <p:nvPr/>
          </p:nvSpPr>
          <p:spPr>
            <a:xfrm>
              <a:off x="6126480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28" name="Icon FaRobot" descr="imag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190488" y="1266444"/>
              <a:ext cx="137160" cy="137160"/>
            </a:xfrm>
            <a:prstGeom prst="rect">
              <a:avLst/>
            </a:prstGeom>
          </p:spPr>
        </p:pic>
        <p:sp>
          <p:nvSpPr>
            <p:cNvPr id="929" name="CP Agents label"/>
            <p:cNvSpPr txBox="1"/>
            <p:nvPr/>
          </p:nvSpPr>
          <p:spPr>
            <a:xfrm>
              <a:off x="6355080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Agents</a:t>
              </a:r>
            </a:p>
          </p:txBody>
        </p:sp>
        <p:sp>
          <p:nvSpPr>
            <p:cNvPr id="930" name="CP AI Vault"/>
            <p:cNvSpPr/>
            <p:nvPr/>
          </p:nvSpPr>
          <p:spPr>
            <a:xfrm>
              <a:off x="6967728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31" name="Icon FaKey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31736" y="1266444"/>
              <a:ext cx="137160" cy="137160"/>
            </a:xfrm>
            <a:prstGeom prst="rect">
              <a:avLst/>
            </a:prstGeom>
          </p:spPr>
        </p:pic>
        <p:sp>
          <p:nvSpPr>
            <p:cNvPr id="932" name="CP AI Vault label"/>
            <p:cNvSpPr txBox="1"/>
            <p:nvPr/>
          </p:nvSpPr>
          <p:spPr>
            <a:xfrm>
              <a:off x="7196328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AI Vault</a:t>
              </a:r>
            </a:p>
          </p:txBody>
        </p:sp>
        <p:sp>
          <p:nvSpPr>
            <p:cNvPr id="933" name="CP Analytics"/>
            <p:cNvSpPr/>
            <p:nvPr/>
          </p:nvSpPr>
          <p:spPr>
            <a:xfrm>
              <a:off x="7808976" y="1197864"/>
              <a:ext cx="786384" cy="274320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34" name="Icon FaChartLine" descr="image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872984" y="1266444"/>
              <a:ext cx="137160" cy="137160"/>
            </a:xfrm>
            <a:prstGeom prst="rect">
              <a:avLst/>
            </a:prstGeom>
          </p:spPr>
        </p:pic>
        <p:sp>
          <p:nvSpPr>
            <p:cNvPr id="935" name="CP Analytics label"/>
            <p:cNvSpPr txBox="1"/>
            <p:nvPr/>
          </p:nvSpPr>
          <p:spPr>
            <a:xfrm>
              <a:off x="8037576" y="1197864"/>
              <a:ext cx="54864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0">
                  <a:solidFill>
                    <a:srgbClr val="FFFFFF"/>
                  </a:solidFill>
                  <a:latin typeface="Calibri"/>
                </a:rPr>
                <a:t>Analytics</a:t>
              </a:r>
            </a:p>
          </p:txBody>
        </p:sp>
        <p:cxnSp>
          <p:nvCxnSpPr>
            <p:cNvPr id="936" name="Config down"/>
            <p:cNvCxnSpPr/>
            <p:nvPr/>
          </p:nvCxnSpPr>
          <p:spPr>
            <a:xfrm>
              <a:off x="2743200" y="1554480"/>
              <a:ext cx="0" cy="246888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37" name="Config label"/>
            <p:cNvSpPr txBox="1"/>
            <p:nvPr/>
          </p:nvSpPr>
          <p:spPr>
            <a:xfrm>
              <a:off x="2834640" y="1554480"/>
              <a:ext cx="3383280" cy="246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1">
                  <a:solidFill>
                    <a:srgbClr val="6B7069"/>
                  </a:solidFill>
                  <a:latin typeface="Calibri"/>
                </a:rPr>
                <a:t>config + certs over mTLS  ·  outbound 443 only</a:t>
              </a:r>
            </a:p>
          </p:txBody>
        </p:sp>
        <p:cxnSp>
          <p:nvCxnSpPr>
            <p:cNvPr id="938" name="Telemetry up"/>
            <p:cNvCxnSpPr/>
            <p:nvPr/>
          </p:nvCxnSpPr>
          <p:spPr>
            <a:xfrm flipV="1">
              <a:off x="6309360" y="1554480"/>
              <a:ext cx="0" cy="246888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39" name="Telemetry label"/>
            <p:cNvSpPr txBox="1"/>
            <p:nvPr/>
          </p:nvSpPr>
          <p:spPr>
            <a:xfrm>
              <a:off x="6400800" y="1554480"/>
              <a:ext cx="2286000" cy="246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1">
                  <a:solidFill>
                    <a:srgbClr val="6B7069"/>
                  </a:solidFill>
                  <a:latin typeface="Calibri"/>
                </a:rPr>
                <a:t>usage, cost, latency (no payloads by default)</a:t>
              </a:r>
            </a:p>
          </p:txBody>
        </p:sp>
      </p:grpSp>
      <p:grpSp>
        <p:nvGrpSpPr>
          <p:cNvPr id="6" name="Ecosystem"/>
          <p:cNvGrpSpPr/>
          <p:nvPr/>
        </p:nvGrpSpPr>
        <p:grpSpPr>
          <a:xfrm>
            <a:off x="457200" y="4279392"/>
            <a:ext cx="8229600" cy="329184"/>
            <a:chOff x="457200" y="4279392"/>
            <a:chExt cx="8229600" cy="329184"/>
          </a:xfrm>
        </p:grpSpPr>
        <p:sp>
          <p:nvSpPr>
            <p:cNvPr id="940" name="Ecosystem band"/>
            <p:cNvSpPr/>
            <p:nvPr/>
          </p:nvSpPr>
          <p:spPr>
            <a:xfrm>
              <a:off x="457200" y="4279392"/>
              <a:ext cx="8229600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1" name="Eco label"/>
            <p:cNvSpPr txBox="1"/>
            <p:nvPr/>
          </p:nvSpPr>
          <p:spPr>
            <a:xfrm>
              <a:off x="566928" y="4279392"/>
              <a:ext cx="105156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1" i="0">
                  <a:solidFill>
                    <a:srgbClr val="4A8500"/>
                  </a:solidFill>
                  <a:latin typeface="Calibri"/>
                </a:rPr>
                <a:t>FITS GNB’S STACK</a:t>
              </a:r>
            </a:p>
          </p:txBody>
        </p:sp>
        <p:sp>
          <p:nvSpPr>
            <p:cNvPr id="942" name="Eco Kubernetes / OpenShift"/>
            <p:cNvSpPr/>
            <p:nvPr/>
          </p:nvSpPr>
          <p:spPr>
            <a:xfrm>
              <a:off x="1627632" y="4329684"/>
              <a:ext cx="1411833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43" name="Icon FaServer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91640" y="4361688"/>
              <a:ext cx="146304" cy="146304"/>
            </a:xfrm>
            <a:prstGeom prst="rect">
              <a:avLst/>
            </a:prstGeom>
          </p:spPr>
        </p:pic>
        <p:sp>
          <p:nvSpPr>
            <p:cNvPr id="944" name="Eco Kubernetes / OpenShift label"/>
            <p:cNvSpPr txBox="1"/>
            <p:nvPr/>
          </p:nvSpPr>
          <p:spPr>
            <a:xfrm>
              <a:off x="1883664" y="4329684"/>
              <a:ext cx="1137513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rgbClr val="001408"/>
                  </a:solidFill>
                  <a:latin typeface="Calibri"/>
                </a:rPr>
                <a:t>Kubernetes / OpenShift</a:t>
              </a:r>
            </a:p>
          </p:txBody>
        </p:sp>
        <p:sp>
          <p:nvSpPr>
            <p:cNvPr id="945" name="Eco IdP via OIDC"/>
            <p:cNvSpPr/>
            <p:nvPr/>
          </p:nvSpPr>
          <p:spPr>
            <a:xfrm>
              <a:off x="3112617" y="4329684"/>
              <a:ext cx="936345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46" name="Icon FaKey" descr="image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176625" y="4361688"/>
              <a:ext cx="146304" cy="146304"/>
            </a:xfrm>
            <a:prstGeom prst="rect">
              <a:avLst/>
            </a:prstGeom>
          </p:spPr>
        </p:pic>
        <p:sp>
          <p:nvSpPr>
            <p:cNvPr id="947" name="Eco IdP via OIDC label"/>
            <p:cNvSpPr txBox="1"/>
            <p:nvPr/>
          </p:nvSpPr>
          <p:spPr>
            <a:xfrm>
              <a:off x="3368649" y="4329684"/>
              <a:ext cx="66202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0" i="0">
                  <a:solidFill>
                    <a:srgbClr val="001408"/>
                  </a:solidFill>
                  <a:latin typeface="Calibri"/>
                </a:rPr>
                <a:t>IdP via OIDC</a:t>
              </a:r>
            </a:p>
          </p:txBody>
        </p:sp>
        <p:sp>
          <p:nvSpPr>
            <p:cNvPr id="948" name="Eco HashiCorp Vault"/>
            <p:cNvSpPr/>
            <p:nvPr/>
          </p:nvSpPr>
          <p:spPr>
            <a:xfrm>
              <a:off x="4122115" y="4329684"/>
              <a:ext cx="1078992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49" name="Icon FaLock" descr="image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186123" y="4361688"/>
              <a:ext cx="146304" cy="146304"/>
            </a:xfrm>
            <a:prstGeom prst="rect">
              <a:avLst/>
            </a:prstGeom>
          </p:spPr>
        </p:pic>
        <p:sp>
          <p:nvSpPr>
            <p:cNvPr id="950" name="Eco HashiCorp Vault label"/>
            <p:cNvSpPr txBox="1"/>
            <p:nvPr/>
          </p:nvSpPr>
          <p:spPr>
            <a:xfrm>
              <a:off x="4378147" y="4329684"/>
              <a:ext cx="804671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HashiCorp Vault</a:t>
              </a:r>
            </a:p>
          </p:txBody>
        </p:sp>
        <p:sp>
          <p:nvSpPr>
            <p:cNvPr id="951" name="Eco SIEM"/>
            <p:cNvSpPr/>
            <p:nvPr/>
          </p:nvSpPr>
          <p:spPr>
            <a:xfrm>
              <a:off x="5274259" y="4329684"/>
              <a:ext cx="555955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52" name="Icon FaBook" descr="image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338267" y="4361688"/>
              <a:ext cx="146304" cy="146304"/>
            </a:xfrm>
            <a:prstGeom prst="rect">
              <a:avLst/>
            </a:prstGeom>
          </p:spPr>
        </p:pic>
        <p:sp>
          <p:nvSpPr>
            <p:cNvPr id="953" name="Eco SIEM label"/>
            <p:cNvSpPr txBox="1"/>
            <p:nvPr/>
          </p:nvSpPr>
          <p:spPr>
            <a:xfrm>
              <a:off x="5530291" y="4329684"/>
              <a:ext cx="281635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0" i="0">
                  <a:solidFill>
                    <a:srgbClr val="001408"/>
                  </a:solidFill>
                  <a:latin typeface="Calibri"/>
                </a:rPr>
                <a:t>SIEM</a:t>
              </a:r>
            </a:p>
          </p:txBody>
        </p:sp>
        <p:sp>
          <p:nvSpPr>
            <p:cNvPr id="954" name="Eco OTel · Prometheus"/>
            <p:cNvSpPr/>
            <p:nvPr/>
          </p:nvSpPr>
          <p:spPr>
            <a:xfrm>
              <a:off x="5903366" y="4329684"/>
              <a:ext cx="1174089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55" name="Icon FaChartBar" descr="image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967374" y="4361688"/>
              <a:ext cx="146304" cy="146304"/>
            </a:xfrm>
            <a:prstGeom prst="rect">
              <a:avLst/>
            </a:prstGeom>
          </p:spPr>
        </p:pic>
        <p:sp>
          <p:nvSpPr>
            <p:cNvPr id="956" name="Eco OTel · Prometheus label"/>
            <p:cNvSpPr txBox="1"/>
            <p:nvPr/>
          </p:nvSpPr>
          <p:spPr>
            <a:xfrm>
              <a:off x="6159398" y="4329684"/>
              <a:ext cx="899769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OTel · Prometheus</a:t>
              </a:r>
            </a:p>
          </p:txBody>
        </p:sp>
        <p:sp>
          <p:nvSpPr>
            <p:cNvPr id="957" name="Eco kongctl GitOps"/>
            <p:cNvSpPr/>
            <p:nvPr/>
          </p:nvSpPr>
          <p:spPr>
            <a:xfrm>
              <a:off x="7150607" y="4329684"/>
              <a:ext cx="1031443" cy="228600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58" name="Icon FaGitAlt" descr="image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214616" y="4361688"/>
              <a:ext cx="146304" cy="146304"/>
            </a:xfrm>
            <a:prstGeom prst="rect">
              <a:avLst/>
            </a:prstGeom>
          </p:spPr>
        </p:pic>
        <p:sp>
          <p:nvSpPr>
            <p:cNvPr id="959" name="Eco kongctl GitOps label"/>
            <p:cNvSpPr txBox="1"/>
            <p:nvPr/>
          </p:nvSpPr>
          <p:spPr>
            <a:xfrm>
              <a:off x="7406640" y="4329684"/>
              <a:ext cx="757123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0" i="0" dirty="0" err="1">
                  <a:solidFill>
                    <a:srgbClr val="001408"/>
                  </a:solidFill>
                  <a:latin typeface="Calibri"/>
                </a:rPr>
                <a:t>kongctl</a:t>
              </a:r>
              <a:r>
                <a:rPr sz="950" b="0" i="0" dirty="0">
                  <a:solidFill>
                    <a:srgbClr val="001408"/>
                  </a:solidFill>
                  <a:latin typeface="Calibri"/>
                </a:rPr>
                <a:t> </a:t>
              </a:r>
              <a:r>
                <a:rPr sz="950" b="0" i="0" dirty="0" err="1">
                  <a:solidFill>
                    <a:srgbClr val="001408"/>
                  </a:solidFill>
                  <a:latin typeface="Calibri"/>
                </a:rPr>
                <a:t>GitOps</a:t>
              </a:r>
              <a:endParaRPr sz="950" b="0" i="0" dirty="0">
                <a:solidFill>
                  <a:srgbClr val="001408"/>
                </a:solidFill>
                <a:latin typeface="Calibri"/>
              </a:endParaRPr>
            </a:p>
          </p:txBody>
        </p:sp>
      </p:grpSp>
      <p:sp>
        <p:nvSpPr>
          <p:cNvPr id="960" name="Source"/>
          <p:cNvSpPr txBox="1"/>
          <p:nvPr/>
        </p:nvSpPr>
        <p:spPr>
          <a:xfrm>
            <a:off x="502920" y="4654296"/>
            <a:ext cx="8138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6B7069"/>
                </a:solidFill>
                <a:latin typeface="Calibri"/>
              </a:rPr>
              <a:t>Source: Options: Dedicated Cloud Gateways in AWS UAE and Azure UAE North; where no SaaS is permitted, the same AI policies run on self-managed Kong Gateway Enterprise with its AI plugins. Kong docs · AI Gateway architecture, Konnect geos</a:t>
            </a:r>
          </a:p>
        </p:txBody>
      </p:sp>
    </p:spTree>
    <p:extLst>
      <p:ext uri="{BB962C8B-B14F-4D97-AF65-F5344CB8AC3E}">
        <p14:creationId xmlns:p14="http://schemas.microsoft.com/office/powerpoint/2010/main" val="29072307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PLATFORM  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GNB's AI platform, end to end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Every user, app and agent reaches the AI factory through </a:t>
            </a:r>
            <a:r>
              <a:rPr sz="1100" b="1" i="0">
                <a:solidFill>
                  <a:srgbClr val="4A8500"/>
                </a:solidFill>
                <a:latin typeface="Calibri"/>
              </a:rPr>
              <a:t>one governed layer</a:t>
            </a:r>
            <a:r>
              <a:rPr sz="1100" b="0" i="0">
                <a:solidFill>
                  <a:srgbClr val="4B5650"/>
                </a:solidFill>
                <a:latin typeface="Calibri"/>
              </a:rPr>
              <a:t>, plugged into the systems the bank already runs.</a:t>
            </a:r>
          </a:p>
        </p:txBody>
      </p:sp>
      <p:grpSp>
        <p:nvGrpSpPr>
          <p:cNvPr id="1032" name="Arch Kong"/>
          <p:cNvGrpSpPr/>
          <p:nvPr/>
        </p:nvGrpSpPr>
        <p:grpSpPr>
          <a:xfrm>
            <a:off x="2907792" y="1170432"/>
            <a:ext cx="4425696" cy="2231136"/>
            <a:chOff x="2907792" y="1170432"/>
            <a:chExt cx="4425696" cy="2231136"/>
          </a:xfrm>
        </p:grpSpPr>
        <p:sp>
          <p:nvSpPr>
            <p:cNvPr id="962" name="Arch Konnect"/>
            <p:cNvSpPr txBox="1"/>
            <p:nvPr/>
          </p:nvSpPr>
          <p:spPr>
            <a:xfrm>
              <a:off x="2907792" y="1170432"/>
              <a:ext cx="2834640" cy="310896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800" b="1" i="0">
                  <a:solidFill>
                    <a:srgbClr val="CCFF00"/>
                  </a:solidFill>
                  <a:latin typeface="Calibri"/>
                </a:rPr>
                <a:t>KONNECT  ·  CONTROL PLANE   </a:t>
              </a:r>
              <a:r>
                <a:rPr lang="en-US" sz="800" b="0" i="0">
                  <a:solidFill>
                    <a:srgbClr val="FFFFFF"/>
                  </a:solidFill>
                  <a:latin typeface="Calibri"/>
                </a:rPr>
                <a:t>config · policies · analytics</a:t>
              </a:r>
              <a:endParaRPr lang="en-US" sz="800"/>
            </a:p>
          </p:txBody>
        </p:sp>
        <p:cxnSp>
          <p:nvCxnSpPr>
            <p:cNvPr id="963" name="Arch Konnect link"/>
            <p:cNvCxnSpPr/>
            <p:nvPr/>
          </p:nvCxnSpPr>
          <p:spPr>
            <a:xfrm>
              <a:off x="4325112" y="1481328"/>
              <a:ext cx="0" cy="438912"/>
            </a:xfrm>
            <a:prstGeom prst="line">
              <a:avLst/>
            </a:prstGeom>
            <a:ln w="12700">
              <a:solidFill>
                <a:srgbClr val="6B7069"/>
              </a:solidFill>
              <a:prstDash val="dash"/>
              <a:tailEnd type="triangle" w="med" len="med"/>
            </a:ln>
          </p:spPr>
        </p:cxnSp>
        <p:sp>
          <p:nvSpPr>
            <p:cNvPr id="964" name="Arch Konnect link note"/>
            <p:cNvSpPr txBox="1"/>
            <p:nvPr/>
          </p:nvSpPr>
          <p:spPr>
            <a:xfrm>
              <a:off x="4407408" y="1481328"/>
              <a:ext cx="2926080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750" b="0" i="1">
                  <a:solidFill>
                    <a:srgbClr val="6B7069"/>
                  </a:solidFill>
                  <a:latin typeface="Calibri"/>
                </a:rPr>
                <a:t>outbound only from the data planes: config in, usage metadata out</a:t>
              </a:r>
              <a:endParaRPr lang="en-US" sz="800"/>
            </a:p>
          </p:txBody>
        </p:sp>
        <p:sp>
          <p:nvSpPr>
            <p:cNvPr id="985" name="Arch C box"/>
            <p:cNvSpPr/>
            <p:nvPr/>
          </p:nvSpPr>
          <p:spPr>
            <a:xfrm>
              <a:off x="2944368" y="1938528"/>
              <a:ext cx="2761488" cy="1463040"/>
            </a:xfrm>
            <a:prstGeom prst="roundRect">
              <a:avLst>
                <a:gd name="adj" fmla="val 5000"/>
              </a:avLst>
            </a:prstGeom>
            <a:solidFill>
              <a:srgbClr val="F7FBEA"/>
            </a:solidFill>
            <a:ln w="15875">
              <a:solidFill>
                <a:srgbClr val="4A8500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86" name="Arch C title"/>
            <p:cNvSpPr txBox="1"/>
            <p:nvPr/>
          </p:nvSpPr>
          <p:spPr>
            <a:xfrm>
              <a:off x="3035808" y="1975104"/>
              <a:ext cx="2651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001408"/>
                  </a:solidFill>
                  <a:latin typeface="Calibri"/>
                </a:rPr>
                <a:t>KONG AI GATEWAY  ·  DATA PLANES</a:t>
              </a:r>
              <a:endParaRPr lang="en-US" sz="800"/>
            </a:p>
          </p:txBody>
        </p:sp>
        <p:sp>
          <p:nvSpPr>
            <p:cNvPr id="987" name="Arch C site DC1"/>
            <p:cNvSpPr/>
            <p:nvPr/>
          </p:nvSpPr>
          <p:spPr>
            <a:xfrm>
              <a:off x="3035808" y="2194560"/>
              <a:ext cx="1261872" cy="53035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88" name="Arch C site DC1 label"/>
            <p:cNvSpPr txBox="1"/>
            <p:nvPr/>
          </p:nvSpPr>
          <p:spPr>
            <a:xfrm>
              <a:off x="3090672" y="2212848"/>
              <a:ext cx="10972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4A8500"/>
                  </a:solidFill>
                  <a:latin typeface="Calibri"/>
                </a:rPr>
                <a:t>DC1</a:t>
              </a:r>
              <a:endParaRPr lang="en-US" sz="800"/>
            </a:p>
          </p:txBody>
        </p:sp>
        <p:sp>
          <p:nvSpPr>
            <p:cNvPr id="989" name="Arch C node DC1 0"/>
            <p:cNvSpPr txBox="1"/>
            <p:nvPr/>
          </p:nvSpPr>
          <p:spPr>
            <a:xfrm>
              <a:off x="3099816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0" name="Arch C node DC1 1"/>
            <p:cNvSpPr txBox="1"/>
            <p:nvPr/>
          </p:nvSpPr>
          <p:spPr>
            <a:xfrm>
              <a:off x="3493008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1" name="Arch C node DC1 2"/>
            <p:cNvSpPr txBox="1"/>
            <p:nvPr/>
          </p:nvSpPr>
          <p:spPr>
            <a:xfrm>
              <a:off x="3886200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2" name="Arch C site DC2"/>
            <p:cNvSpPr/>
            <p:nvPr/>
          </p:nvSpPr>
          <p:spPr>
            <a:xfrm>
              <a:off x="4352544" y="2194560"/>
              <a:ext cx="1261872" cy="53035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93" name="Arch C site DC2 label"/>
            <p:cNvSpPr txBox="1"/>
            <p:nvPr/>
          </p:nvSpPr>
          <p:spPr>
            <a:xfrm>
              <a:off x="4407408" y="2212848"/>
              <a:ext cx="10972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4A8500"/>
                  </a:solidFill>
                  <a:latin typeface="Calibri"/>
                </a:rPr>
                <a:t>DC2</a:t>
              </a:r>
              <a:endParaRPr lang="en-US" sz="800"/>
            </a:p>
          </p:txBody>
        </p:sp>
        <p:sp>
          <p:nvSpPr>
            <p:cNvPr id="994" name="Arch C node DC2 0"/>
            <p:cNvSpPr txBox="1"/>
            <p:nvPr/>
          </p:nvSpPr>
          <p:spPr>
            <a:xfrm>
              <a:off x="4416552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5" name="Arch C node DC2 1"/>
            <p:cNvSpPr txBox="1"/>
            <p:nvPr/>
          </p:nvSpPr>
          <p:spPr>
            <a:xfrm>
              <a:off x="4809744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6" name="Arch C node DC2 2"/>
            <p:cNvSpPr txBox="1"/>
            <p:nvPr/>
          </p:nvSpPr>
          <p:spPr>
            <a:xfrm>
              <a:off x="5202936" y="2395728"/>
              <a:ext cx="347472" cy="256032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750" b="1" i="0">
                  <a:solidFill>
                    <a:srgbClr val="CCFF00"/>
                  </a:solidFill>
                  <a:latin typeface="Calibri"/>
                </a:rPr>
                <a:t>DP</a:t>
              </a:r>
              <a:endParaRPr lang="en-US" sz="800"/>
            </a:p>
          </p:txBody>
        </p:sp>
        <p:sp>
          <p:nvSpPr>
            <p:cNvPr id="997" name="Arch C chip Identity"/>
            <p:cNvSpPr txBox="1"/>
            <p:nvPr/>
          </p:nvSpPr>
          <p:spPr>
            <a:xfrm>
              <a:off x="3035808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Identity</a:t>
              </a:r>
              <a:endParaRPr lang="en-US" sz="800"/>
            </a:p>
          </p:txBody>
        </p:sp>
        <p:sp>
          <p:nvSpPr>
            <p:cNvPr id="998" name="Arch C chip Security"/>
            <p:cNvSpPr txBox="1"/>
            <p:nvPr/>
          </p:nvSpPr>
          <p:spPr>
            <a:xfrm>
              <a:off x="3474720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Security</a:t>
              </a:r>
              <a:endParaRPr lang="en-US" sz="800"/>
            </a:p>
          </p:txBody>
        </p:sp>
        <p:sp>
          <p:nvSpPr>
            <p:cNvPr id="999" name="Arch C chip Output"/>
            <p:cNvSpPr txBox="1"/>
            <p:nvPr/>
          </p:nvSpPr>
          <p:spPr>
            <a:xfrm>
              <a:off x="3913632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Output</a:t>
              </a:r>
              <a:endParaRPr lang="en-US" sz="800"/>
            </a:p>
          </p:txBody>
        </p:sp>
        <p:sp>
          <p:nvSpPr>
            <p:cNvPr id="1000" name="Arch C chip Traffic"/>
            <p:cNvSpPr txBox="1"/>
            <p:nvPr/>
          </p:nvSpPr>
          <p:spPr>
            <a:xfrm>
              <a:off x="4352544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Traffic</a:t>
              </a:r>
              <a:endParaRPr lang="en-US" sz="800"/>
            </a:p>
          </p:txBody>
        </p:sp>
        <p:sp>
          <p:nvSpPr>
            <p:cNvPr id="1001" name="Arch C chip Tokens"/>
            <p:cNvSpPr txBox="1"/>
            <p:nvPr/>
          </p:nvSpPr>
          <p:spPr>
            <a:xfrm>
              <a:off x="4791456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Tokens</a:t>
              </a:r>
              <a:endParaRPr lang="en-US" sz="800"/>
            </a:p>
          </p:txBody>
        </p:sp>
        <p:sp>
          <p:nvSpPr>
            <p:cNvPr id="1002" name="Arch C chip Observe"/>
            <p:cNvSpPr txBox="1"/>
            <p:nvPr/>
          </p:nvSpPr>
          <p:spPr>
            <a:xfrm>
              <a:off x="5230368" y="2807208"/>
              <a:ext cx="411480" cy="201168"/>
            </a:xfrm>
            <a:prstGeom prst="roundRect">
              <a:avLst>
                <a:gd name="adj" fmla="val 3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Observe</a:t>
              </a:r>
              <a:endParaRPr lang="en-US" sz="800"/>
            </a:p>
          </p:txBody>
        </p:sp>
        <p:sp>
          <p:nvSpPr>
            <p:cNvPr id="1003" name="Arch C caption"/>
            <p:cNvSpPr txBox="1"/>
            <p:nvPr/>
          </p:nvSpPr>
          <p:spPr>
            <a:xfrm>
              <a:off x="3035808" y="3054096"/>
              <a:ext cx="2615184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active-active · stateless · Kubernetes / OpenShift</a:t>
              </a:r>
              <a:endParaRPr lang="en-US" sz="800"/>
            </a:p>
            <a:p>
              <a:pPr algn="l"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one policy pipeline for every call · config as code</a:t>
              </a:r>
              <a:endParaRPr lang="en-US" sz="800"/>
            </a:p>
          </p:txBody>
        </p:sp>
        <p:cxnSp>
          <p:nvCxnSpPr>
            <p:cNvPr id="1004" name="Arch C to D"/>
            <p:cNvCxnSpPr/>
            <p:nvPr/>
          </p:nvCxnSpPr>
          <p:spPr>
            <a:xfrm>
              <a:off x="5724144" y="2715768"/>
              <a:ext cx="146304" cy="0"/>
            </a:xfrm>
            <a:prstGeom prst="line">
              <a:avLst/>
            </a:prstGeom>
            <a:ln w="15875">
              <a:solidFill>
                <a:srgbClr val="001408"/>
              </a:solidFill>
              <a:tailEnd type="triangle" w="med" len="med"/>
            </a:ln>
          </p:spPr>
        </p:cxnSp>
      </p:grpSp>
      <p:grpSp>
        <p:nvGrpSpPr>
          <p:cNvPr id="1033" name="Arch factory"/>
          <p:cNvGrpSpPr/>
          <p:nvPr/>
        </p:nvGrpSpPr>
        <p:grpSpPr>
          <a:xfrm>
            <a:off x="411480" y="1645920"/>
            <a:ext cx="8321040" cy="2816352"/>
            <a:chOff x="411480" y="1645920"/>
            <a:chExt cx="8321040" cy="2816352"/>
          </a:xfrm>
        </p:grpSpPr>
        <p:sp>
          <p:nvSpPr>
            <p:cNvPr id="965" name="Arch DC boundary"/>
            <p:cNvSpPr/>
            <p:nvPr/>
          </p:nvSpPr>
          <p:spPr>
            <a:xfrm>
              <a:off x="411480" y="1645920"/>
              <a:ext cx="8321040" cy="2816352"/>
            </a:xfrm>
            <a:prstGeom prst="roundRect">
              <a:avLst>
                <a:gd name="adj" fmla="val 3000"/>
              </a:avLst>
            </a:prstGeom>
            <a:noFill/>
            <a:ln w="12700">
              <a:solidFill>
                <a:srgbClr val="4A8500"/>
              </a:solidFill>
              <a:prstDash val="dash"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66" name="Arch DC label"/>
            <p:cNvSpPr txBox="1"/>
            <p:nvPr/>
          </p:nvSpPr>
          <p:spPr>
            <a:xfrm>
              <a:off x="548640" y="1700784"/>
              <a:ext cx="329184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4A8500"/>
                  </a:solidFill>
                  <a:latin typeface="Calibri"/>
                </a:rPr>
                <a:t>GNB DATA CENTRES  ·  DC1 + DC2  ·  IN-COUNTRY</a:t>
              </a:r>
              <a:endParaRPr lang="en-US" sz="800"/>
            </a:p>
          </p:txBody>
        </p:sp>
        <p:sp>
          <p:nvSpPr>
            <p:cNvPr id="1005" name="Arch D label"/>
            <p:cNvSpPr txBox="1"/>
            <p:nvPr/>
          </p:nvSpPr>
          <p:spPr>
            <a:xfrm>
              <a:off x="5907024" y="1938528"/>
              <a:ext cx="265176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6B7069"/>
                  </a:solidFill>
                  <a:latin typeface="Calibri"/>
                </a:rPr>
                <a:t>GNB AI FACTORY</a:t>
              </a:r>
              <a:endParaRPr lang="en-US" sz="800"/>
            </a:p>
          </p:txBody>
        </p:sp>
        <p:sp>
          <p:nvSpPr>
            <p:cNvPr id="1006" name="Arch D row 0"/>
            <p:cNvSpPr/>
            <p:nvPr/>
          </p:nvSpPr>
          <p:spPr>
            <a:xfrm>
              <a:off x="5907024" y="2121408"/>
              <a:ext cx="2706624" cy="2286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07" name="Arch D icon 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1032" y="2167128"/>
              <a:ext cx="137160" cy="137160"/>
            </a:xfrm>
            <a:prstGeom prst="rect">
              <a:avLst/>
            </a:prstGeom>
          </p:spPr>
        </p:pic>
        <p:sp>
          <p:nvSpPr>
            <p:cNvPr id="1008" name="Arch D text 0"/>
            <p:cNvSpPr txBox="1"/>
            <p:nvPr/>
          </p:nvSpPr>
          <p:spPr>
            <a:xfrm>
              <a:off x="6163056" y="2121408"/>
              <a:ext cx="2432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LLMs on vLLM   </a:t>
              </a: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open-weight · Arabic-capable</a:t>
              </a:r>
              <a:endParaRPr lang="en-US" sz="800"/>
            </a:p>
          </p:txBody>
        </p:sp>
        <p:sp>
          <p:nvSpPr>
            <p:cNvPr id="1009" name="Arch D row 1"/>
            <p:cNvSpPr/>
            <p:nvPr/>
          </p:nvSpPr>
          <p:spPr>
            <a:xfrm>
              <a:off x="5907024" y="2377440"/>
              <a:ext cx="2706624" cy="2286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10" name="Arch D icon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1032" y="2423160"/>
              <a:ext cx="137160" cy="137160"/>
            </a:xfrm>
            <a:prstGeom prst="rect">
              <a:avLst/>
            </a:prstGeom>
          </p:spPr>
        </p:pic>
        <p:sp>
          <p:nvSpPr>
            <p:cNvPr id="1011" name="Arch D text 1"/>
            <p:cNvSpPr txBox="1"/>
            <p:nvPr/>
          </p:nvSpPr>
          <p:spPr>
            <a:xfrm>
              <a:off x="6163056" y="2377440"/>
              <a:ext cx="2432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Embedding models   </a:t>
              </a: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routing · cache · guards</a:t>
              </a:r>
              <a:endParaRPr lang="en-US" sz="800"/>
            </a:p>
          </p:txBody>
        </p:sp>
        <p:sp>
          <p:nvSpPr>
            <p:cNvPr id="1012" name="Arch D row 2"/>
            <p:cNvSpPr/>
            <p:nvPr/>
          </p:nvSpPr>
          <p:spPr>
            <a:xfrm>
              <a:off x="5907024" y="2633472"/>
              <a:ext cx="2706624" cy="2286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13" name="Arch D icon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71032" y="2679192"/>
              <a:ext cx="137160" cy="137160"/>
            </a:xfrm>
            <a:prstGeom prst="rect">
              <a:avLst/>
            </a:prstGeom>
          </p:spPr>
        </p:pic>
        <p:sp>
          <p:nvSpPr>
            <p:cNvPr id="1014" name="Arch D text 2"/>
            <p:cNvSpPr txBox="1"/>
            <p:nvPr/>
          </p:nvSpPr>
          <p:spPr>
            <a:xfrm>
              <a:off x="6163056" y="2633472"/>
              <a:ext cx="2432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Vector store   </a:t>
              </a: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pgvector · RAG</a:t>
              </a:r>
              <a:endParaRPr lang="en-US" sz="800"/>
            </a:p>
          </p:txBody>
        </p:sp>
        <p:sp>
          <p:nvSpPr>
            <p:cNvPr id="1015" name="Arch D row 3"/>
            <p:cNvSpPr/>
            <p:nvPr/>
          </p:nvSpPr>
          <p:spPr>
            <a:xfrm>
              <a:off x="5907024" y="2889504"/>
              <a:ext cx="2706624" cy="2286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16" name="Arch D icon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71032" y="2935224"/>
              <a:ext cx="137160" cy="137160"/>
            </a:xfrm>
            <a:prstGeom prst="rect">
              <a:avLst/>
            </a:prstGeom>
          </p:spPr>
        </p:pic>
        <p:sp>
          <p:nvSpPr>
            <p:cNvPr id="1017" name="Arch D text 3"/>
            <p:cNvSpPr txBox="1"/>
            <p:nvPr/>
          </p:nvSpPr>
          <p:spPr>
            <a:xfrm>
              <a:off x="6163056" y="2889504"/>
              <a:ext cx="2432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MCP tools   </a:t>
              </a: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core banking APIs as tools</a:t>
              </a:r>
              <a:endParaRPr lang="en-US" sz="800"/>
            </a:p>
          </p:txBody>
        </p:sp>
        <p:sp>
          <p:nvSpPr>
            <p:cNvPr id="1018" name="Arch D row 4"/>
            <p:cNvSpPr/>
            <p:nvPr/>
          </p:nvSpPr>
          <p:spPr>
            <a:xfrm>
              <a:off x="5907024" y="3145536"/>
              <a:ext cx="2706624" cy="2286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19" name="Arch D icon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71032" y="3191256"/>
              <a:ext cx="137160" cy="137160"/>
            </a:xfrm>
            <a:prstGeom prst="rect">
              <a:avLst/>
            </a:prstGeom>
          </p:spPr>
        </p:pic>
        <p:sp>
          <p:nvSpPr>
            <p:cNvPr id="1020" name="Arch D text 4"/>
            <p:cNvSpPr txBox="1"/>
            <p:nvPr/>
          </p:nvSpPr>
          <p:spPr>
            <a:xfrm>
              <a:off x="6163056" y="3145536"/>
              <a:ext cx="2432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Agents (A2A)   </a:t>
              </a: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agent-to-agent calls</a:t>
              </a:r>
              <a:endParaRPr lang="en-US" sz="800"/>
            </a:p>
          </p:txBody>
        </p:sp>
      </p:grpSp>
      <p:grpSp>
        <p:nvGrpSpPr>
          <p:cNvPr id="1031" name="Arch who calls and edge"/>
          <p:cNvGrpSpPr/>
          <p:nvPr/>
        </p:nvGrpSpPr>
        <p:grpSpPr>
          <a:xfrm>
            <a:off x="566928" y="1938528"/>
            <a:ext cx="2359152" cy="1371600"/>
            <a:chOff x="566928" y="1938528"/>
            <a:chExt cx="2359152" cy="1371600"/>
          </a:xfrm>
        </p:grpSpPr>
        <p:sp>
          <p:nvSpPr>
            <p:cNvPr id="967" name="Arch A label"/>
            <p:cNvSpPr txBox="1"/>
            <p:nvPr/>
          </p:nvSpPr>
          <p:spPr>
            <a:xfrm>
              <a:off x="566928" y="1938528"/>
              <a:ext cx="128016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6B7069"/>
                  </a:solidFill>
                  <a:latin typeface="Calibri"/>
                </a:rPr>
                <a:t>WHO CALLS</a:t>
              </a:r>
              <a:endParaRPr lang="en-US" sz="800"/>
            </a:p>
          </p:txBody>
        </p:sp>
        <p:sp>
          <p:nvSpPr>
            <p:cNvPr id="968" name="Arch A card 0"/>
            <p:cNvSpPr/>
            <p:nvPr/>
          </p:nvSpPr>
          <p:spPr>
            <a:xfrm>
              <a:off x="566928" y="2121408"/>
              <a:ext cx="1298448" cy="2560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969" name="Arch A icon 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0080" y="2176272"/>
              <a:ext cx="146304" cy="146304"/>
            </a:xfrm>
            <a:prstGeom prst="rect">
              <a:avLst/>
            </a:prstGeom>
          </p:spPr>
        </p:pic>
        <p:sp>
          <p:nvSpPr>
            <p:cNvPr id="970" name="Arch A text 0"/>
            <p:cNvSpPr txBox="1"/>
            <p:nvPr/>
          </p:nvSpPr>
          <p:spPr>
            <a:xfrm>
              <a:off x="841248" y="2121408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Staff &amp; copilots</a:t>
              </a:r>
              <a:endParaRPr lang="en-US" sz="800"/>
            </a:p>
          </p:txBody>
        </p:sp>
        <p:sp>
          <p:nvSpPr>
            <p:cNvPr id="971" name="Arch A card 1"/>
            <p:cNvSpPr/>
            <p:nvPr/>
          </p:nvSpPr>
          <p:spPr>
            <a:xfrm>
              <a:off x="566928" y="2432304"/>
              <a:ext cx="1298448" cy="2560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972" name="Arch A icon 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0080" y="2487168"/>
              <a:ext cx="146304" cy="146304"/>
            </a:xfrm>
            <a:prstGeom prst="rect">
              <a:avLst/>
            </a:prstGeom>
          </p:spPr>
        </p:pic>
        <p:sp>
          <p:nvSpPr>
            <p:cNvPr id="973" name="Arch A text 1"/>
            <p:cNvSpPr txBox="1"/>
            <p:nvPr/>
          </p:nvSpPr>
          <p:spPr>
            <a:xfrm>
              <a:off x="841248" y="2432304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Customer channels</a:t>
              </a:r>
              <a:endParaRPr lang="en-US" sz="800"/>
            </a:p>
          </p:txBody>
        </p:sp>
        <p:sp>
          <p:nvSpPr>
            <p:cNvPr id="974" name="Arch A card 2"/>
            <p:cNvSpPr/>
            <p:nvPr/>
          </p:nvSpPr>
          <p:spPr>
            <a:xfrm>
              <a:off x="566928" y="2743200"/>
              <a:ext cx="1298448" cy="2560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975" name="Arch A icon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080" y="2798064"/>
              <a:ext cx="146304" cy="146304"/>
            </a:xfrm>
            <a:prstGeom prst="rect">
              <a:avLst/>
            </a:prstGeom>
          </p:spPr>
        </p:pic>
        <p:sp>
          <p:nvSpPr>
            <p:cNvPr id="976" name="Arch A text 2"/>
            <p:cNvSpPr txBox="1"/>
            <p:nvPr/>
          </p:nvSpPr>
          <p:spPr>
            <a:xfrm>
              <a:off x="841248" y="2743200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AI agents</a:t>
              </a:r>
              <a:endParaRPr lang="en-US" sz="800"/>
            </a:p>
          </p:txBody>
        </p:sp>
        <p:sp>
          <p:nvSpPr>
            <p:cNvPr id="977" name="Arch A card 3"/>
            <p:cNvSpPr/>
            <p:nvPr/>
          </p:nvSpPr>
          <p:spPr>
            <a:xfrm>
              <a:off x="566928" y="3054096"/>
              <a:ext cx="1298448" cy="2560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978" name="Arch A icon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3108960"/>
              <a:ext cx="146304" cy="146304"/>
            </a:xfrm>
            <a:prstGeom prst="rect">
              <a:avLst/>
            </a:prstGeom>
          </p:spPr>
        </p:pic>
        <p:sp>
          <p:nvSpPr>
            <p:cNvPr id="979" name="Arch A text 3"/>
            <p:cNvSpPr txBox="1"/>
            <p:nvPr/>
          </p:nvSpPr>
          <p:spPr>
            <a:xfrm>
              <a:off x="841248" y="3054096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Apps &amp; data teams</a:t>
              </a:r>
              <a:endParaRPr lang="en-US" sz="800"/>
            </a:p>
          </p:txBody>
        </p:sp>
        <p:cxnSp>
          <p:nvCxnSpPr>
            <p:cNvPr id="980" name="Arch A to B"/>
            <p:cNvCxnSpPr/>
            <p:nvPr/>
          </p:nvCxnSpPr>
          <p:spPr>
            <a:xfrm>
              <a:off x="1883664" y="2715768"/>
              <a:ext cx="128016" cy="0"/>
            </a:xfrm>
            <a:prstGeom prst="line">
              <a:avLst/>
            </a:prstGeom>
            <a:ln w="15875">
              <a:solidFill>
                <a:srgbClr val="001408"/>
              </a:solidFill>
              <a:tailEnd type="triangle" w="med" len="med"/>
            </a:ln>
          </p:spPr>
        </p:cxnSp>
        <p:sp>
          <p:nvSpPr>
            <p:cNvPr id="981" name="Arch B label"/>
            <p:cNvSpPr txBox="1"/>
            <p:nvPr/>
          </p:nvSpPr>
          <p:spPr>
            <a:xfrm>
              <a:off x="2029968" y="1938528"/>
              <a:ext cx="82296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6B7069"/>
                  </a:solidFill>
                  <a:latin typeface="Calibri"/>
                </a:rPr>
                <a:t>EDGE</a:t>
              </a:r>
              <a:endParaRPr lang="en-US" sz="800"/>
            </a:p>
          </p:txBody>
        </p:sp>
        <p:sp>
          <p:nvSpPr>
            <p:cNvPr id="982" name="Arch B firewall"/>
            <p:cNvSpPr txBox="1"/>
            <p:nvPr/>
          </p:nvSpPr>
          <p:spPr>
            <a:xfrm>
              <a:off x="2029968" y="2121408"/>
              <a:ext cx="768096" cy="548640"/>
            </a:xfrm>
            <a:prstGeom prst="roundRect">
              <a:avLst>
                <a:gd name="adj" fmla="val 10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Firewall</a:t>
              </a:r>
              <a:endParaRPr lang="en-US" sz="800"/>
            </a:p>
            <a:p>
              <a:pPr algn="ctr"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WAF · zones</a:t>
              </a:r>
              <a:endParaRPr lang="en-US" sz="800"/>
            </a:p>
          </p:txBody>
        </p:sp>
        <p:sp>
          <p:nvSpPr>
            <p:cNvPr id="983" name="Arch B lb"/>
            <p:cNvSpPr txBox="1"/>
            <p:nvPr/>
          </p:nvSpPr>
          <p:spPr>
            <a:xfrm>
              <a:off x="2029968" y="2743200"/>
              <a:ext cx="768096" cy="566928"/>
            </a:xfrm>
            <a:prstGeom prst="roundRect">
              <a:avLst>
                <a:gd name="adj" fmla="val 10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Load balancer</a:t>
              </a:r>
              <a:endParaRPr lang="en-US" sz="800"/>
            </a:p>
            <a:p>
              <a:pPr algn="ctr"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F5 · ingress</a:t>
              </a:r>
              <a:endParaRPr lang="en-US" sz="800"/>
            </a:p>
          </p:txBody>
        </p:sp>
        <p:cxnSp>
          <p:nvCxnSpPr>
            <p:cNvPr id="984" name="Arch B to C"/>
            <p:cNvCxnSpPr/>
            <p:nvPr/>
          </p:nvCxnSpPr>
          <p:spPr>
            <a:xfrm>
              <a:off x="2816352" y="2715768"/>
              <a:ext cx="109728" cy="0"/>
            </a:xfrm>
            <a:prstGeom prst="line">
              <a:avLst/>
            </a:prstGeom>
            <a:ln w="15875">
              <a:solidFill>
                <a:srgbClr val="001408"/>
              </a:solidFill>
              <a:tailEnd type="triangle" w="med" len="med"/>
            </a:ln>
          </p:spPr>
        </p:cxnSp>
      </p:grpSp>
      <p:grpSp>
        <p:nvGrpSpPr>
          <p:cNvPr id="1034" name="Arch ecosystem"/>
          <p:cNvGrpSpPr/>
          <p:nvPr/>
        </p:nvGrpSpPr>
        <p:grpSpPr>
          <a:xfrm>
            <a:off x="566928" y="3401568"/>
            <a:ext cx="8055864" cy="896112"/>
            <a:chOff x="566928" y="3401568"/>
            <a:chExt cx="8055864" cy="896112"/>
          </a:xfrm>
        </p:grpSpPr>
        <p:cxnSp>
          <p:nvCxnSpPr>
            <p:cNvPr id="1021" name="Arch C to E"/>
            <p:cNvCxnSpPr/>
            <p:nvPr/>
          </p:nvCxnSpPr>
          <p:spPr>
            <a:xfrm>
              <a:off x="4325112" y="3401568"/>
              <a:ext cx="0" cy="292608"/>
            </a:xfrm>
            <a:prstGeom prst="line">
              <a:avLst/>
            </a:prstGeom>
            <a:ln w="15875">
              <a:solidFill>
                <a:srgbClr val="4A8500"/>
              </a:solidFill>
            </a:ln>
          </p:spPr>
        </p:cxnSp>
        <p:sp>
          <p:nvSpPr>
            <p:cNvPr id="1022" name="Arch E label"/>
            <p:cNvSpPr txBox="1"/>
            <p:nvPr/>
          </p:nvSpPr>
          <p:spPr>
            <a:xfrm>
              <a:off x="566928" y="3511296"/>
              <a:ext cx="329184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750" b="1" i="0">
                  <a:solidFill>
                    <a:srgbClr val="6B7069"/>
                  </a:solidFill>
                  <a:latin typeface="Calibri"/>
                </a:rPr>
                <a:t>PLUGS INTO GNB'S ECOSYSTEM</a:t>
              </a:r>
              <a:endParaRPr lang="en-US" sz="800"/>
            </a:p>
          </p:txBody>
        </p:sp>
        <p:sp>
          <p:nvSpPr>
            <p:cNvPr id="1023" name="Arch E tile 0"/>
            <p:cNvSpPr txBox="1"/>
            <p:nvPr/>
          </p:nvSpPr>
          <p:spPr>
            <a:xfrm>
              <a:off x="566928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Identity provider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OIDC · Entra ID / Keycloak</a:t>
              </a:r>
              <a:endParaRPr lang="en-US" sz="800"/>
            </a:p>
          </p:txBody>
        </p:sp>
        <p:sp>
          <p:nvSpPr>
            <p:cNvPr id="1024" name="Arch E tile 1"/>
            <p:cNvSpPr txBox="1"/>
            <p:nvPr/>
          </p:nvSpPr>
          <p:spPr>
            <a:xfrm>
              <a:off x="1918716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Secrets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HashiCorp Vault</a:t>
              </a:r>
              <a:endParaRPr lang="en-US" sz="800"/>
            </a:p>
          </p:txBody>
        </p:sp>
        <p:sp>
          <p:nvSpPr>
            <p:cNvPr id="1025" name="Arch E tile 2"/>
            <p:cNvSpPr txBox="1"/>
            <p:nvPr/>
          </p:nvSpPr>
          <p:spPr>
            <a:xfrm>
              <a:off x="3270504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SIEM / SOC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audit logs · Splunk / QRadar</a:t>
              </a:r>
              <a:endParaRPr lang="en-US" sz="800"/>
            </a:p>
          </p:txBody>
        </p:sp>
        <p:sp>
          <p:nvSpPr>
            <p:cNvPr id="1026" name="Arch E tile 3"/>
            <p:cNvSpPr txBox="1"/>
            <p:nvPr/>
          </p:nvSpPr>
          <p:spPr>
            <a:xfrm>
              <a:off x="4622292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Monitoring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Prometheus · OpenTelemetry</a:t>
              </a:r>
              <a:endParaRPr lang="en-US" sz="800"/>
            </a:p>
          </p:txBody>
        </p:sp>
        <p:sp>
          <p:nvSpPr>
            <p:cNvPr id="1027" name="Arch E tile 4"/>
            <p:cNvSpPr txBox="1"/>
            <p:nvPr/>
          </p:nvSpPr>
          <p:spPr>
            <a:xfrm>
              <a:off x="5974080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CI/CD · Git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kongctl · Terraform</a:t>
              </a:r>
              <a:endParaRPr lang="en-US" sz="800"/>
            </a:p>
          </p:txBody>
        </p:sp>
        <p:sp>
          <p:nvSpPr>
            <p:cNvPr id="1028" name="Arch E tile 5"/>
            <p:cNvSpPr txBox="1"/>
            <p:nvPr/>
          </p:nvSpPr>
          <p:spPr>
            <a:xfrm>
              <a:off x="7325868" y="3694176"/>
              <a:ext cx="1296924" cy="603504"/>
            </a:xfrm>
            <a:prstGeom prst="roundRect">
              <a:avLst>
                <a:gd name="adj" fmla="val 8000"/>
              </a:avLst>
            </a:prstGeom>
            <a:solidFill>
              <a:srgbClr val="F3F5F0"/>
            </a:solidFill>
            <a:ln w="6350">
              <a:solidFill>
                <a:srgbClr val="D3D9CC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Aft>
                  <a:spcPts val="100"/>
                </a:spcAft>
                <a:buNone/>
              </a:pPr>
              <a:r>
                <a:rPr lang="en-US" sz="800" b="1" i="0">
                  <a:solidFill>
                    <a:srgbClr val="001408"/>
                  </a:solidFill>
                  <a:latin typeface="Calibri"/>
                </a:rPr>
                <a:t>PII service</a:t>
              </a:r>
              <a:endParaRPr lang="en-US" sz="800"/>
            </a:p>
            <a:p>
              <a:pPr algn="ctr">
                <a:spcAft>
                  <a:spcPts val="100"/>
                </a:spcAft>
                <a:buNone/>
              </a:pPr>
              <a:r>
                <a:rPr lang="en-US" sz="700" b="0" i="0">
                  <a:solidFill>
                    <a:srgbClr val="4B5650"/>
                  </a:solidFill>
                  <a:latin typeface="Calibri"/>
                </a:rPr>
                <a:t>on-prem anonymizer</a:t>
              </a:r>
              <a:endParaRPr lang="en-US" sz="800"/>
            </a:p>
          </p:txBody>
        </p:sp>
      </p:grpSp>
      <p:sp>
        <p:nvSpPr>
          <p:cNvPr id="1029" name="Arch note"/>
          <p:cNvSpPr txBox="1"/>
          <p:nvPr/>
        </p:nvSpPr>
        <p:spPr>
          <a:xfrm>
            <a:off x="502920" y="4517136"/>
            <a:ext cx="8138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750" b="0" i="1">
                <a:solidFill>
                  <a:srgbClr val="6B7069"/>
                </a:solidFill>
                <a:latin typeface="Calibri"/>
              </a:rPr>
              <a:t>All AI traffic stays inside GNB's data centres, in-country. Konnect holds configuration and usage metadata only; the data planes keep serving if the link drops.</a:t>
            </a:r>
            <a:endParaRPr lang="en-US" sz="8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AS BUILT  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The demo's reference architecture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What runs in the demo, mapped to GNB production: control plane in Konnect, everything that touches data inside the data centre.</a:t>
            </a:r>
          </a:p>
        </p:txBody>
      </p:sp>
      <p:pic>
        <p:nvPicPr>
          <p:cNvPr id="900" name="GNB demo architecture (generated)" descr="Layered reference architecture: control plane (Konnect) above, GNB data centre below with consumers, the Kong AI Gateway data plane and its security, governance, tokenomics and agentic policies, upstreams and supporting servic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3856"/>
            <a:ext cx="8229600" cy="3483864"/>
          </a:xfrm>
          <a:prstGeom prst="rect">
            <a:avLst/>
          </a:prstGeom>
        </p:spPr>
      </p:pic>
      <p:sp>
        <p:nvSpPr>
          <p:cNvPr id="960" name="Source"/>
          <p:cNvSpPr txBox="1"/>
          <p:nvPr/>
        </p:nvSpPr>
        <p:spPr>
          <a:xfrm>
            <a:off x="502920" y="4654296"/>
            <a:ext cx="8138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6B7069"/>
                </a:solidFill>
                <a:latin typeface="Calibri"/>
              </a:rPr>
              <a:t>Source: generated from the deployed configuration (Konnect API, docker-compose.yml), 21 Oct 2026, commit 6ee1ec2. The interactive version runs live in the demo.</a:t>
            </a:r>
          </a:p>
        </p:txBody>
      </p:sp>
      <p:sp>
        <p:nvSpPr>
          <p:cNvPr id="962" name="Highlight 1 Konnect"/>
          <p:cNvSpPr/>
          <p:nvPr/>
        </p:nvSpPr>
        <p:spPr>
          <a:xfrm>
            <a:off x="512064" y="1143000"/>
            <a:ext cx="7077456" cy="658368"/>
          </a:xfrm>
          <a:prstGeom prst="roundRect">
            <a:avLst>
              <a:gd name="adj" fmla="val 6000"/>
            </a:avLst>
          </a:prstGeom>
          <a:solidFill>
            <a:srgbClr val="CCFF00">
              <a:alpha val="20000"/>
            </a:srgbClr>
          </a:solidFill>
          <a:ln w="28575">
            <a:solidFill>
              <a:srgbClr val="4A850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63" name="Highlight 2 data path"/>
          <p:cNvSpPr/>
          <p:nvPr/>
        </p:nvSpPr>
        <p:spPr>
          <a:xfrm>
            <a:off x="585216" y="2194560"/>
            <a:ext cx="5394960" cy="1673352"/>
          </a:xfrm>
          <a:prstGeom prst="roundRect">
            <a:avLst>
              <a:gd name="adj" fmla="val 6000"/>
            </a:avLst>
          </a:prstGeom>
          <a:solidFill>
            <a:srgbClr val="CCFF00">
              <a:alpha val="20000"/>
            </a:srgbClr>
          </a:solidFill>
          <a:ln w="28575">
            <a:solidFill>
              <a:srgbClr val="4A850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64" name="Highlight 3 AI factory and upstreams"/>
          <p:cNvSpPr/>
          <p:nvPr/>
        </p:nvSpPr>
        <p:spPr>
          <a:xfrm>
            <a:off x="6071616" y="2286000"/>
            <a:ext cx="1463040" cy="1563624"/>
          </a:xfrm>
          <a:prstGeom prst="roundRect">
            <a:avLst>
              <a:gd name="adj" fmla="val 6000"/>
            </a:avLst>
          </a:prstGeom>
          <a:solidFill>
            <a:srgbClr val="CCFF00">
              <a:alpha val="20000"/>
            </a:srgbClr>
          </a:solidFill>
          <a:ln w="28575">
            <a:solidFill>
              <a:srgbClr val="4A8500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965" name="Highlight 4 GNB systems"/>
          <p:cNvSpPr/>
          <p:nvPr/>
        </p:nvSpPr>
        <p:spPr>
          <a:xfrm>
            <a:off x="585216" y="4041648"/>
            <a:ext cx="6931152" cy="502920"/>
          </a:xfrm>
          <a:prstGeom prst="roundRect">
            <a:avLst>
              <a:gd name="adj" fmla="val 6000"/>
            </a:avLst>
          </a:prstGeom>
          <a:solidFill>
            <a:srgbClr val="CCFF00">
              <a:alpha val="20000"/>
            </a:srgbClr>
          </a:solidFill>
          <a:ln w="28575">
            <a:solidFill>
              <a:srgbClr val="4A8500"/>
            </a:solidFill>
          </a:ln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409873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ROOM  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What each of you needs, and how Kong delivers it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7818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B5650"/>
                </a:solidFill>
                <a:latin typeface="Calibri"/>
              </a:rPr>
              <a:t>Enforced in the data path, </a:t>
            </a:r>
            <a:r>
              <a:rPr sz="1200" b="1" i="0">
                <a:solidFill>
                  <a:srgbClr val="001408"/>
                </a:solidFill>
                <a:latin typeface="Calibri"/>
              </a:rPr>
              <a:t>not in application code</a:t>
            </a:r>
            <a:r>
              <a:rPr sz="1200" b="0" i="0">
                <a:solidFill>
                  <a:srgbClr val="4B5650"/>
                </a:solidFill>
                <a:latin typeface="Calibri"/>
              </a:rPr>
              <a:t>: each of you gets what production needs, from one layer.</a:t>
            </a:r>
          </a:p>
        </p:txBody>
      </p:sp>
      <p:grpSp>
        <p:nvGrpSpPr>
          <p:cNvPr id="1045" name="Role column CIO"/>
          <p:cNvGrpSpPr/>
          <p:nvPr/>
        </p:nvGrpSpPr>
        <p:grpSpPr>
          <a:xfrm>
            <a:off x="457200" y="1207008"/>
            <a:ext cx="2670048" cy="3054096"/>
            <a:chOff x="457200" y="1207008"/>
            <a:chExt cx="2670048" cy="3054096"/>
          </a:xfrm>
        </p:grpSpPr>
        <p:sp>
          <p:nvSpPr>
            <p:cNvPr id="984" name="Role CIO card"/>
            <p:cNvSpPr/>
            <p:nvPr/>
          </p:nvSpPr>
          <p:spPr>
            <a:xfrm>
              <a:off x="457200" y="1207008"/>
              <a:ext cx="2670048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85" name="Role CIO head"/>
            <p:cNvSpPr/>
            <p:nvPr/>
          </p:nvSpPr>
          <p:spPr>
            <a:xfrm>
              <a:off x="457200" y="1207008"/>
              <a:ext cx="2670048" cy="420624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986" name="Role CIO badge"/>
            <p:cNvSpPr/>
            <p:nvPr/>
          </p:nvSpPr>
          <p:spPr>
            <a:xfrm>
              <a:off x="566928" y="1271016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987" name="Role CIO 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344168"/>
              <a:ext cx="146304" cy="146304"/>
            </a:xfrm>
            <a:prstGeom prst="rect">
              <a:avLst/>
            </a:prstGeom>
          </p:spPr>
        </p:pic>
        <p:sp>
          <p:nvSpPr>
            <p:cNvPr id="988" name="Role CIO name"/>
            <p:cNvSpPr txBox="1"/>
            <p:nvPr/>
          </p:nvSpPr>
          <p:spPr>
            <a:xfrm>
              <a:off x="950976" y="1252728"/>
              <a:ext cx="212140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001408"/>
                  </a:solidFill>
                  <a:latin typeface="Calibri"/>
                </a:rPr>
                <a:t>CIO</a:t>
              </a:r>
              <a:endParaRPr lang="en-US" sz="800"/>
            </a:p>
          </p:txBody>
        </p:sp>
        <p:sp>
          <p:nvSpPr>
            <p:cNvPr id="989" name="Role CIO focus"/>
            <p:cNvSpPr txBox="1"/>
            <p:nvPr/>
          </p:nvSpPr>
          <p:spPr>
            <a:xfrm>
              <a:off x="950976" y="1453896"/>
              <a:ext cx="212140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700" b="1" i="0">
                  <a:solidFill>
                    <a:srgbClr val="4A8500"/>
                  </a:solidFill>
                  <a:latin typeface="Calibri"/>
                </a:rPr>
                <a:t>SECURITY · GOVERNANCE · TOKENOMICS</a:t>
              </a:r>
              <a:endParaRPr lang="en-US" sz="800"/>
            </a:p>
          </p:txBody>
        </p:sp>
        <p:sp>
          <p:nvSpPr>
            <p:cNvPr id="990" name="Role CIO need 1"/>
            <p:cNvSpPr txBox="1"/>
            <p:nvPr/>
          </p:nvSpPr>
          <p:spPr>
            <a:xfrm>
              <a:off x="603504" y="1719072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Every </a:t>
              </a: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prompt and answer checked</a:t>
              </a:r>
              <a:endParaRPr lang="en-US" sz="800"/>
            </a:p>
          </p:txBody>
        </p:sp>
        <p:sp>
          <p:nvSpPr>
            <p:cNvPr id="991" name="Role CIO how 1"/>
            <p:cNvSpPr txBox="1"/>
            <p:nvPr/>
          </p:nvSpPr>
          <p:spPr>
            <a:xfrm>
              <a:off x="603504" y="1947672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PII redaction · prompt and response guards</a:t>
              </a:r>
              <a:endParaRPr lang="en-US" sz="800"/>
            </a:p>
          </p:txBody>
        </p:sp>
        <p:sp>
          <p:nvSpPr>
            <p:cNvPr id="992" name="Role CIO outcome 1"/>
            <p:cNvSpPr txBox="1"/>
            <p:nvPr/>
          </p:nvSpPr>
          <p:spPr>
            <a:xfrm>
              <a:off x="603504" y="2176272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100%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checked</a:t>
              </a:r>
              <a:endParaRPr lang="en-US" sz="800"/>
            </a:p>
          </p:txBody>
        </p:sp>
        <p:sp>
          <p:nvSpPr>
            <p:cNvPr id="993" name="Role CIO act 1"/>
            <p:cNvSpPr txBox="1"/>
            <p:nvPr/>
          </p:nvSpPr>
          <p:spPr>
            <a:xfrm>
              <a:off x="2523744" y="2212848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2</a:t>
              </a:r>
              <a:endParaRPr lang="en-US" sz="800"/>
            </a:p>
          </p:txBody>
        </p:sp>
        <p:cxnSp>
          <p:nvCxnSpPr>
            <p:cNvPr id="994" name="Role CIO rule 1"/>
            <p:cNvCxnSpPr/>
            <p:nvPr/>
          </p:nvCxnSpPr>
          <p:spPr>
            <a:xfrm>
              <a:off x="603504" y="2523744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995" name="Role CIO need 2"/>
            <p:cNvSpPr txBox="1"/>
            <p:nvPr/>
          </p:nvSpPr>
          <p:spPr>
            <a:xfrm>
              <a:off x="603504" y="2578608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Every call </a:t>
              </a: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identified and audited</a:t>
              </a:r>
              <a:endParaRPr lang="en-US" sz="800"/>
            </a:p>
          </p:txBody>
        </p:sp>
        <p:sp>
          <p:nvSpPr>
            <p:cNvPr id="996" name="Role CIO how 2"/>
            <p:cNvSpPr txBox="1"/>
            <p:nvPr/>
          </p:nvSpPr>
          <p:spPr>
            <a:xfrm>
              <a:off x="603504" y="2807208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identity per call · audit logs to your SIEM</a:t>
              </a:r>
              <a:endParaRPr lang="en-US" sz="800"/>
            </a:p>
          </p:txBody>
        </p:sp>
        <p:sp>
          <p:nvSpPr>
            <p:cNvPr id="997" name="Role CIO outcome 2"/>
            <p:cNvSpPr txBox="1"/>
            <p:nvPr/>
          </p:nvSpPr>
          <p:spPr>
            <a:xfrm>
              <a:off x="603504" y="3035808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100%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attributed</a:t>
              </a:r>
              <a:endParaRPr lang="en-US" sz="800"/>
            </a:p>
          </p:txBody>
        </p:sp>
        <p:sp>
          <p:nvSpPr>
            <p:cNvPr id="998" name="Role CIO act 2"/>
            <p:cNvSpPr txBox="1"/>
            <p:nvPr/>
          </p:nvSpPr>
          <p:spPr>
            <a:xfrm>
              <a:off x="2523744" y="3072384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2</a:t>
              </a:r>
              <a:endParaRPr lang="en-US" sz="800"/>
            </a:p>
          </p:txBody>
        </p:sp>
        <p:cxnSp>
          <p:nvCxnSpPr>
            <p:cNvPr id="999" name="Role CIO rule 2"/>
            <p:cNvCxnSpPr/>
            <p:nvPr/>
          </p:nvCxnSpPr>
          <p:spPr>
            <a:xfrm>
              <a:off x="603504" y="3383280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1000" name="Role CIO need 3"/>
            <p:cNvSpPr txBox="1"/>
            <p:nvPr/>
          </p:nvSpPr>
          <p:spPr>
            <a:xfrm>
              <a:off x="603504" y="3438144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Cost per use case</a:t>
              </a:r>
              <a:endParaRPr lang="en-US" sz="800"/>
            </a:p>
          </p:txBody>
        </p:sp>
        <p:sp>
          <p:nvSpPr>
            <p:cNvPr id="1001" name="Role CIO how 3"/>
            <p:cNvSpPr txBox="1"/>
            <p:nvPr/>
          </p:nvSpPr>
          <p:spPr>
            <a:xfrm>
              <a:off x="603504" y="3666744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token usage and cost in Konnect</a:t>
              </a:r>
              <a:endParaRPr lang="en-US" sz="800"/>
            </a:p>
          </p:txBody>
        </p:sp>
        <p:sp>
          <p:nvSpPr>
            <p:cNvPr id="1002" name="Role CIO outcome 3"/>
            <p:cNvSpPr txBox="1"/>
            <p:nvPr/>
          </p:nvSpPr>
          <p:spPr>
            <a:xfrm>
              <a:off x="603504" y="3895344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100%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of tokens owned</a:t>
              </a:r>
              <a:endParaRPr lang="en-US" sz="800"/>
            </a:p>
          </p:txBody>
        </p:sp>
        <p:sp>
          <p:nvSpPr>
            <p:cNvPr id="1003" name="Role CIO act 3"/>
            <p:cNvSpPr txBox="1"/>
            <p:nvPr/>
          </p:nvSpPr>
          <p:spPr>
            <a:xfrm>
              <a:off x="2523744" y="3931920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3</a:t>
              </a:r>
              <a:endParaRPr lang="en-US" sz="800"/>
            </a:p>
          </p:txBody>
        </p:sp>
      </p:grpSp>
      <p:grpSp>
        <p:nvGrpSpPr>
          <p:cNvPr id="1046" name="Role column Platform Owner"/>
          <p:cNvGrpSpPr/>
          <p:nvPr/>
        </p:nvGrpSpPr>
        <p:grpSpPr>
          <a:xfrm>
            <a:off x="3236976" y="1207008"/>
            <a:ext cx="2670048" cy="3054096"/>
            <a:chOff x="3236976" y="1207008"/>
            <a:chExt cx="2670048" cy="3054096"/>
          </a:xfrm>
        </p:grpSpPr>
        <p:sp>
          <p:nvSpPr>
            <p:cNvPr id="1004" name="Role Platform Owner card"/>
            <p:cNvSpPr/>
            <p:nvPr/>
          </p:nvSpPr>
          <p:spPr>
            <a:xfrm>
              <a:off x="3236976" y="1207008"/>
              <a:ext cx="2670048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5" name="Role Platform Owner head"/>
            <p:cNvSpPr/>
            <p:nvPr/>
          </p:nvSpPr>
          <p:spPr>
            <a:xfrm>
              <a:off x="3236976" y="1207008"/>
              <a:ext cx="2670048" cy="420624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6" name="Role Platform Owner badge"/>
            <p:cNvSpPr/>
            <p:nvPr/>
          </p:nvSpPr>
          <p:spPr>
            <a:xfrm>
              <a:off x="3346704" y="1271016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07" name="Role Platform Owner ic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9856" y="1344168"/>
              <a:ext cx="146304" cy="146304"/>
            </a:xfrm>
            <a:prstGeom prst="rect">
              <a:avLst/>
            </a:prstGeom>
          </p:spPr>
        </p:pic>
        <p:sp>
          <p:nvSpPr>
            <p:cNvPr id="1008" name="Role Platform Owner name"/>
            <p:cNvSpPr txBox="1"/>
            <p:nvPr/>
          </p:nvSpPr>
          <p:spPr>
            <a:xfrm>
              <a:off x="3730752" y="1252728"/>
              <a:ext cx="212140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001408"/>
                  </a:solidFill>
                  <a:latin typeface="Calibri"/>
                </a:rPr>
                <a:t>Platform Owner</a:t>
              </a:r>
              <a:endParaRPr lang="en-US" sz="800"/>
            </a:p>
          </p:txBody>
        </p:sp>
        <p:sp>
          <p:nvSpPr>
            <p:cNvPr id="1009" name="Role Platform Owner focus"/>
            <p:cNvSpPr txBox="1"/>
            <p:nvPr/>
          </p:nvSpPr>
          <p:spPr>
            <a:xfrm>
              <a:off x="3730752" y="1453896"/>
              <a:ext cx="212140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700" b="1" i="0">
                  <a:solidFill>
                    <a:srgbClr val="4A8500"/>
                  </a:solidFill>
                  <a:latin typeface="Calibri"/>
                </a:rPr>
                <a:t>MODELS · TRAFFIC · TOKENS</a:t>
              </a:r>
              <a:endParaRPr lang="en-US" sz="800"/>
            </a:p>
          </p:txBody>
        </p:sp>
        <p:sp>
          <p:nvSpPr>
            <p:cNvPr id="1010" name="Role Platform Owner need 1"/>
            <p:cNvSpPr txBox="1"/>
            <p:nvPr/>
          </p:nvSpPr>
          <p:spPr>
            <a:xfrm>
              <a:off x="3383280" y="1719072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One endpoint</a:t>
              </a: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 for every model</a:t>
              </a:r>
              <a:endParaRPr lang="en-US" sz="800"/>
            </a:p>
          </p:txBody>
        </p:sp>
        <p:sp>
          <p:nvSpPr>
            <p:cNvPr id="1011" name="Role Platform Owner how 1"/>
            <p:cNvSpPr txBox="1"/>
            <p:nvPr/>
          </p:nvSpPr>
          <p:spPr>
            <a:xfrm>
              <a:off x="3383280" y="1947672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AI Model: any provider, incl. vLLM</a:t>
              </a:r>
              <a:endParaRPr lang="en-US" sz="800"/>
            </a:p>
          </p:txBody>
        </p:sp>
        <p:sp>
          <p:nvSpPr>
            <p:cNvPr id="1012" name="Role Platform Owner outcome 1"/>
            <p:cNvSpPr txBox="1"/>
            <p:nvPr/>
          </p:nvSpPr>
          <p:spPr>
            <a:xfrm>
              <a:off x="3383280" y="2176272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Days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to onboard a team</a:t>
              </a:r>
              <a:endParaRPr lang="en-US" sz="800"/>
            </a:p>
          </p:txBody>
        </p:sp>
        <p:sp>
          <p:nvSpPr>
            <p:cNvPr id="1013" name="Role Platform Owner act 1"/>
            <p:cNvSpPr txBox="1"/>
            <p:nvPr/>
          </p:nvSpPr>
          <p:spPr>
            <a:xfrm>
              <a:off x="5303520" y="2212848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1</a:t>
              </a:r>
              <a:endParaRPr lang="en-US" sz="800"/>
            </a:p>
          </p:txBody>
        </p:sp>
        <p:cxnSp>
          <p:nvCxnSpPr>
            <p:cNvPr id="1014" name="Role Platform Owner rule 1"/>
            <p:cNvCxnSpPr/>
            <p:nvPr/>
          </p:nvCxnSpPr>
          <p:spPr>
            <a:xfrm>
              <a:off x="3383280" y="2523744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1015" name="Role Platform Owner need 2"/>
            <p:cNvSpPr txBox="1"/>
            <p:nvPr/>
          </p:nvSpPr>
          <p:spPr>
            <a:xfrm>
              <a:off x="3383280" y="2578608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Traffic routed by </a:t>
              </a: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load and meaning</a:t>
              </a:r>
              <a:endParaRPr lang="en-US" sz="800"/>
            </a:p>
          </p:txBody>
        </p:sp>
        <p:sp>
          <p:nvSpPr>
            <p:cNvPr id="1016" name="Role Platform Owner how 2"/>
            <p:cNvSpPr txBox="1"/>
            <p:nvPr/>
          </p:nvSpPr>
          <p:spPr>
            <a:xfrm>
              <a:off x="3383280" y="2807208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semantic routing · load balancing · failover</a:t>
              </a:r>
              <a:endParaRPr lang="en-US" sz="800"/>
            </a:p>
          </p:txBody>
        </p:sp>
        <p:sp>
          <p:nvSpPr>
            <p:cNvPr id="1017" name="Role Platform Owner outcome 2"/>
            <p:cNvSpPr txBox="1"/>
            <p:nvPr/>
          </p:nvSpPr>
          <p:spPr>
            <a:xfrm>
              <a:off x="3383280" y="3035808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Best-fit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model per prompt</a:t>
              </a:r>
              <a:endParaRPr lang="en-US" sz="800"/>
            </a:p>
          </p:txBody>
        </p:sp>
        <p:sp>
          <p:nvSpPr>
            <p:cNvPr id="1018" name="Role Platform Owner act 2"/>
            <p:cNvSpPr txBox="1"/>
            <p:nvPr/>
          </p:nvSpPr>
          <p:spPr>
            <a:xfrm>
              <a:off x="5303520" y="3072384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3</a:t>
              </a:r>
              <a:endParaRPr lang="en-US" sz="800"/>
            </a:p>
          </p:txBody>
        </p:sp>
        <p:cxnSp>
          <p:nvCxnSpPr>
            <p:cNvPr id="1019" name="Role Platform Owner rule 2"/>
            <p:cNvCxnSpPr/>
            <p:nvPr/>
          </p:nvCxnSpPr>
          <p:spPr>
            <a:xfrm>
              <a:off x="3383280" y="3383280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1020" name="Role Platform Owner need 3"/>
            <p:cNvSpPr txBox="1"/>
            <p:nvPr/>
          </p:nvSpPr>
          <p:spPr>
            <a:xfrm>
              <a:off x="3383280" y="3438144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Tokens with a </a:t>
              </a: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budget and owner</a:t>
              </a:r>
              <a:endParaRPr lang="en-US" sz="800"/>
            </a:p>
          </p:txBody>
        </p:sp>
        <p:sp>
          <p:nvSpPr>
            <p:cNvPr id="1021" name="Role Platform Owner how 3"/>
            <p:cNvSpPr txBox="1"/>
            <p:nvPr/>
          </p:nvSpPr>
          <p:spPr>
            <a:xfrm>
              <a:off x="3383280" y="3666744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token budgets · semantic cache</a:t>
              </a:r>
              <a:endParaRPr lang="en-US" sz="800"/>
            </a:p>
          </p:txBody>
        </p:sp>
        <p:sp>
          <p:nvSpPr>
            <p:cNvPr id="1022" name="Role Platform Owner outcome 3"/>
            <p:cNvSpPr txBox="1"/>
            <p:nvPr/>
          </p:nvSpPr>
          <p:spPr>
            <a:xfrm>
              <a:off x="3383280" y="3895344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~15%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fewer tokens</a:t>
              </a:r>
              <a:endParaRPr lang="en-US" sz="800"/>
            </a:p>
          </p:txBody>
        </p:sp>
        <p:sp>
          <p:nvSpPr>
            <p:cNvPr id="1023" name="Role Platform Owner act 3"/>
            <p:cNvSpPr txBox="1"/>
            <p:nvPr/>
          </p:nvSpPr>
          <p:spPr>
            <a:xfrm>
              <a:off x="5303520" y="3931920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3</a:t>
              </a:r>
              <a:endParaRPr lang="en-US" sz="800"/>
            </a:p>
          </p:txBody>
        </p:sp>
      </p:grpSp>
      <p:grpSp>
        <p:nvGrpSpPr>
          <p:cNvPr id="1047" name="Role column Lead Architect"/>
          <p:cNvGrpSpPr/>
          <p:nvPr/>
        </p:nvGrpSpPr>
        <p:grpSpPr>
          <a:xfrm>
            <a:off x="6016752" y="1207008"/>
            <a:ext cx="2670048" cy="3054096"/>
            <a:chOff x="6016752" y="1207008"/>
            <a:chExt cx="2670048" cy="3054096"/>
          </a:xfrm>
        </p:grpSpPr>
        <p:sp>
          <p:nvSpPr>
            <p:cNvPr id="1024" name="Role Lead Architect card"/>
            <p:cNvSpPr/>
            <p:nvPr/>
          </p:nvSpPr>
          <p:spPr>
            <a:xfrm>
              <a:off x="6016752" y="1207008"/>
              <a:ext cx="2670048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25" name="Role Lead Architect head"/>
            <p:cNvSpPr/>
            <p:nvPr/>
          </p:nvSpPr>
          <p:spPr>
            <a:xfrm>
              <a:off x="6016752" y="1207008"/>
              <a:ext cx="2670048" cy="420624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26" name="Role Lead Architect badge"/>
            <p:cNvSpPr/>
            <p:nvPr/>
          </p:nvSpPr>
          <p:spPr>
            <a:xfrm>
              <a:off x="6126480" y="1271016"/>
              <a:ext cx="292608" cy="29260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pic>
          <p:nvPicPr>
            <p:cNvPr id="1027" name="Role Lead Architect icon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9632" y="1344168"/>
              <a:ext cx="146304" cy="146304"/>
            </a:xfrm>
            <a:prstGeom prst="rect">
              <a:avLst/>
            </a:prstGeom>
          </p:spPr>
        </p:pic>
        <p:sp>
          <p:nvSpPr>
            <p:cNvPr id="1028" name="Role Lead Architect name"/>
            <p:cNvSpPr txBox="1"/>
            <p:nvPr/>
          </p:nvSpPr>
          <p:spPr>
            <a:xfrm>
              <a:off x="6510528" y="1252728"/>
              <a:ext cx="212140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001408"/>
                  </a:solidFill>
                  <a:latin typeface="Calibri"/>
                </a:rPr>
                <a:t>Lead Architect</a:t>
              </a:r>
              <a:endParaRPr lang="en-US" sz="800"/>
            </a:p>
          </p:txBody>
        </p:sp>
        <p:sp>
          <p:nvSpPr>
            <p:cNvPr id="1029" name="Role Lead Architect focus"/>
            <p:cNvSpPr txBox="1"/>
            <p:nvPr/>
          </p:nvSpPr>
          <p:spPr>
            <a:xfrm>
              <a:off x="6510528" y="1453896"/>
              <a:ext cx="212140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700" b="1" i="0">
                  <a:solidFill>
                    <a:srgbClr val="4A8500"/>
                  </a:solidFill>
                  <a:latin typeface="Calibri"/>
                </a:rPr>
                <a:t>INTEGRATION · SCALE · CONTINUITY</a:t>
              </a:r>
              <a:endParaRPr lang="en-US" sz="800"/>
            </a:p>
          </p:txBody>
        </p:sp>
        <p:sp>
          <p:nvSpPr>
            <p:cNvPr id="1030" name="Role Lead Architect need 1"/>
            <p:cNvSpPr txBox="1"/>
            <p:nvPr/>
          </p:nvSpPr>
          <p:spPr>
            <a:xfrm>
              <a:off x="6163056" y="1719072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Fits </a:t>
              </a: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GNB's stack</a:t>
              </a:r>
              <a:endParaRPr lang="en-US" sz="800"/>
            </a:p>
          </p:txBody>
        </p:sp>
        <p:sp>
          <p:nvSpPr>
            <p:cNvPr id="1031" name="Role Lead Architect how 1"/>
            <p:cNvSpPr txBox="1"/>
            <p:nvPr/>
          </p:nvSpPr>
          <p:spPr>
            <a:xfrm>
              <a:off x="6163056" y="1947672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Kubernetes · your IdP · Vault</a:t>
              </a:r>
              <a:endParaRPr lang="en-US" sz="800"/>
            </a:p>
          </p:txBody>
        </p:sp>
        <p:sp>
          <p:nvSpPr>
            <p:cNvPr id="1032" name="Role Lead Architect outcome 1"/>
            <p:cNvSpPr txBox="1"/>
            <p:nvPr/>
          </p:nvSpPr>
          <p:spPr>
            <a:xfrm>
              <a:off x="6163056" y="2176272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Native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no custom glue</a:t>
              </a:r>
              <a:endParaRPr lang="en-US" sz="800"/>
            </a:p>
          </p:txBody>
        </p:sp>
        <p:sp>
          <p:nvSpPr>
            <p:cNvPr id="1033" name="Role Lead Architect act 1"/>
            <p:cNvSpPr txBox="1"/>
            <p:nvPr/>
          </p:nvSpPr>
          <p:spPr>
            <a:xfrm>
              <a:off x="8083296" y="2212848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1</a:t>
              </a:r>
              <a:endParaRPr lang="en-US" sz="800"/>
            </a:p>
          </p:txBody>
        </p:sp>
        <p:cxnSp>
          <p:nvCxnSpPr>
            <p:cNvPr id="1034" name="Role Lead Architect rule 1"/>
            <p:cNvCxnSpPr/>
            <p:nvPr/>
          </p:nvCxnSpPr>
          <p:spPr>
            <a:xfrm>
              <a:off x="6163056" y="2523744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1035" name="Role Lead Architect need 2"/>
            <p:cNvSpPr txBox="1"/>
            <p:nvPr/>
          </p:nvSpPr>
          <p:spPr>
            <a:xfrm>
              <a:off x="6163056" y="2578608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Scales out</a:t>
              </a:r>
              <a:r>
                <a:rPr lang="en-US" sz="1050" b="1" i="0">
                  <a:solidFill>
                    <a:srgbClr val="001408"/>
                  </a:solidFill>
                  <a:latin typeface="Calibri"/>
                </a:rPr>
                <a:t> with demand</a:t>
              </a:r>
              <a:endParaRPr lang="en-US" sz="800"/>
            </a:p>
          </p:txBody>
        </p:sp>
        <p:sp>
          <p:nvSpPr>
            <p:cNvPr id="1036" name="Role Lead Architect how 2"/>
            <p:cNvSpPr txBox="1"/>
            <p:nvPr/>
          </p:nvSpPr>
          <p:spPr>
            <a:xfrm>
              <a:off x="6163056" y="2807208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stateless data planes · config as code</a:t>
              </a:r>
              <a:endParaRPr lang="en-US" sz="800"/>
            </a:p>
          </p:txBody>
        </p:sp>
        <p:sp>
          <p:nvSpPr>
            <p:cNvPr id="1037" name="Role Lead Architect outcome 2"/>
            <p:cNvSpPr txBox="1"/>
            <p:nvPr/>
          </p:nvSpPr>
          <p:spPr>
            <a:xfrm>
              <a:off x="6163056" y="3035808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Scale-out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active-active</a:t>
              </a:r>
              <a:endParaRPr lang="en-US" sz="800"/>
            </a:p>
          </p:txBody>
        </p:sp>
        <p:sp>
          <p:nvSpPr>
            <p:cNvPr id="1038" name="Role Lead Architect act 2"/>
            <p:cNvSpPr txBox="1"/>
            <p:nvPr/>
          </p:nvSpPr>
          <p:spPr>
            <a:xfrm>
              <a:off x="8083296" y="3072384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ACT 1</a:t>
              </a:r>
              <a:endParaRPr lang="en-US" sz="800"/>
            </a:p>
          </p:txBody>
        </p:sp>
        <p:cxnSp>
          <p:nvCxnSpPr>
            <p:cNvPr id="1039" name="Role Lead Architect rule 2"/>
            <p:cNvCxnSpPr/>
            <p:nvPr/>
          </p:nvCxnSpPr>
          <p:spPr>
            <a:xfrm>
              <a:off x="6163056" y="3383280"/>
              <a:ext cx="2377440" cy="0"/>
            </a:xfrm>
            <a:prstGeom prst="line">
              <a:avLst/>
            </a:prstGeom>
            <a:ln w="6350">
              <a:solidFill>
                <a:srgbClr val="D3D9CC"/>
              </a:solidFill>
            </a:ln>
          </p:spPr>
        </p:cxnSp>
        <p:sp>
          <p:nvSpPr>
            <p:cNvPr id="1040" name="Role Lead Architect need 3"/>
            <p:cNvSpPr txBox="1"/>
            <p:nvPr/>
          </p:nvSpPr>
          <p:spPr>
            <a:xfrm>
              <a:off x="6163056" y="3438144"/>
              <a:ext cx="237744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050" b="1" i="0">
                  <a:solidFill>
                    <a:srgbClr val="001408"/>
                  </a:solidFill>
                  <a:highlight>
                    <a:srgbClr val="CCFF00"/>
                  </a:highlight>
                  <a:latin typeface="Calibri"/>
                </a:rPr>
                <a:t>No single point of failure</a:t>
              </a:r>
              <a:endParaRPr lang="en-US" sz="800"/>
            </a:p>
          </p:txBody>
        </p:sp>
        <p:sp>
          <p:nvSpPr>
            <p:cNvPr id="1041" name="Role Lead Architect how 3"/>
            <p:cNvSpPr txBox="1"/>
            <p:nvPr/>
          </p:nvSpPr>
          <p:spPr>
            <a:xfrm>
              <a:off x="6163056" y="3666744"/>
              <a:ext cx="2377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850" b="0" i="0">
                  <a:solidFill>
                    <a:srgbClr val="6B7069"/>
                  </a:solidFill>
                  <a:latin typeface="Calibri"/>
                </a:rPr>
                <a:t>multi-site · retries · last-known config</a:t>
              </a:r>
              <a:endParaRPr lang="en-US" sz="800"/>
            </a:p>
          </p:txBody>
        </p:sp>
        <p:sp>
          <p:nvSpPr>
            <p:cNvPr id="1042" name="Role Lead Architect outcome 3"/>
            <p:cNvSpPr txBox="1"/>
            <p:nvPr/>
          </p:nvSpPr>
          <p:spPr>
            <a:xfrm>
              <a:off x="6163056" y="3895344"/>
              <a:ext cx="188366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1300" b="1" i="0">
                  <a:solidFill>
                    <a:srgbClr val="4A8500"/>
                  </a:solidFill>
                  <a:latin typeface="Calibri"/>
                </a:rPr>
                <a:t>Survives  </a:t>
              </a:r>
              <a:r>
                <a:rPr lang="en-US" sz="850" b="0" i="0">
                  <a:solidFill>
                    <a:srgbClr val="001408"/>
                  </a:solidFill>
                  <a:latin typeface="Calibri"/>
                </a:rPr>
                <a:t>node, site, link loss</a:t>
              </a:r>
              <a:endParaRPr lang="en-US" sz="800"/>
            </a:p>
          </p:txBody>
        </p:sp>
        <p:sp>
          <p:nvSpPr>
            <p:cNvPr id="1043" name="Role Lead Architect act 3"/>
            <p:cNvSpPr txBox="1"/>
            <p:nvPr/>
          </p:nvSpPr>
          <p:spPr>
            <a:xfrm>
              <a:off x="8083296" y="3931920"/>
              <a:ext cx="475488" cy="164592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650" b="1" i="0">
                  <a:solidFill>
                    <a:srgbClr val="001408"/>
                  </a:solidFill>
                  <a:latin typeface="Calibri"/>
                </a:rPr>
                <a:t>► FINALE</a:t>
              </a:r>
              <a:endParaRPr lang="en-US" sz="800"/>
            </a:p>
          </p:txBody>
        </p:sp>
      </p:grpSp>
      <p:sp>
        <p:nvSpPr>
          <p:cNvPr id="1044" name="Roles banner"/>
          <p:cNvSpPr txBox="1"/>
          <p:nvPr/>
        </p:nvSpPr>
        <p:spPr>
          <a:xfrm>
            <a:off x="457200" y="4334256"/>
            <a:ext cx="8229600" cy="292608"/>
          </a:xfrm>
          <a:prstGeom prst="roundRect">
            <a:avLst>
              <a:gd name="adj" fmla="val 12000"/>
            </a:avLst>
          </a:prstGeom>
          <a:solidFill>
            <a:srgbClr val="001408"/>
          </a:solidFill>
          <a:ln>
            <a:noFill/>
          </a:ln>
        </p:spPr>
        <p:txBody>
          <a:bodyPr wrap="square" lIns="146304" tIns="0" rIns="91440" bIns="0" anchor="ctr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CCFF00"/>
                </a:solidFill>
                <a:latin typeface="Calibri"/>
              </a:rPr>
              <a:t>FOR ALL THREE   </a:t>
            </a:r>
            <a:r>
              <a:rPr lang="en-US" sz="950" b="1" i="0">
                <a:solidFill>
                  <a:srgbClr val="FFFFFF"/>
                </a:solidFill>
                <a:latin typeface="Calibri"/>
              </a:rPr>
              <a:t>Controls become properties of the platform: </a:t>
            </a:r>
            <a:r>
              <a:rPr lang="en-US" sz="950" b="1" i="0">
                <a:solidFill>
                  <a:srgbClr val="CCFF00"/>
                </a:solidFill>
                <a:latin typeface="Calibri"/>
              </a:rPr>
              <a:t>every new use case inherits them on day one</a:t>
            </a:r>
            <a:r>
              <a:rPr lang="en-US" sz="950" b="1" i="0">
                <a:solidFill>
                  <a:srgbClr val="FFFFFF"/>
                </a:solidFill>
                <a:latin typeface="Calibri"/>
              </a:rPr>
              <a:t>.</a:t>
            </a:r>
            <a:endParaRPr lang="en-US" sz="8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LIVE DEMO · 20 MIN  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Watch the AI factory go to production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grpSp>
        <p:nvGrpSpPr>
          <p:cNvPr id="2" name="ACT 1 group"/>
          <p:cNvGrpSpPr/>
          <p:nvPr/>
        </p:nvGrpSpPr>
        <p:grpSpPr>
          <a:xfrm>
            <a:off x="457200" y="950976"/>
            <a:ext cx="4069080" cy="1783080"/>
            <a:chOff x="457200" y="950976"/>
            <a:chExt cx="4069080" cy="1783080"/>
          </a:xfrm>
        </p:grpSpPr>
        <p:sp>
          <p:nvSpPr>
            <p:cNvPr id="816" name="ACT 1 card"/>
            <p:cNvSpPr/>
            <p:nvPr/>
          </p:nvSpPr>
          <p:spPr>
            <a:xfrm>
              <a:off x="457200" y="950976"/>
              <a:ext cx="4069080" cy="1783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ACT 1 header"/>
            <p:cNvSpPr/>
            <p:nvPr/>
          </p:nvSpPr>
          <p:spPr>
            <a:xfrm>
              <a:off x="457200" y="950976"/>
              <a:ext cx="4069080" cy="365760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ACT 1 label"/>
            <p:cNvSpPr txBox="1"/>
            <p:nvPr/>
          </p:nvSpPr>
          <p:spPr>
            <a:xfrm>
              <a:off x="566928" y="950976"/>
              <a:ext cx="548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► ACT 1</a:t>
              </a:r>
            </a:p>
          </p:txBody>
        </p:sp>
        <p:sp>
          <p:nvSpPr>
            <p:cNvPr id="819" name="ACT 1 title"/>
            <p:cNvSpPr txBox="1"/>
            <p:nvPr/>
          </p:nvSpPr>
          <p:spPr>
            <a:xfrm>
              <a:off x="1170432" y="950976"/>
              <a:ext cx="1691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50" b="1" i="0">
                  <a:solidFill>
                    <a:srgbClr val="FFFFFF"/>
                  </a:solidFill>
                  <a:latin typeface="Calibri"/>
                </a:rPr>
                <a:t>Connect the factory</a:t>
              </a:r>
            </a:p>
          </p:txBody>
        </p:sp>
        <p:sp>
          <p:nvSpPr>
            <p:cNvPr id="820" name="ACT 1 meta"/>
            <p:cNvSpPr txBox="1"/>
            <p:nvPr/>
          </p:nvSpPr>
          <p:spPr>
            <a:xfrm>
              <a:off x="2852928" y="950976"/>
              <a:ext cx="1572768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00" b="1" i="0">
                  <a:solidFill>
                    <a:srgbClr val="CCFF00"/>
                  </a:solidFill>
                  <a:latin typeface="Calibri"/>
                </a:rPr>
                <a:t>2.5 min  ·  </a:t>
              </a:r>
              <a:r>
                <a:rPr sz="800" b="1" i="0">
                  <a:solidFill>
                    <a:srgbClr val="B9C6B5"/>
                  </a:solidFill>
                  <a:latin typeface="Calibri"/>
                </a:rPr>
                <a:t>Architect · Platform</a:t>
              </a:r>
            </a:p>
          </p:txBody>
        </p:sp>
        <p:sp>
          <p:nvSpPr>
            <p:cNvPr id="821" name="ACT 1 canvas"/>
            <p:cNvSpPr/>
            <p:nvPr/>
          </p:nvSpPr>
          <p:spPr>
            <a:xfrm>
              <a:off x="548640" y="1389888"/>
              <a:ext cx="2359152" cy="1280160"/>
            </a:xfrm>
            <a:prstGeom prst="roundRect">
              <a:avLst>
                <a:gd name="adj" fmla="val 4000"/>
              </a:avLst>
            </a:prstGeom>
            <a:solidFill>
              <a:srgbClr val="F7F9F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2" name="User APP"/>
            <p:cNvSpPr/>
            <p:nvPr/>
          </p:nvSpPr>
          <p:spPr>
            <a:xfrm>
              <a:off x="640080" y="1682496"/>
              <a:ext cx="329184" cy="329184"/>
            </a:xfrm>
            <a:prstGeom prst="ellipse">
              <a:avLst/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3" name="Icon FaMobileAlt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75" y="1764792"/>
              <a:ext cx="164592" cy="164592"/>
            </a:xfrm>
            <a:prstGeom prst="rect">
              <a:avLst/>
            </a:prstGeom>
          </p:spPr>
        </p:pic>
        <p:sp>
          <p:nvSpPr>
            <p:cNvPr id="824" name="User APP label"/>
            <p:cNvSpPr txBox="1"/>
            <p:nvPr/>
          </p:nvSpPr>
          <p:spPr>
            <a:xfrm>
              <a:off x="502919" y="2029968"/>
              <a:ext cx="603504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6B7069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825" name="Kong node"/>
            <p:cNvSpPr/>
            <p:nvPr/>
          </p:nvSpPr>
          <p:spPr>
            <a:xfrm>
              <a:off x="1280160" y="1627632"/>
              <a:ext cx="566928" cy="438912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6" name="Picture 825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3895" y="1691640"/>
              <a:ext cx="219456" cy="195681"/>
            </a:xfrm>
            <a:prstGeom prst="rect">
              <a:avLst/>
            </a:prstGeom>
          </p:spPr>
        </p:pic>
        <p:sp>
          <p:nvSpPr>
            <p:cNvPr id="827" name="Kong label"/>
            <p:cNvSpPr txBox="1"/>
            <p:nvPr/>
          </p:nvSpPr>
          <p:spPr>
            <a:xfrm>
              <a:off x="1280160" y="1892807"/>
              <a:ext cx="5669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CCFF00"/>
                  </a:solidFill>
                  <a:latin typeface="Calibri"/>
                </a:rPr>
                <a:t>Kong</a:t>
              </a:r>
            </a:p>
          </p:txBody>
        </p:sp>
        <p:cxnSp>
          <p:nvCxnSpPr>
            <p:cNvPr id="828" name="flow"/>
            <p:cNvCxnSpPr/>
            <p:nvPr/>
          </p:nvCxnSpPr>
          <p:spPr>
            <a:xfrm>
              <a:off x="978407" y="1847088"/>
              <a:ext cx="301753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829" name="Target vLLM node 1"/>
            <p:cNvSpPr/>
            <p:nvPr/>
          </p:nvSpPr>
          <p:spPr>
            <a:xfrm>
              <a:off x="2121408" y="1536192"/>
              <a:ext cx="713232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C8553D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0" name="Icon FaServer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76272" y="1600200"/>
              <a:ext cx="146304" cy="146304"/>
            </a:xfrm>
            <a:prstGeom prst="rect">
              <a:avLst/>
            </a:prstGeom>
          </p:spPr>
        </p:pic>
        <p:sp>
          <p:nvSpPr>
            <p:cNvPr id="831" name="Target vLLM node 1 label"/>
            <p:cNvSpPr txBox="1"/>
            <p:nvPr/>
          </p:nvSpPr>
          <p:spPr>
            <a:xfrm>
              <a:off x="2350008" y="1536192"/>
              <a:ext cx="466344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C8553D"/>
                  </a:solidFill>
                  <a:latin typeface="Calibri"/>
                </a:rPr>
                <a:t>vLLM node 1</a:t>
              </a:r>
            </a:p>
          </p:txBody>
        </p:sp>
        <p:sp>
          <p:nvSpPr>
            <p:cNvPr id="832" name="Target vLLM node 2"/>
            <p:cNvSpPr/>
            <p:nvPr/>
          </p:nvSpPr>
          <p:spPr>
            <a:xfrm>
              <a:off x="2121408" y="1938528"/>
              <a:ext cx="713232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3" name="Icon FaServer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76272" y="2002536"/>
              <a:ext cx="146304" cy="146304"/>
            </a:xfrm>
            <a:prstGeom prst="rect">
              <a:avLst/>
            </a:prstGeom>
          </p:spPr>
        </p:pic>
        <p:sp>
          <p:nvSpPr>
            <p:cNvPr id="834" name="Target vLLM node 2 label"/>
            <p:cNvSpPr txBox="1"/>
            <p:nvPr/>
          </p:nvSpPr>
          <p:spPr>
            <a:xfrm>
              <a:off x="2350008" y="1938528"/>
              <a:ext cx="466344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001408"/>
                  </a:solidFill>
                  <a:latin typeface="Calibri"/>
                </a:rPr>
                <a:t>vLLM node 2</a:t>
              </a:r>
            </a:p>
          </p:txBody>
        </p:sp>
        <p:cxnSp>
          <p:nvCxnSpPr>
            <p:cNvPr id="835" name="flow fail"/>
            <p:cNvCxnSpPr/>
            <p:nvPr/>
          </p:nvCxnSpPr>
          <p:spPr>
            <a:xfrm flipV="1">
              <a:off x="1847088" y="1673352"/>
              <a:ext cx="274320" cy="100584"/>
            </a:xfrm>
            <a:prstGeom prst="line">
              <a:avLst/>
            </a:prstGeom>
            <a:ln w="12700">
              <a:solidFill>
                <a:srgbClr val="C8553D"/>
              </a:solidFill>
              <a:prstDash val="dash"/>
              <a:tailEnd type="triangle" w="med" len="med"/>
            </a:ln>
          </p:spPr>
        </p:cxnSp>
        <p:cxnSp>
          <p:nvCxnSpPr>
            <p:cNvPr id="836" name="flow ok"/>
            <p:cNvCxnSpPr/>
            <p:nvPr/>
          </p:nvCxnSpPr>
          <p:spPr>
            <a:xfrm>
              <a:off x="1847088" y="1901952"/>
              <a:ext cx="274320" cy="173736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837" name="Mark"/>
            <p:cNvSpPr/>
            <p:nvPr/>
          </p:nvSpPr>
          <p:spPr>
            <a:xfrm>
              <a:off x="2743200" y="1600200"/>
              <a:ext cx="146304" cy="146304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8" name="Mark glyph"/>
            <p:cNvSpPr txBox="1"/>
            <p:nvPr/>
          </p:nvSpPr>
          <p:spPr>
            <a:xfrm>
              <a:off x="2743200" y="1600200"/>
              <a:ext cx="146304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✕</a:t>
              </a:r>
            </a:p>
          </p:txBody>
        </p:sp>
        <p:sp>
          <p:nvSpPr>
            <p:cNvPr id="839" name="Mark"/>
            <p:cNvSpPr/>
            <p:nvPr/>
          </p:nvSpPr>
          <p:spPr>
            <a:xfrm>
              <a:off x="2743200" y="2002536"/>
              <a:ext cx="146304" cy="14630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0" name="Mark glyph"/>
            <p:cNvSpPr txBox="1"/>
            <p:nvPr/>
          </p:nvSpPr>
          <p:spPr>
            <a:xfrm>
              <a:off x="2743200" y="2002536"/>
              <a:ext cx="146304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841" name="Chip ✕ Konnect link cut"/>
            <p:cNvSpPr/>
            <p:nvPr/>
          </p:nvSpPr>
          <p:spPr>
            <a:xfrm>
              <a:off x="603503" y="2359152"/>
              <a:ext cx="841248" cy="155448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C8553D"/>
                  </a:solidFill>
                  <a:latin typeface="Calibri"/>
                </a:rPr>
                <a:t>✕ Konnect link cut</a:t>
              </a:r>
            </a:p>
          </p:txBody>
        </p:sp>
        <p:sp>
          <p:nvSpPr>
            <p:cNvPr id="842" name="Chip ✓ serving on last-known config"/>
            <p:cNvSpPr/>
            <p:nvPr/>
          </p:nvSpPr>
          <p:spPr>
            <a:xfrm>
              <a:off x="1481328" y="2359152"/>
              <a:ext cx="1389888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✓ serving on last-known config</a:t>
              </a:r>
            </a:p>
          </p:txBody>
        </p:sp>
        <p:sp>
          <p:nvSpPr>
            <p:cNvPr id="843" name="Label CONSTRUCTS"/>
            <p:cNvSpPr txBox="1"/>
            <p:nvPr/>
          </p:nvSpPr>
          <p:spPr>
            <a:xfrm>
              <a:off x="3017520" y="1389888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CONSTRUCTS</a:t>
              </a:r>
            </a:p>
          </p:txBody>
        </p:sp>
        <p:sp>
          <p:nvSpPr>
            <p:cNvPr id="844" name="ACT 1 construct 1"/>
            <p:cNvSpPr/>
            <p:nvPr/>
          </p:nvSpPr>
          <p:spPr>
            <a:xfrm>
              <a:off x="3017520" y="1554480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Model · priority balancer</a:t>
              </a:r>
            </a:p>
          </p:txBody>
        </p:sp>
        <p:sp>
          <p:nvSpPr>
            <p:cNvPr id="845" name="ACT 1 construct 2"/>
            <p:cNvSpPr/>
            <p:nvPr/>
          </p:nvSpPr>
          <p:spPr>
            <a:xfrm>
              <a:off x="3017520" y="1769364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retries · circuit breaker</a:t>
              </a:r>
            </a:p>
          </p:txBody>
        </p:sp>
        <p:sp>
          <p:nvSpPr>
            <p:cNvPr id="846" name="ACT 1 construct 3"/>
            <p:cNvSpPr/>
            <p:nvPr/>
          </p:nvSpPr>
          <p:spPr>
            <a:xfrm>
              <a:off x="3017520" y="1984248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stateless data plane on K8s</a:t>
              </a:r>
            </a:p>
          </p:txBody>
        </p:sp>
        <p:sp>
          <p:nvSpPr>
            <p:cNvPr id="847" name="ACT 1 KPI"/>
            <p:cNvSpPr txBox="1"/>
            <p:nvPr/>
          </p:nvSpPr>
          <p:spPr>
            <a:xfrm>
              <a:off x="3017520" y="2212848"/>
              <a:ext cx="14264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48" name="ACT 1 KPI label"/>
            <p:cNvSpPr txBox="1"/>
            <p:nvPr/>
          </p:nvSpPr>
          <p:spPr>
            <a:xfrm>
              <a:off x="3017520" y="2468880"/>
              <a:ext cx="1444752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served through node and link loss</a:t>
              </a:r>
            </a:p>
          </p:txBody>
        </p:sp>
      </p:grpSp>
      <p:grpSp>
        <p:nvGrpSpPr>
          <p:cNvPr id="3" name="ACT 2 group"/>
          <p:cNvGrpSpPr/>
          <p:nvPr/>
        </p:nvGrpSpPr>
        <p:grpSpPr>
          <a:xfrm>
            <a:off x="4617720" y="950976"/>
            <a:ext cx="4069080" cy="1783080"/>
            <a:chOff x="4617720" y="950976"/>
            <a:chExt cx="4069080" cy="1783080"/>
          </a:xfrm>
        </p:grpSpPr>
        <p:sp>
          <p:nvSpPr>
            <p:cNvPr id="849" name="ACT 2 card"/>
            <p:cNvSpPr/>
            <p:nvPr/>
          </p:nvSpPr>
          <p:spPr>
            <a:xfrm>
              <a:off x="4617720" y="950976"/>
              <a:ext cx="4069080" cy="1783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0" name="ACT 2 header"/>
            <p:cNvSpPr/>
            <p:nvPr/>
          </p:nvSpPr>
          <p:spPr>
            <a:xfrm>
              <a:off x="4617720" y="950976"/>
              <a:ext cx="4069080" cy="365760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1" name="ACT 2 label"/>
            <p:cNvSpPr txBox="1"/>
            <p:nvPr/>
          </p:nvSpPr>
          <p:spPr>
            <a:xfrm>
              <a:off x="4727448" y="950976"/>
              <a:ext cx="548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► ACT 2</a:t>
              </a:r>
            </a:p>
          </p:txBody>
        </p:sp>
        <p:sp>
          <p:nvSpPr>
            <p:cNvPr id="852" name="ACT 2 title"/>
            <p:cNvSpPr txBox="1"/>
            <p:nvPr/>
          </p:nvSpPr>
          <p:spPr>
            <a:xfrm>
              <a:off x="5330952" y="950976"/>
              <a:ext cx="1691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50" b="1" i="0">
                  <a:solidFill>
                    <a:srgbClr val="FFFFFF"/>
                  </a:solidFill>
                  <a:latin typeface="Calibri"/>
                </a:rPr>
                <a:t>Secure it</a:t>
              </a:r>
            </a:p>
          </p:txBody>
        </p:sp>
        <p:sp>
          <p:nvSpPr>
            <p:cNvPr id="853" name="ACT 2 meta"/>
            <p:cNvSpPr txBox="1"/>
            <p:nvPr/>
          </p:nvSpPr>
          <p:spPr>
            <a:xfrm>
              <a:off x="7013448" y="950976"/>
              <a:ext cx="1572768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00" b="1" i="0">
                  <a:solidFill>
                    <a:srgbClr val="CCFF00"/>
                  </a:solidFill>
                  <a:latin typeface="Calibri"/>
                </a:rPr>
                <a:t>4.5 min  ·  </a:t>
              </a:r>
              <a:r>
                <a:rPr sz="800" b="1" i="0">
                  <a:solidFill>
                    <a:srgbClr val="B9C6B5"/>
                  </a:solidFill>
                  <a:latin typeface="Calibri"/>
                </a:rPr>
                <a:t>CIO · Architect</a:t>
              </a:r>
            </a:p>
          </p:txBody>
        </p:sp>
        <p:sp>
          <p:nvSpPr>
            <p:cNvPr id="854" name="ACT 2 canvas"/>
            <p:cNvSpPr/>
            <p:nvPr/>
          </p:nvSpPr>
          <p:spPr>
            <a:xfrm>
              <a:off x="4709159" y="1389888"/>
              <a:ext cx="2359152" cy="1280160"/>
            </a:xfrm>
            <a:prstGeom prst="roundRect">
              <a:avLst>
                <a:gd name="adj" fmla="val 4000"/>
              </a:avLst>
            </a:prstGeom>
            <a:solidFill>
              <a:srgbClr val="F7F9F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User USER"/>
            <p:cNvSpPr/>
            <p:nvPr/>
          </p:nvSpPr>
          <p:spPr>
            <a:xfrm>
              <a:off x="4800599" y="1682496"/>
              <a:ext cx="329184" cy="329184"/>
            </a:xfrm>
            <a:prstGeom prst="ellipse">
              <a:avLst/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6" name="Icon FaUsers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82895" y="1764792"/>
              <a:ext cx="164592" cy="164592"/>
            </a:xfrm>
            <a:prstGeom prst="rect">
              <a:avLst/>
            </a:prstGeom>
          </p:spPr>
        </p:pic>
        <p:sp>
          <p:nvSpPr>
            <p:cNvPr id="857" name="User USER label"/>
            <p:cNvSpPr txBox="1"/>
            <p:nvPr/>
          </p:nvSpPr>
          <p:spPr>
            <a:xfrm>
              <a:off x="4663439" y="2029968"/>
              <a:ext cx="603504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6B7069"/>
                  </a:solidFill>
                  <a:latin typeface="Calibri"/>
                </a:rPr>
                <a:t>USER</a:t>
              </a:r>
            </a:p>
          </p:txBody>
        </p:sp>
        <p:sp>
          <p:nvSpPr>
            <p:cNvPr id="858" name="Kong node"/>
            <p:cNvSpPr/>
            <p:nvPr/>
          </p:nvSpPr>
          <p:spPr>
            <a:xfrm>
              <a:off x="5440679" y="1627632"/>
              <a:ext cx="566928" cy="438912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9" name="Picture 858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4415" y="1691640"/>
              <a:ext cx="219456" cy="195681"/>
            </a:xfrm>
            <a:prstGeom prst="rect">
              <a:avLst/>
            </a:prstGeom>
          </p:spPr>
        </p:pic>
        <p:sp>
          <p:nvSpPr>
            <p:cNvPr id="860" name="Kong label"/>
            <p:cNvSpPr txBox="1"/>
            <p:nvPr/>
          </p:nvSpPr>
          <p:spPr>
            <a:xfrm>
              <a:off x="5440679" y="1892807"/>
              <a:ext cx="5669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CCFF00"/>
                  </a:solidFill>
                  <a:latin typeface="Calibri"/>
                </a:rPr>
                <a:t>Kong</a:t>
              </a:r>
            </a:p>
          </p:txBody>
        </p:sp>
        <p:cxnSp>
          <p:nvCxnSpPr>
            <p:cNvPr id="861" name="flow"/>
            <p:cNvCxnSpPr/>
            <p:nvPr/>
          </p:nvCxnSpPr>
          <p:spPr>
            <a:xfrm>
              <a:off x="5138927" y="1847088"/>
              <a:ext cx="30175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pic>
          <p:nvPicPr>
            <p:cNvPr id="862" name="Icon FaLock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21223" y="1645920"/>
              <a:ext cx="109728" cy="109728"/>
            </a:xfrm>
            <a:prstGeom prst="rect">
              <a:avLst/>
            </a:prstGeom>
          </p:spPr>
        </p:pic>
        <p:sp>
          <p:nvSpPr>
            <p:cNvPr id="863" name="Target In-country LLM"/>
            <p:cNvSpPr/>
            <p:nvPr/>
          </p:nvSpPr>
          <p:spPr>
            <a:xfrm>
              <a:off x="6281927" y="1591056"/>
              <a:ext cx="713232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4" name="Icon FaBrain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36791" y="1655064"/>
              <a:ext cx="146304" cy="146304"/>
            </a:xfrm>
            <a:prstGeom prst="rect">
              <a:avLst/>
            </a:prstGeom>
          </p:spPr>
        </p:pic>
        <p:sp>
          <p:nvSpPr>
            <p:cNvPr id="865" name="Target In-country LLM label"/>
            <p:cNvSpPr txBox="1"/>
            <p:nvPr/>
          </p:nvSpPr>
          <p:spPr>
            <a:xfrm>
              <a:off x="6510527" y="1643577"/>
              <a:ext cx="466344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 dirty="0">
                  <a:solidFill>
                    <a:srgbClr val="001408"/>
                  </a:solidFill>
                  <a:latin typeface="Calibri"/>
                </a:rPr>
                <a:t>In-country </a:t>
              </a:r>
              <a:r>
                <a:rPr lang="en-US" sz="550" b="0" i="0" dirty="0">
                  <a:solidFill>
                    <a:srgbClr val="001408"/>
                  </a:solidFill>
                  <a:latin typeface="Calibri"/>
                </a:rPr>
                <a:t>\</a:t>
              </a:r>
            </a:p>
            <a:p>
              <a:pPr algn="l"/>
              <a:r>
                <a:rPr sz="550" b="0" i="0" dirty="0">
                  <a:solidFill>
                    <a:srgbClr val="001408"/>
                  </a:solidFill>
                  <a:latin typeface="Calibri"/>
                </a:rPr>
                <a:t>LLM</a:t>
              </a:r>
            </a:p>
          </p:txBody>
        </p:sp>
        <p:cxnSp>
          <p:nvCxnSpPr>
            <p:cNvPr id="866" name="flow ok"/>
            <p:cNvCxnSpPr/>
            <p:nvPr/>
          </p:nvCxnSpPr>
          <p:spPr>
            <a:xfrm flipV="1">
              <a:off x="6007607" y="1728216"/>
              <a:ext cx="274320" cy="82296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pic>
          <p:nvPicPr>
            <p:cNvPr id="867" name="Icon FaLock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9048" y="1572768"/>
              <a:ext cx="109728" cy="109728"/>
            </a:xfrm>
            <a:prstGeom prst="rect">
              <a:avLst/>
            </a:prstGeom>
          </p:spPr>
        </p:pic>
        <p:sp>
          <p:nvSpPr>
            <p:cNvPr id="868" name="Mark"/>
            <p:cNvSpPr/>
            <p:nvPr/>
          </p:nvSpPr>
          <p:spPr>
            <a:xfrm>
              <a:off x="6903719" y="1655064"/>
              <a:ext cx="146304" cy="14630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9" name="Mark glyph"/>
            <p:cNvSpPr txBox="1"/>
            <p:nvPr/>
          </p:nvSpPr>
          <p:spPr>
            <a:xfrm>
              <a:off x="6903719" y="1655064"/>
              <a:ext cx="146304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 dirty="0">
                  <a:solidFill>
                    <a:srgbClr val="001408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870" name="Chip ✓ AuthN OIDC"/>
            <p:cNvSpPr/>
            <p:nvPr/>
          </p:nvSpPr>
          <p:spPr>
            <a:xfrm>
              <a:off x="4764023" y="2231136"/>
              <a:ext cx="1097280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001408"/>
                  </a:solidFill>
                  <a:latin typeface="Calibri"/>
                </a:rPr>
                <a:t>✓ AuthN API key</a:t>
              </a:r>
            </a:p>
          </p:txBody>
        </p:sp>
        <p:sp>
          <p:nvSpPr>
            <p:cNvPr id="871" name="Chip ✓ AuthZ ACL"/>
            <p:cNvSpPr/>
            <p:nvPr/>
          </p:nvSpPr>
          <p:spPr>
            <a:xfrm>
              <a:off x="5916167" y="2231136"/>
              <a:ext cx="1097280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001408"/>
                  </a:solidFill>
                  <a:latin typeface="Calibri"/>
                </a:rPr>
                <a:t>✓ AuthZ ACL</a:t>
              </a:r>
            </a:p>
          </p:txBody>
        </p:sp>
        <p:sp>
          <p:nvSpPr>
            <p:cNvPr id="872" name="Chip ✓ PII redacted"/>
            <p:cNvSpPr/>
            <p:nvPr/>
          </p:nvSpPr>
          <p:spPr>
            <a:xfrm>
              <a:off x="4764023" y="2432304"/>
              <a:ext cx="1097280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001408"/>
                  </a:solidFill>
                  <a:latin typeface="Calibri"/>
                </a:rPr>
                <a:t>✓ PII redacted</a:t>
              </a:r>
            </a:p>
          </p:txBody>
        </p:sp>
        <p:sp>
          <p:nvSpPr>
            <p:cNvPr id="873" name="Chip ✕ advice prompt blocked"/>
            <p:cNvSpPr/>
            <p:nvPr/>
          </p:nvSpPr>
          <p:spPr>
            <a:xfrm>
              <a:off x="5916167" y="2432304"/>
              <a:ext cx="1097280" cy="155448"/>
            </a:xfrm>
            <a:prstGeom prst="roundRect">
              <a:avLst>
                <a:gd name="adj" fmla="val 50000"/>
              </a:avLst>
            </a:prstGeom>
            <a:solidFill>
              <a:srgbClr val="FBECE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C8553D"/>
                  </a:solidFill>
                  <a:latin typeface="Calibri"/>
                </a:rPr>
                <a:t>✕ advice prompt blocked</a:t>
              </a:r>
            </a:p>
          </p:txBody>
        </p:sp>
        <p:sp>
          <p:nvSpPr>
            <p:cNvPr id="874" name="Label CONSTRUCTS"/>
            <p:cNvSpPr txBox="1"/>
            <p:nvPr/>
          </p:nvSpPr>
          <p:spPr>
            <a:xfrm>
              <a:off x="7178040" y="1389888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CONSTRUCTS</a:t>
              </a:r>
            </a:p>
          </p:txBody>
        </p:sp>
        <p:sp>
          <p:nvSpPr>
            <p:cNvPr id="875" name="ACT 2 construct 1"/>
            <p:cNvSpPr/>
            <p:nvPr/>
          </p:nvSpPr>
          <p:spPr>
            <a:xfrm>
              <a:off x="7178040" y="1554480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Auth Strategy · ACL</a:t>
              </a:r>
            </a:p>
          </p:txBody>
        </p:sp>
        <p:sp>
          <p:nvSpPr>
            <p:cNvPr id="876" name="ACT 2 construct 2"/>
            <p:cNvSpPr/>
            <p:nvPr/>
          </p:nvSpPr>
          <p:spPr>
            <a:xfrm>
              <a:off x="7178040" y="1769364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PII Sanitizer (EID)</a:t>
              </a:r>
            </a:p>
          </p:txBody>
        </p:sp>
        <p:sp>
          <p:nvSpPr>
            <p:cNvPr id="877" name="ACT 2 construct 3"/>
            <p:cNvSpPr/>
            <p:nvPr/>
          </p:nvSpPr>
          <p:spPr>
            <a:xfrm>
              <a:off x="7178040" y="1984248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Semantic Prompt Guard</a:t>
              </a:r>
            </a:p>
          </p:txBody>
        </p:sp>
        <p:sp>
          <p:nvSpPr>
            <p:cNvPr id="878" name="ACT 2 KPI"/>
            <p:cNvSpPr txBox="1"/>
            <p:nvPr/>
          </p:nvSpPr>
          <p:spPr>
            <a:xfrm>
              <a:off x="7178040" y="2212848"/>
              <a:ext cx="14264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879" name="ACT 2 KPI label"/>
            <p:cNvSpPr txBox="1"/>
            <p:nvPr/>
          </p:nvSpPr>
          <p:spPr>
            <a:xfrm>
              <a:off x="7178040" y="2468880"/>
              <a:ext cx="1444752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of prompts screened by AI security policy</a:t>
              </a:r>
            </a:p>
          </p:txBody>
        </p:sp>
      </p:grpSp>
      <p:grpSp>
        <p:nvGrpSpPr>
          <p:cNvPr id="4" name="ACT 3 group"/>
          <p:cNvGrpSpPr/>
          <p:nvPr/>
        </p:nvGrpSpPr>
        <p:grpSpPr>
          <a:xfrm>
            <a:off x="457200" y="2807208"/>
            <a:ext cx="4069080" cy="1783080"/>
            <a:chOff x="457200" y="2807208"/>
            <a:chExt cx="4069080" cy="1783080"/>
          </a:xfrm>
        </p:grpSpPr>
        <p:sp>
          <p:nvSpPr>
            <p:cNvPr id="880" name="ACT 3 card"/>
            <p:cNvSpPr/>
            <p:nvPr/>
          </p:nvSpPr>
          <p:spPr>
            <a:xfrm>
              <a:off x="457200" y="2807208"/>
              <a:ext cx="4069080" cy="1783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1" name="ACT 3 header"/>
            <p:cNvSpPr/>
            <p:nvPr/>
          </p:nvSpPr>
          <p:spPr>
            <a:xfrm>
              <a:off x="457200" y="2807208"/>
              <a:ext cx="4069080" cy="365760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2" name="ACT 3 label"/>
            <p:cNvSpPr txBox="1"/>
            <p:nvPr/>
          </p:nvSpPr>
          <p:spPr>
            <a:xfrm>
              <a:off x="566928" y="2807208"/>
              <a:ext cx="548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► ACT 3</a:t>
              </a:r>
            </a:p>
          </p:txBody>
        </p:sp>
        <p:sp>
          <p:nvSpPr>
            <p:cNvPr id="883" name="ACT 3 title"/>
            <p:cNvSpPr txBox="1"/>
            <p:nvPr/>
          </p:nvSpPr>
          <p:spPr>
            <a:xfrm>
              <a:off x="1170432" y="2807208"/>
              <a:ext cx="1691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50" b="1" i="0">
                  <a:solidFill>
                    <a:srgbClr val="FFFFFF"/>
                  </a:solidFill>
                  <a:latin typeface="Calibri"/>
                </a:rPr>
                <a:t>Govern tokens</a:t>
              </a:r>
            </a:p>
          </p:txBody>
        </p:sp>
        <p:sp>
          <p:nvSpPr>
            <p:cNvPr id="884" name="ACT 3 meta"/>
            <p:cNvSpPr txBox="1"/>
            <p:nvPr/>
          </p:nvSpPr>
          <p:spPr>
            <a:xfrm>
              <a:off x="2852928" y="2807208"/>
              <a:ext cx="1572768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00" b="1" i="0">
                  <a:solidFill>
                    <a:srgbClr val="CCFF00"/>
                  </a:solidFill>
                  <a:latin typeface="Calibri"/>
                </a:rPr>
                <a:t>4 min  ·  </a:t>
              </a:r>
              <a:r>
                <a:rPr sz="800" b="1" i="0">
                  <a:solidFill>
                    <a:srgbClr val="B9C6B5"/>
                  </a:solidFill>
                  <a:latin typeface="Calibri"/>
                </a:rPr>
                <a:t>CIO · Platform</a:t>
              </a:r>
            </a:p>
          </p:txBody>
        </p:sp>
        <p:sp>
          <p:nvSpPr>
            <p:cNvPr id="885" name="ACT 3 canvas"/>
            <p:cNvSpPr/>
            <p:nvPr/>
          </p:nvSpPr>
          <p:spPr>
            <a:xfrm>
              <a:off x="548640" y="3246120"/>
              <a:ext cx="2359152" cy="1280160"/>
            </a:xfrm>
            <a:prstGeom prst="roundRect">
              <a:avLst>
                <a:gd name="adj" fmla="val 4000"/>
              </a:avLst>
            </a:prstGeom>
            <a:solidFill>
              <a:srgbClr val="F7F9F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6" name="User TEAM"/>
            <p:cNvSpPr/>
            <p:nvPr/>
          </p:nvSpPr>
          <p:spPr>
            <a:xfrm>
              <a:off x="640080" y="3538727"/>
              <a:ext cx="329184" cy="329184"/>
            </a:xfrm>
            <a:prstGeom prst="ellipse">
              <a:avLst/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7" name="Icon FaUsers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2375" y="3621023"/>
              <a:ext cx="164592" cy="164592"/>
            </a:xfrm>
            <a:prstGeom prst="rect">
              <a:avLst/>
            </a:prstGeom>
          </p:spPr>
        </p:pic>
        <p:sp>
          <p:nvSpPr>
            <p:cNvPr id="888" name="User TEAM label"/>
            <p:cNvSpPr txBox="1"/>
            <p:nvPr/>
          </p:nvSpPr>
          <p:spPr>
            <a:xfrm>
              <a:off x="502919" y="3886200"/>
              <a:ext cx="603504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6B7069"/>
                  </a:solidFill>
                  <a:latin typeface="Calibri"/>
                </a:rPr>
                <a:t>TEAM</a:t>
              </a:r>
            </a:p>
          </p:txBody>
        </p:sp>
        <p:sp>
          <p:nvSpPr>
            <p:cNvPr id="889" name="Kong node"/>
            <p:cNvSpPr/>
            <p:nvPr/>
          </p:nvSpPr>
          <p:spPr>
            <a:xfrm>
              <a:off x="1280160" y="3483863"/>
              <a:ext cx="566928" cy="438912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0" name="Picture 889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3895" y="3547871"/>
              <a:ext cx="219456" cy="195681"/>
            </a:xfrm>
            <a:prstGeom prst="rect">
              <a:avLst/>
            </a:prstGeom>
          </p:spPr>
        </p:pic>
        <p:sp>
          <p:nvSpPr>
            <p:cNvPr id="891" name="Kong label"/>
            <p:cNvSpPr txBox="1"/>
            <p:nvPr/>
          </p:nvSpPr>
          <p:spPr>
            <a:xfrm>
              <a:off x="1280160" y="3749039"/>
              <a:ext cx="5669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CCFF00"/>
                  </a:solidFill>
                  <a:latin typeface="Calibri"/>
                </a:rPr>
                <a:t>Kong</a:t>
              </a:r>
            </a:p>
          </p:txBody>
        </p:sp>
        <p:cxnSp>
          <p:nvCxnSpPr>
            <p:cNvPr id="892" name="flow"/>
            <p:cNvCxnSpPr/>
            <p:nvPr/>
          </p:nvCxnSpPr>
          <p:spPr>
            <a:xfrm>
              <a:off x="978407" y="3703320"/>
              <a:ext cx="301753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893" name="Target Large LLM"/>
            <p:cNvSpPr/>
            <p:nvPr/>
          </p:nvSpPr>
          <p:spPr>
            <a:xfrm>
              <a:off x="2121408" y="3392424"/>
              <a:ext cx="713232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4" name="Icon FaBrain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6272" y="3456432"/>
              <a:ext cx="146304" cy="146304"/>
            </a:xfrm>
            <a:prstGeom prst="rect">
              <a:avLst/>
            </a:prstGeom>
          </p:spPr>
        </p:pic>
        <p:sp>
          <p:nvSpPr>
            <p:cNvPr id="895" name="Target Large LLM label"/>
            <p:cNvSpPr txBox="1"/>
            <p:nvPr/>
          </p:nvSpPr>
          <p:spPr>
            <a:xfrm>
              <a:off x="2350008" y="3392424"/>
              <a:ext cx="466344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001408"/>
                  </a:solidFill>
                  <a:latin typeface="Calibri"/>
                </a:rPr>
                <a:t>Large LLM</a:t>
              </a:r>
            </a:p>
          </p:txBody>
        </p:sp>
        <p:sp>
          <p:nvSpPr>
            <p:cNvPr id="896" name="Target Small LLM"/>
            <p:cNvSpPr/>
            <p:nvPr/>
          </p:nvSpPr>
          <p:spPr>
            <a:xfrm>
              <a:off x="2121408" y="3758183"/>
              <a:ext cx="713232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7" name="Icon FaBrain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6272" y="3822191"/>
              <a:ext cx="146304" cy="146304"/>
            </a:xfrm>
            <a:prstGeom prst="rect">
              <a:avLst/>
            </a:prstGeom>
          </p:spPr>
        </p:pic>
        <p:sp>
          <p:nvSpPr>
            <p:cNvPr id="898" name="Target Small LLM label"/>
            <p:cNvSpPr txBox="1"/>
            <p:nvPr/>
          </p:nvSpPr>
          <p:spPr>
            <a:xfrm>
              <a:off x="2350008" y="3758183"/>
              <a:ext cx="466344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001408"/>
                  </a:solidFill>
                  <a:latin typeface="Calibri"/>
                </a:rPr>
                <a:t>Small LLM</a:t>
              </a:r>
            </a:p>
          </p:txBody>
        </p:sp>
        <p:cxnSp>
          <p:nvCxnSpPr>
            <p:cNvPr id="899" name="flow complex"/>
            <p:cNvCxnSpPr/>
            <p:nvPr/>
          </p:nvCxnSpPr>
          <p:spPr>
            <a:xfrm flipV="1">
              <a:off x="1847088" y="3529584"/>
              <a:ext cx="274320" cy="100584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cxnSp>
          <p:nvCxnSpPr>
            <p:cNvPr id="900" name="flow simple"/>
            <p:cNvCxnSpPr/>
            <p:nvPr/>
          </p:nvCxnSpPr>
          <p:spPr>
            <a:xfrm>
              <a:off x="1847088" y="3758183"/>
              <a:ext cx="274320" cy="137161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01" name="Chip ✓ repeat question: cache hit, no model call"/>
            <p:cNvSpPr/>
            <p:nvPr/>
          </p:nvSpPr>
          <p:spPr>
            <a:xfrm>
              <a:off x="603503" y="4087368"/>
              <a:ext cx="2249424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001408"/>
                  </a:solidFill>
                  <a:latin typeface="Calibri"/>
                </a:rPr>
                <a:t>✓ repeat question: cache hit, no model call</a:t>
              </a:r>
            </a:p>
          </p:txBody>
        </p:sp>
        <p:sp>
          <p:nvSpPr>
            <p:cNvPr id="902" name="budget label"/>
            <p:cNvSpPr txBox="1"/>
            <p:nvPr/>
          </p:nvSpPr>
          <p:spPr>
            <a:xfrm>
              <a:off x="603503" y="4288536"/>
              <a:ext cx="1097280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50" b="0" i="0">
                  <a:solidFill>
                    <a:srgbClr val="4B5650"/>
                  </a:solidFill>
                  <a:latin typeface="Calibri"/>
                </a:rPr>
                <a:t>retail-copilot budget</a:t>
              </a:r>
            </a:p>
          </p:txBody>
        </p:sp>
        <p:sp>
          <p:nvSpPr>
            <p:cNvPr id="903" name="budget track"/>
            <p:cNvSpPr/>
            <p:nvPr/>
          </p:nvSpPr>
          <p:spPr>
            <a:xfrm>
              <a:off x="1664207" y="4306824"/>
              <a:ext cx="1152144" cy="91440"/>
            </a:xfrm>
            <a:prstGeom prst="rect">
              <a:avLst/>
            </a:prstGeom>
            <a:solidFill>
              <a:srgbClr val="E9ECE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4" name="budget fill"/>
            <p:cNvSpPr/>
            <p:nvPr/>
          </p:nvSpPr>
          <p:spPr>
            <a:xfrm>
              <a:off x="1664207" y="4306824"/>
              <a:ext cx="944758" cy="91440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5" name="budget note"/>
            <p:cNvSpPr txBox="1"/>
            <p:nvPr/>
          </p:nvSpPr>
          <p:spPr>
            <a:xfrm>
              <a:off x="603503" y="4398264"/>
              <a:ext cx="2194560" cy="118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6B7069"/>
                  </a:solidFill>
                  <a:latin typeface="Calibri"/>
                </a:rPr>
                <a:t>412k of 500k tokens today  ·  over budget → 429</a:t>
              </a:r>
            </a:p>
          </p:txBody>
        </p:sp>
        <p:sp>
          <p:nvSpPr>
            <p:cNvPr id="906" name="Label CONSTRUCTS"/>
            <p:cNvSpPr txBox="1"/>
            <p:nvPr/>
          </p:nvSpPr>
          <p:spPr>
            <a:xfrm>
              <a:off x="3017520" y="3246120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CONSTRUCTS</a:t>
              </a:r>
            </a:p>
          </p:txBody>
        </p:sp>
        <p:sp>
          <p:nvSpPr>
            <p:cNvPr id="907" name="ACT 3 construct 1"/>
            <p:cNvSpPr/>
            <p:nvPr/>
          </p:nvSpPr>
          <p:spPr>
            <a:xfrm>
              <a:off x="3017520" y="3410712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Rate Limiting Advanced</a:t>
              </a:r>
            </a:p>
          </p:txBody>
        </p:sp>
        <p:sp>
          <p:nvSpPr>
            <p:cNvPr id="908" name="ACT 3 construct 2"/>
            <p:cNvSpPr/>
            <p:nvPr/>
          </p:nvSpPr>
          <p:spPr>
            <a:xfrm>
              <a:off x="3017520" y="3625596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Semantic Cache</a:t>
              </a:r>
            </a:p>
          </p:txBody>
        </p:sp>
        <p:sp>
          <p:nvSpPr>
            <p:cNvPr id="909" name="ACT 3 construct 3"/>
            <p:cNvSpPr/>
            <p:nvPr/>
          </p:nvSpPr>
          <p:spPr>
            <a:xfrm>
              <a:off x="3017520" y="3840480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semantic routing · Analytics</a:t>
              </a:r>
            </a:p>
          </p:txBody>
        </p:sp>
        <p:sp>
          <p:nvSpPr>
            <p:cNvPr id="910" name="ACT 3 KPI"/>
            <p:cNvSpPr txBox="1"/>
            <p:nvPr/>
          </p:nvSpPr>
          <p:spPr>
            <a:xfrm>
              <a:off x="3017520" y="4069079"/>
              <a:ext cx="14264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911" name="ACT 3 KPI label"/>
            <p:cNvSpPr txBox="1"/>
            <p:nvPr/>
          </p:nvSpPr>
          <p:spPr>
            <a:xfrm>
              <a:off x="3017520" y="4325112"/>
              <a:ext cx="1444752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of tokens attributed to a use case</a:t>
              </a:r>
            </a:p>
          </p:txBody>
        </p:sp>
      </p:grpSp>
      <p:grpSp>
        <p:nvGrpSpPr>
          <p:cNvPr id="5" name="ACT 4 group"/>
          <p:cNvGrpSpPr/>
          <p:nvPr/>
        </p:nvGrpSpPr>
        <p:grpSpPr>
          <a:xfrm>
            <a:off x="4617720" y="2807208"/>
            <a:ext cx="4069080" cy="1783080"/>
            <a:chOff x="4617720" y="2807208"/>
            <a:chExt cx="4069080" cy="1783080"/>
          </a:xfrm>
        </p:grpSpPr>
        <p:sp>
          <p:nvSpPr>
            <p:cNvPr id="912" name="ACT 4 card"/>
            <p:cNvSpPr/>
            <p:nvPr/>
          </p:nvSpPr>
          <p:spPr>
            <a:xfrm>
              <a:off x="4617720" y="2807208"/>
              <a:ext cx="4069080" cy="1783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3" name="ACT 4 header"/>
            <p:cNvSpPr/>
            <p:nvPr/>
          </p:nvSpPr>
          <p:spPr>
            <a:xfrm>
              <a:off x="4617720" y="2807208"/>
              <a:ext cx="4069080" cy="365760"/>
            </a:xfrm>
            <a:prstGeom prst="roundRect">
              <a:avLst>
                <a:gd name="adj" fmla="val 1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4" name="ACT 4 label"/>
            <p:cNvSpPr txBox="1"/>
            <p:nvPr/>
          </p:nvSpPr>
          <p:spPr>
            <a:xfrm>
              <a:off x="4727448" y="2807208"/>
              <a:ext cx="548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► ACT 4</a:t>
              </a:r>
            </a:p>
          </p:txBody>
        </p:sp>
        <p:sp>
          <p:nvSpPr>
            <p:cNvPr id="915" name="ACT 4 title"/>
            <p:cNvSpPr txBox="1"/>
            <p:nvPr/>
          </p:nvSpPr>
          <p:spPr>
            <a:xfrm>
              <a:off x="5330952" y="2807208"/>
              <a:ext cx="16916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50" b="1" i="0">
                  <a:solidFill>
                    <a:srgbClr val="FFFFFF"/>
                  </a:solidFill>
                  <a:latin typeface="Calibri"/>
                </a:rPr>
                <a:t>Extend to agents</a:t>
              </a:r>
            </a:p>
          </p:txBody>
        </p:sp>
        <p:sp>
          <p:nvSpPr>
            <p:cNvPr id="916" name="ACT 4 meta"/>
            <p:cNvSpPr txBox="1"/>
            <p:nvPr/>
          </p:nvSpPr>
          <p:spPr>
            <a:xfrm>
              <a:off x="7013448" y="2807208"/>
              <a:ext cx="1572768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00" b="1" i="0">
                  <a:solidFill>
                    <a:srgbClr val="CCFF00"/>
                  </a:solidFill>
                  <a:latin typeface="Calibri"/>
                </a:rPr>
                <a:t>3.5 min  ·  </a:t>
              </a:r>
              <a:r>
                <a:rPr sz="800" b="1" i="0">
                  <a:solidFill>
                    <a:srgbClr val="B9C6B5"/>
                  </a:solidFill>
                  <a:latin typeface="Calibri"/>
                </a:rPr>
                <a:t>CIO · Platform</a:t>
              </a:r>
            </a:p>
          </p:txBody>
        </p:sp>
        <p:sp>
          <p:nvSpPr>
            <p:cNvPr id="917" name="ACT 4 canvas"/>
            <p:cNvSpPr/>
            <p:nvPr/>
          </p:nvSpPr>
          <p:spPr>
            <a:xfrm>
              <a:off x="4709159" y="3246120"/>
              <a:ext cx="2359152" cy="1280160"/>
            </a:xfrm>
            <a:prstGeom prst="roundRect">
              <a:avLst>
                <a:gd name="adj" fmla="val 4000"/>
              </a:avLst>
            </a:prstGeom>
            <a:solidFill>
              <a:srgbClr val="F7F9F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8" name="User AGENT"/>
            <p:cNvSpPr/>
            <p:nvPr/>
          </p:nvSpPr>
          <p:spPr>
            <a:xfrm>
              <a:off x="4800599" y="3538727"/>
              <a:ext cx="329184" cy="329184"/>
            </a:xfrm>
            <a:prstGeom prst="ellipse">
              <a:avLst/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19" name="Icon FaRobot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82895" y="3621023"/>
              <a:ext cx="164592" cy="164592"/>
            </a:xfrm>
            <a:prstGeom prst="rect">
              <a:avLst/>
            </a:prstGeom>
          </p:spPr>
        </p:pic>
        <p:sp>
          <p:nvSpPr>
            <p:cNvPr id="920" name="User AGENT label"/>
            <p:cNvSpPr txBox="1"/>
            <p:nvPr/>
          </p:nvSpPr>
          <p:spPr>
            <a:xfrm>
              <a:off x="4663439" y="3886200"/>
              <a:ext cx="603504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6B7069"/>
                  </a:solidFill>
                  <a:latin typeface="Calibri"/>
                </a:rPr>
                <a:t>AGENT</a:t>
              </a:r>
            </a:p>
          </p:txBody>
        </p:sp>
        <p:sp>
          <p:nvSpPr>
            <p:cNvPr id="921" name="Kong node"/>
            <p:cNvSpPr/>
            <p:nvPr/>
          </p:nvSpPr>
          <p:spPr>
            <a:xfrm>
              <a:off x="5440679" y="3483863"/>
              <a:ext cx="566928" cy="438912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22" name="Picture 921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4415" y="3547871"/>
              <a:ext cx="219456" cy="195681"/>
            </a:xfrm>
            <a:prstGeom prst="rect">
              <a:avLst/>
            </a:prstGeom>
          </p:spPr>
        </p:pic>
        <p:sp>
          <p:nvSpPr>
            <p:cNvPr id="923" name="Kong label"/>
            <p:cNvSpPr txBox="1"/>
            <p:nvPr/>
          </p:nvSpPr>
          <p:spPr>
            <a:xfrm>
              <a:off x="5440679" y="3749039"/>
              <a:ext cx="5669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CCFF00"/>
                  </a:solidFill>
                  <a:latin typeface="Calibri"/>
                </a:rPr>
                <a:t>Kong</a:t>
              </a:r>
            </a:p>
          </p:txBody>
        </p:sp>
        <p:cxnSp>
          <p:nvCxnSpPr>
            <p:cNvPr id="924" name="flow"/>
            <p:cNvCxnSpPr/>
            <p:nvPr/>
          </p:nvCxnSpPr>
          <p:spPr>
            <a:xfrm>
              <a:off x="5138927" y="3703320"/>
              <a:ext cx="301752" cy="0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25" name="Target get_card_status"/>
            <p:cNvSpPr/>
            <p:nvPr/>
          </p:nvSpPr>
          <p:spPr>
            <a:xfrm>
              <a:off x="6190488" y="3300984"/>
              <a:ext cx="841248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26" name="Icon FaUniversity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45351" y="3364991"/>
              <a:ext cx="146304" cy="146304"/>
            </a:xfrm>
            <a:prstGeom prst="rect">
              <a:avLst/>
            </a:prstGeom>
          </p:spPr>
        </p:pic>
        <p:sp>
          <p:nvSpPr>
            <p:cNvPr id="927" name="Target get_card_status label"/>
            <p:cNvSpPr txBox="1"/>
            <p:nvPr/>
          </p:nvSpPr>
          <p:spPr>
            <a:xfrm>
              <a:off x="6419088" y="3300984"/>
              <a:ext cx="59436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 i="0">
                  <a:solidFill>
                    <a:srgbClr val="001408"/>
                  </a:solidFill>
                  <a:latin typeface="Calibri"/>
                </a:rPr>
                <a:t>get_card_status</a:t>
              </a:r>
            </a:p>
          </p:txBody>
        </p:sp>
        <p:cxnSp>
          <p:nvCxnSpPr>
            <p:cNvPr id="928" name="tool flow"/>
            <p:cNvCxnSpPr/>
            <p:nvPr/>
          </p:nvCxnSpPr>
          <p:spPr>
            <a:xfrm flipV="1">
              <a:off x="6007607" y="3438144"/>
              <a:ext cx="182881" cy="173735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29" name="Target get_kyc_status"/>
            <p:cNvSpPr/>
            <p:nvPr/>
          </p:nvSpPr>
          <p:spPr>
            <a:xfrm>
              <a:off x="6190488" y="3611879"/>
              <a:ext cx="841248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30" name="Icon FaUserShield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45351" y="3675887"/>
              <a:ext cx="146304" cy="146304"/>
            </a:xfrm>
            <a:prstGeom prst="rect">
              <a:avLst/>
            </a:prstGeom>
          </p:spPr>
        </p:pic>
        <p:sp>
          <p:nvSpPr>
            <p:cNvPr id="931" name="Target get_kyc_status label"/>
            <p:cNvSpPr txBox="1"/>
            <p:nvPr/>
          </p:nvSpPr>
          <p:spPr>
            <a:xfrm>
              <a:off x="6419088" y="3611879"/>
              <a:ext cx="59436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 i="0">
                  <a:solidFill>
                    <a:srgbClr val="001408"/>
                  </a:solidFill>
                  <a:latin typeface="Calibri"/>
                </a:rPr>
                <a:t>get_kyc_status</a:t>
              </a:r>
            </a:p>
          </p:txBody>
        </p:sp>
        <p:cxnSp>
          <p:nvCxnSpPr>
            <p:cNvPr id="932" name="tool flow"/>
            <p:cNvCxnSpPr/>
            <p:nvPr/>
          </p:nvCxnSpPr>
          <p:spPr>
            <a:xfrm>
              <a:off x="6007607" y="3666744"/>
              <a:ext cx="182881" cy="82295"/>
            </a:xfrm>
            <a:prstGeom prst="line">
              <a:avLst/>
            </a:prstGeom>
            <a:ln w="12700">
              <a:solidFill>
                <a:srgbClr val="4A8500"/>
              </a:solidFill>
              <a:tailEnd type="triangle" w="med" len="med"/>
            </a:ln>
          </p:spPr>
        </p:cxnSp>
        <p:sp>
          <p:nvSpPr>
            <p:cNvPr id="933" name="Target block_card"/>
            <p:cNvSpPr/>
            <p:nvPr/>
          </p:nvSpPr>
          <p:spPr>
            <a:xfrm>
              <a:off x="6190488" y="3922776"/>
              <a:ext cx="841248" cy="27432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C8553D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934" name="Icon FaUniversity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245351" y="3986784"/>
              <a:ext cx="146304" cy="146304"/>
            </a:xfrm>
            <a:prstGeom prst="rect">
              <a:avLst/>
            </a:prstGeom>
          </p:spPr>
        </p:pic>
        <p:sp>
          <p:nvSpPr>
            <p:cNvPr id="935" name="Target block_card label"/>
            <p:cNvSpPr txBox="1"/>
            <p:nvPr/>
          </p:nvSpPr>
          <p:spPr>
            <a:xfrm>
              <a:off x="6419088" y="3922776"/>
              <a:ext cx="59436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 i="0">
                  <a:solidFill>
                    <a:srgbClr val="C8553D"/>
                  </a:solidFill>
                  <a:latin typeface="Calibri"/>
                </a:rPr>
                <a:t>block_card</a:t>
              </a:r>
            </a:p>
          </p:txBody>
        </p:sp>
        <p:cxnSp>
          <p:nvCxnSpPr>
            <p:cNvPr id="936" name="tool flow"/>
            <p:cNvCxnSpPr/>
            <p:nvPr/>
          </p:nvCxnSpPr>
          <p:spPr>
            <a:xfrm>
              <a:off x="6007607" y="3721607"/>
              <a:ext cx="182881" cy="338329"/>
            </a:xfrm>
            <a:prstGeom prst="line">
              <a:avLst/>
            </a:prstGeom>
            <a:ln w="12700">
              <a:solidFill>
                <a:srgbClr val="C8553D"/>
              </a:solidFill>
              <a:prstDash val="dash"/>
              <a:tailEnd type="triangle" w="med" len="med"/>
            </a:ln>
          </p:spPr>
        </p:cxnSp>
        <p:sp>
          <p:nvSpPr>
            <p:cNvPr id="937" name="Chip ✕ block_card hidden  ·  ✓ agent + user identity logged"/>
            <p:cNvSpPr/>
            <p:nvPr/>
          </p:nvSpPr>
          <p:spPr>
            <a:xfrm>
              <a:off x="4764023" y="4288536"/>
              <a:ext cx="2249424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50" b="1" i="0">
                  <a:solidFill>
                    <a:srgbClr val="001408"/>
                  </a:solidFill>
                  <a:latin typeface="Calibri"/>
                </a:rPr>
                <a:t>✕ block_card hidden  ·  ✓ agent + user identity logged</a:t>
              </a:r>
            </a:p>
          </p:txBody>
        </p:sp>
        <p:sp>
          <p:nvSpPr>
            <p:cNvPr id="938" name="Label CONSTRUCTS"/>
            <p:cNvSpPr txBox="1"/>
            <p:nvPr/>
          </p:nvSpPr>
          <p:spPr>
            <a:xfrm>
              <a:off x="7178040" y="3246120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CONSTRUCTS</a:t>
              </a:r>
            </a:p>
          </p:txBody>
        </p:sp>
        <p:sp>
          <p:nvSpPr>
            <p:cNvPr id="939" name="ACT 4 construct 1"/>
            <p:cNvSpPr/>
            <p:nvPr/>
          </p:nvSpPr>
          <p:spPr>
            <a:xfrm>
              <a:off x="7178040" y="3410712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AI MCP Server: REST → tools</a:t>
              </a:r>
            </a:p>
          </p:txBody>
        </p:sp>
        <p:sp>
          <p:nvSpPr>
            <p:cNvPr id="940" name="ACT 4 construct 2"/>
            <p:cNvSpPr/>
            <p:nvPr/>
          </p:nvSpPr>
          <p:spPr>
            <a:xfrm>
              <a:off x="7178040" y="3625596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tool ACL per consumer group</a:t>
              </a:r>
            </a:p>
          </p:txBody>
        </p:sp>
        <p:sp>
          <p:nvSpPr>
            <p:cNvPr id="941" name="ACT 4 construct 3"/>
            <p:cNvSpPr/>
            <p:nvPr/>
          </p:nvSpPr>
          <p:spPr>
            <a:xfrm>
              <a:off x="7178040" y="3840480"/>
              <a:ext cx="1426464" cy="17373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0" i="0">
                  <a:solidFill>
                    <a:srgbClr val="001408"/>
                  </a:solidFill>
                  <a:latin typeface="Calibri"/>
                </a:rPr>
                <a:t>agent + user identity in logs</a:t>
              </a:r>
            </a:p>
          </p:txBody>
        </p:sp>
        <p:sp>
          <p:nvSpPr>
            <p:cNvPr id="942" name="ACT 4 KPI"/>
            <p:cNvSpPr txBox="1"/>
            <p:nvPr/>
          </p:nvSpPr>
          <p:spPr>
            <a:xfrm>
              <a:off x="7178040" y="4069079"/>
              <a:ext cx="1426464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50" b="1" i="0">
                  <a:solidFill>
                    <a:srgbClr val="4A8500"/>
                  </a:solidFill>
                  <a:latin typeface="Calibri"/>
                </a:rPr>
                <a:t>100%</a:t>
              </a:r>
            </a:p>
          </p:txBody>
        </p:sp>
        <p:sp>
          <p:nvSpPr>
            <p:cNvPr id="943" name="ACT 4 KPI label"/>
            <p:cNvSpPr txBox="1"/>
            <p:nvPr/>
          </p:nvSpPr>
          <p:spPr>
            <a:xfrm>
              <a:off x="7178040" y="4325112"/>
              <a:ext cx="1444752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of agent tool calls authenticated and audited</a:t>
              </a:r>
            </a:p>
          </p:txBody>
        </p:sp>
      </p:grpSp>
      <p:sp>
        <p:nvSpPr>
          <p:cNvPr id="944" name="Demo stack strip"/>
          <p:cNvSpPr/>
          <p:nvPr/>
        </p:nvSpPr>
        <p:spPr>
          <a:xfrm>
            <a:off x="457200" y="4608576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F3F5F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45" name="Demo stack label"/>
          <p:cNvSpPr txBox="1"/>
          <p:nvPr/>
        </p:nvSpPr>
        <p:spPr>
          <a:xfrm>
            <a:off x="566928" y="460857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4A8500"/>
                </a:solidFill>
                <a:latin typeface="Calibri"/>
              </a:rPr>
              <a:t>DEMO STACK</a:t>
            </a:r>
          </a:p>
        </p:txBody>
      </p:sp>
      <p:sp>
        <p:nvSpPr>
          <p:cNvPr id="946" name="Demo stack text"/>
          <p:cNvSpPr txBox="1"/>
          <p:nvPr/>
        </p:nvSpPr>
        <p:spPr>
          <a:xfrm>
            <a:off x="1389888" y="4608576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001408"/>
                </a:solidFill>
                <a:latin typeface="Calibri"/>
              </a:rPr>
              <a:t>Konnect (EU trial · ME for GNB)  ·  data plane in Docker  ·  local models (Ollama)  ·  agent model: OpenAI gpt-5.5  ·  Redis  ·  PII service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LIVE DEMO · THE CAST  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Who you will see, and what they will try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949" name="Premise"/>
          <p:cNvSpPr txBox="1"/>
          <p:nvPr/>
        </p:nvSpPr>
        <p:spPr>
          <a:xfrm>
            <a:off x="466344" y="886968"/>
            <a:ext cx="8183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GNB Assist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is the bank's AI assistant: every chat and agent call goes through </a:t>
            </a:r>
            <a:r>
              <a:rPr lang="en-US" sz="1100" b="1" i="0">
                <a:solidFill>
                  <a:srgbClr val="4A8500"/>
                </a:solidFill>
                <a:latin typeface="Calibri"/>
              </a:rPr>
              <a:t>Kong AI Gateway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to GNB's AI factory, in DC1 and DC2.</a:t>
            </a:r>
            <a:endParaRPr lang="en-US" sz="800"/>
          </a:p>
        </p:txBody>
      </p:sp>
      <p:sp>
        <p:nvSpPr>
          <p:cNvPr id="950" name="Head WHO"/>
          <p:cNvSpPr txBox="1"/>
          <p:nvPr/>
        </p:nvSpPr>
        <p:spPr>
          <a:xfrm>
            <a:off x="548640" y="12435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WHO</a:t>
            </a:r>
            <a:endParaRPr lang="en-US" sz="800"/>
          </a:p>
        </p:txBody>
      </p:sp>
      <p:sp>
        <p:nvSpPr>
          <p:cNvPr id="951" name="Head ASSISTANT"/>
          <p:cNvSpPr txBox="1"/>
          <p:nvPr/>
        </p:nvSpPr>
        <p:spPr>
          <a:xfrm>
            <a:off x="2286000" y="12435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ASSISTANT</a:t>
            </a:r>
            <a:endParaRPr lang="en-US" sz="800"/>
          </a:p>
        </p:txBody>
      </p:sp>
      <p:sp>
        <p:nvSpPr>
          <p:cNvPr id="952" name="Head WHAT THEY TRY"/>
          <p:cNvSpPr txBox="1"/>
          <p:nvPr/>
        </p:nvSpPr>
        <p:spPr>
          <a:xfrm>
            <a:off x="3657600" y="12435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THEY TRY</a:t>
            </a:r>
            <a:endParaRPr lang="en-US" sz="800"/>
          </a:p>
        </p:txBody>
      </p:sp>
      <p:sp>
        <p:nvSpPr>
          <p:cNvPr id="953" name="Head WHAT KONG DOES"/>
          <p:cNvSpPr txBox="1"/>
          <p:nvPr/>
        </p:nvSpPr>
        <p:spPr>
          <a:xfrm>
            <a:off x="6510528" y="12435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KONG DOES</a:t>
            </a:r>
            <a:endParaRPr lang="en-US" sz="800"/>
          </a:p>
        </p:txBody>
      </p:sp>
      <p:sp>
        <p:nvSpPr>
          <p:cNvPr id="954" name="Head WHEN"/>
          <p:cNvSpPr txBox="1"/>
          <p:nvPr/>
        </p:nvSpPr>
        <p:spPr>
          <a:xfrm>
            <a:off x="7845552" y="12435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WHEN</a:t>
            </a:r>
            <a:endParaRPr lang="en-US" sz="800"/>
          </a:p>
        </p:txBody>
      </p:sp>
      <p:sp>
        <p:nvSpPr>
          <p:cNvPr id="955" name="Row 1"/>
          <p:cNvSpPr/>
          <p:nvPr/>
        </p:nvSpPr>
        <p:spPr>
          <a:xfrm>
            <a:off x="457200" y="14264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56" name="Row 1 avatar"/>
          <p:cNvSpPr/>
          <p:nvPr/>
        </p:nvSpPr>
        <p:spPr>
          <a:xfrm>
            <a:off x="548640" y="14813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A</a:t>
            </a:r>
            <a:endParaRPr lang="en-US" sz="800"/>
          </a:p>
        </p:txBody>
      </p:sp>
      <p:sp>
        <p:nvSpPr>
          <p:cNvPr id="957" name="Row 1 who"/>
          <p:cNvSpPr txBox="1"/>
          <p:nvPr/>
        </p:nvSpPr>
        <p:spPr>
          <a:xfrm>
            <a:off x="932688" y="14264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Aisha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Retail banker</a:t>
            </a:r>
            <a:endParaRPr lang="en-US" sz="800"/>
          </a:p>
        </p:txBody>
      </p:sp>
      <p:sp>
        <p:nvSpPr>
          <p:cNvPr id="958" name="Row 1 assistant"/>
          <p:cNvSpPr txBox="1"/>
          <p:nvPr/>
        </p:nvSpPr>
        <p:spPr>
          <a:xfrm>
            <a:off x="2286000" y="14264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Retail Assistant</a:t>
            </a:r>
            <a:endParaRPr lang="en-US" sz="800"/>
          </a:p>
        </p:txBody>
      </p:sp>
      <p:sp>
        <p:nvSpPr>
          <p:cNvPr id="959" name="Row 1 tries"/>
          <p:cNvSpPr txBox="1"/>
          <p:nvPr/>
        </p:nvSpPr>
        <p:spPr>
          <a:xfrm>
            <a:off x="3657600" y="14264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 KYC question with DC1 down; a complaint with an Emirates ID; stock tips; a loan approval; a prompt injection</a:t>
            </a:r>
            <a:endParaRPr lang="en-US" sz="800"/>
          </a:p>
        </p:txBody>
      </p:sp>
      <p:sp>
        <p:nvSpPr>
          <p:cNvPr id="960" name="Row 1 kong"/>
          <p:cNvSpPr txBox="1"/>
          <p:nvPr/>
        </p:nvSpPr>
        <p:spPr>
          <a:xfrm>
            <a:off x="6510528" y="14264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fails over, redacts, blocks, audits</a:t>
            </a:r>
            <a:endParaRPr lang="en-US" sz="800"/>
          </a:p>
        </p:txBody>
      </p:sp>
      <p:sp>
        <p:nvSpPr>
          <p:cNvPr id="961" name="Row 1 when"/>
          <p:cNvSpPr/>
          <p:nvPr/>
        </p:nvSpPr>
        <p:spPr>
          <a:xfrm>
            <a:off x="7845552" y="15270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ACT 1 · 2</a:t>
            </a:r>
            <a:endParaRPr lang="en-US" sz="800"/>
          </a:p>
        </p:txBody>
      </p:sp>
      <p:sp>
        <p:nvSpPr>
          <p:cNvPr id="962" name="Row 2"/>
          <p:cNvSpPr/>
          <p:nvPr/>
        </p:nvSpPr>
        <p:spPr>
          <a:xfrm>
            <a:off x="457200" y="18836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63" name="Row 2 avatar"/>
          <p:cNvSpPr/>
          <p:nvPr/>
        </p:nvSpPr>
        <p:spPr>
          <a:xfrm>
            <a:off x="548640" y="19385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A</a:t>
            </a:r>
            <a:endParaRPr lang="en-US" sz="800"/>
          </a:p>
        </p:txBody>
      </p:sp>
      <p:sp>
        <p:nvSpPr>
          <p:cNvPr id="964" name="Row 2 who"/>
          <p:cNvSpPr txBox="1"/>
          <p:nvPr/>
        </p:nvSpPr>
        <p:spPr>
          <a:xfrm>
            <a:off x="932688" y="18836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Aisha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Retail banker</a:t>
            </a:r>
            <a:endParaRPr lang="en-US" sz="800"/>
          </a:p>
        </p:txBody>
      </p:sp>
      <p:sp>
        <p:nvSpPr>
          <p:cNvPr id="965" name="Row 2 assistant"/>
          <p:cNvSpPr txBox="1"/>
          <p:nvPr/>
        </p:nvSpPr>
        <p:spPr>
          <a:xfrm>
            <a:off x="2286000" y="18836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Retail Copilot</a:t>
            </a:r>
            <a:endParaRPr lang="en-US" sz="800"/>
          </a:p>
        </p:txBody>
      </p:sp>
      <p:sp>
        <p:nvSpPr>
          <p:cNvPr id="966" name="Row 2 tries"/>
          <p:cNvSpPr txBox="1"/>
          <p:nvPr/>
        </p:nvSpPr>
        <p:spPr>
          <a:xfrm>
            <a:off x="3657600" y="18836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 routine question, the same one reworded, then more until the team budget runs out</a:t>
            </a:r>
            <a:endParaRPr lang="en-US" sz="800"/>
          </a:p>
        </p:txBody>
      </p:sp>
      <p:sp>
        <p:nvSpPr>
          <p:cNvPr id="967" name="Row 2 kong"/>
          <p:cNvSpPr txBox="1"/>
          <p:nvPr/>
        </p:nvSpPr>
        <p:spPr>
          <a:xfrm>
            <a:off x="6510528" y="18836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small model, cache hit at $0, budget 429</a:t>
            </a:r>
            <a:endParaRPr lang="en-US" sz="800"/>
          </a:p>
        </p:txBody>
      </p:sp>
      <p:sp>
        <p:nvSpPr>
          <p:cNvPr id="968" name="Row 2 when"/>
          <p:cNvSpPr/>
          <p:nvPr/>
        </p:nvSpPr>
        <p:spPr>
          <a:xfrm>
            <a:off x="7845552" y="19842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ACT 3</a:t>
            </a:r>
            <a:endParaRPr lang="en-US" sz="800"/>
          </a:p>
        </p:txBody>
      </p:sp>
      <p:sp>
        <p:nvSpPr>
          <p:cNvPr id="969" name="Row 3"/>
          <p:cNvSpPr/>
          <p:nvPr/>
        </p:nvSpPr>
        <p:spPr>
          <a:xfrm>
            <a:off x="457200" y="23408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70" name="Row 3 avatar"/>
          <p:cNvSpPr/>
          <p:nvPr/>
        </p:nvSpPr>
        <p:spPr>
          <a:xfrm>
            <a:off x="548640" y="23957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L</a:t>
            </a:r>
            <a:endParaRPr lang="en-US" sz="800"/>
          </a:p>
        </p:txBody>
      </p:sp>
      <p:sp>
        <p:nvSpPr>
          <p:cNvPr id="971" name="Row 3 who"/>
          <p:cNvSpPr txBox="1"/>
          <p:nvPr/>
        </p:nvSpPr>
        <p:spPr>
          <a:xfrm>
            <a:off x="932688" y="23408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Layla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AML analyst</a:t>
            </a:r>
            <a:endParaRPr lang="en-US" sz="800"/>
          </a:p>
        </p:txBody>
      </p:sp>
      <p:sp>
        <p:nvSpPr>
          <p:cNvPr id="972" name="Row 3 assistant"/>
          <p:cNvSpPr txBox="1"/>
          <p:nvPr/>
        </p:nvSpPr>
        <p:spPr>
          <a:xfrm>
            <a:off x="2286000" y="23408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AML Copilot</a:t>
            </a:r>
            <a:endParaRPr lang="en-US" sz="800"/>
          </a:p>
        </p:txBody>
      </p:sp>
      <p:sp>
        <p:nvSpPr>
          <p:cNvPr id="973" name="Row 3 tries"/>
          <p:cNvSpPr txBox="1"/>
          <p:nvPr/>
        </p:nvSpPr>
        <p:spPr>
          <a:xfrm>
            <a:off x="3657600" y="23408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An AML case: 14 cash deposits of AED 9,500 across 3 branches in 5 days</a:t>
            </a:r>
            <a:endParaRPr lang="en-US" sz="800"/>
          </a:p>
        </p:txBody>
      </p:sp>
      <p:sp>
        <p:nvSpPr>
          <p:cNvPr id="974" name="Row 3 kong"/>
          <p:cNvSpPr txBox="1"/>
          <p:nvPr/>
        </p:nvSpPr>
        <p:spPr>
          <a:xfrm>
            <a:off x="6510528" y="23408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routes it to the large model</a:t>
            </a:r>
            <a:endParaRPr lang="en-US" sz="800"/>
          </a:p>
        </p:txBody>
      </p:sp>
      <p:sp>
        <p:nvSpPr>
          <p:cNvPr id="975" name="Row 3 when"/>
          <p:cNvSpPr/>
          <p:nvPr/>
        </p:nvSpPr>
        <p:spPr>
          <a:xfrm>
            <a:off x="7845552" y="24414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ACT 3</a:t>
            </a:r>
            <a:endParaRPr lang="en-US" sz="800"/>
          </a:p>
        </p:txBody>
      </p:sp>
      <p:sp>
        <p:nvSpPr>
          <p:cNvPr id="976" name="Row 4"/>
          <p:cNvSpPr/>
          <p:nvPr/>
        </p:nvSpPr>
        <p:spPr>
          <a:xfrm>
            <a:off x="457200" y="27980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77" name="Row 4 avatar"/>
          <p:cNvSpPr/>
          <p:nvPr/>
        </p:nvSpPr>
        <p:spPr>
          <a:xfrm>
            <a:off x="548640" y="28529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N</a:t>
            </a:r>
            <a:endParaRPr lang="en-US" sz="800"/>
          </a:p>
        </p:txBody>
      </p:sp>
      <p:sp>
        <p:nvSpPr>
          <p:cNvPr id="978" name="Row 4 who"/>
          <p:cNvSpPr txBox="1"/>
          <p:nvPr/>
        </p:nvSpPr>
        <p:spPr>
          <a:xfrm>
            <a:off x="932688" y="27980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Noura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Card operations</a:t>
            </a:r>
            <a:endParaRPr lang="en-US" sz="800"/>
          </a:p>
        </p:txBody>
      </p:sp>
      <p:sp>
        <p:nvSpPr>
          <p:cNvPr id="979" name="Row 4 assistant"/>
          <p:cNvSpPr txBox="1"/>
          <p:nvPr/>
        </p:nvSpPr>
        <p:spPr>
          <a:xfrm>
            <a:off x="2286000" y="27980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Card-ops Agent</a:t>
            </a:r>
            <a:endParaRPr lang="en-US" sz="800"/>
          </a:p>
        </p:txBody>
      </p:sp>
      <p:sp>
        <p:nvSpPr>
          <p:cNvPr id="980" name="Row 4 tries"/>
          <p:cNvSpPr txBox="1"/>
          <p:nvPr/>
        </p:nvSpPr>
        <p:spPr>
          <a:xfrm>
            <a:off x="3657600" y="27980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Asks the agent to check a stolen card and the customer's KYC, then block it</a:t>
            </a:r>
            <a:endParaRPr lang="en-US" sz="800"/>
          </a:p>
        </p:txBody>
      </p:sp>
      <p:sp>
        <p:nvSpPr>
          <p:cNvPr id="981" name="Row 4 kong"/>
          <p:cNvSpPr txBox="1"/>
          <p:nvPr/>
        </p:nvSpPr>
        <p:spPr>
          <a:xfrm>
            <a:off x="6510528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block_card hidden: the agent escalates</a:t>
            </a:r>
            <a:endParaRPr lang="en-US" sz="800"/>
          </a:p>
        </p:txBody>
      </p:sp>
      <p:sp>
        <p:nvSpPr>
          <p:cNvPr id="982" name="Row 4 when"/>
          <p:cNvSpPr/>
          <p:nvPr/>
        </p:nvSpPr>
        <p:spPr>
          <a:xfrm>
            <a:off x="7845552" y="28986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ACT 4</a:t>
            </a:r>
            <a:endParaRPr lang="en-US" sz="800"/>
          </a:p>
        </p:txBody>
      </p:sp>
      <p:sp>
        <p:nvSpPr>
          <p:cNvPr id="983" name="Row 5"/>
          <p:cNvSpPr/>
          <p:nvPr/>
        </p:nvSpPr>
        <p:spPr>
          <a:xfrm>
            <a:off x="457200" y="32552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84" name="Row 5 avatar"/>
          <p:cNvSpPr/>
          <p:nvPr/>
        </p:nvSpPr>
        <p:spPr>
          <a:xfrm>
            <a:off x="548640" y="33101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K</a:t>
            </a:r>
            <a:endParaRPr lang="en-US" sz="800"/>
          </a:p>
        </p:txBody>
      </p:sp>
      <p:sp>
        <p:nvSpPr>
          <p:cNvPr id="985" name="Row 5 who"/>
          <p:cNvSpPr txBox="1"/>
          <p:nvPr/>
        </p:nvSpPr>
        <p:spPr>
          <a:xfrm>
            <a:off x="932688" y="32552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Khalid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Card-ops supervisor</a:t>
            </a:r>
            <a:endParaRPr lang="en-US" sz="800"/>
          </a:p>
        </p:txBody>
      </p:sp>
      <p:sp>
        <p:nvSpPr>
          <p:cNvPr id="986" name="Row 5 assistant"/>
          <p:cNvSpPr txBox="1"/>
          <p:nvPr/>
        </p:nvSpPr>
        <p:spPr>
          <a:xfrm>
            <a:off x="2286000" y="32552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Card-ops Agent · Supervisor</a:t>
            </a:r>
            <a:endParaRPr lang="en-US" sz="800"/>
          </a:p>
        </p:txBody>
      </p:sp>
      <p:sp>
        <p:nvSpPr>
          <p:cNvPr id="987" name="Row 5 tries"/>
          <p:cNvSpPr txBox="1"/>
          <p:nvPr/>
        </p:nvSpPr>
        <p:spPr>
          <a:xfrm>
            <a:off x="3657600" y="32552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Confirms the theft and asks the same agent to block it, under his own identity</a:t>
            </a:r>
            <a:endParaRPr lang="en-US" sz="800"/>
          </a:p>
        </p:txBody>
      </p:sp>
      <p:sp>
        <p:nvSpPr>
          <p:cNvPr id="988" name="Row 5 kong"/>
          <p:cNvSpPr txBox="1"/>
          <p:nvPr/>
        </p:nvSpPr>
        <p:spPr>
          <a:xfrm>
            <a:off x="6510528" y="32552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his identity may block: card blocked</a:t>
            </a:r>
            <a:endParaRPr lang="en-US" sz="800"/>
          </a:p>
        </p:txBody>
      </p:sp>
      <p:sp>
        <p:nvSpPr>
          <p:cNvPr id="989" name="Row 5 when"/>
          <p:cNvSpPr/>
          <p:nvPr/>
        </p:nvSpPr>
        <p:spPr>
          <a:xfrm>
            <a:off x="7845552" y="33558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ACT 4</a:t>
            </a:r>
            <a:endParaRPr lang="en-US" sz="800"/>
          </a:p>
        </p:txBody>
      </p:sp>
      <p:sp>
        <p:nvSpPr>
          <p:cNvPr id="990" name="Row 6"/>
          <p:cNvSpPr/>
          <p:nvPr/>
        </p:nvSpPr>
        <p:spPr>
          <a:xfrm>
            <a:off x="457200" y="371246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991" name="Row 6 avatar"/>
          <p:cNvSpPr/>
          <p:nvPr/>
        </p:nvSpPr>
        <p:spPr>
          <a:xfrm>
            <a:off x="548640" y="3767328"/>
            <a:ext cx="292608" cy="292608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i="0">
                <a:solidFill>
                  <a:srgbClr val="CCFF00"/>
                </a:solidFill>
                <a:latin typeface="Calibri"/>
              </a:rPr>
              <a:t>O</a:t>
            </a:r>
            <a:endParaRPr lang="en-US" sz="800"/>
          </a:p>
        </p:txBody>
      </p:sp>
      <p:sp>
        <p:nvSpPr>
          <p:cNvPr id="992" name="Row 6 who"/>
          <p:cNvSpPr txBox="1"/>
          <p:nvPr/>
        </p:nvSpPr>
        <p:spPr>
          <a:xfrm>
            <a:off x="932688" y="3712464"/>
            <a:ext cx="12984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000" b="1" i="0">
                <a:solidFill>
                  <a:srgbClr val="001408"/>
                </a:solidFill>
                <a:latin typeface="Calibri"/>
              </a:rPr>
              <a:t>Omar</a:t>
            </a:r>
            <a:endParaRPr lang="en-US" sz="800"/>
          </a:p>
          <a:p>
            <a:pPr algn="l">
              <a:buNone/>
            </a:pPr>
            <a:r>
              <a:rPr lang="en-US" sz="850" b="0" i="0">
                <a:solidFill>
                  <a:srgbClr val="6B7069"/>
                </a:solidFill>
                <a:latin typeface="Calibri"/>
              </a:rPr>
              <a:t>Complaints team</a:t>
            </a:r>
            <a:endParaRPr lang="en-US" sz="800"/>
          </a:p>
        </p:txBody>
      </p:sp>
      <p:sp>
        <p:nvSpPr>
          <p:cNvPr id="993" name="Row 6 assistant"/>
          <p:cNvSpPr txBox="1"/>
          <p:nvPr/>
        </p:nvSpPr>
        <p:spPr>
          <a:xfrm>
            <a:off x="2286000" y="3712464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001408"/>
                </a:solidFill>
                <a:latin typeface="Calibri"/>
              </a:rPr>
              <a:t>Complaints Copilot</a:t>
            </a:r>
            <a:endParaRPr lang="en-US" sz="800"/>
          </a:p>
        </p:txBody>
      </p:sp>
      <p:sp>
        <p:nvSpPr>
          <p:cNvPr id="994" name="Row 6 tries"/>
          <p:cNvSpPr txBox="1"/>
          <p:nvPr/>
        </p:nvSpPr>
        <p:spPr>
          <a:xfrm>
            <a:off x="3657600" y="37124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0" i="0">
                <a:solidFill>
                  <a:srgbClr val="001408"/>
                </a:solidFill>
                <a:latin typeface="Calibri"/>
              </a:rPr>
              <a:t>A customer complaint, before and after his team is onboarded</a:t>
            </a:r>
            <a:endParaRPr lang="en-US" sz="800"/>
          </a:p>
        </p:txBody>
      </p:sp>
      <p:sp>
        <p:nvSpPr>
          <p:cNvPr id="995" name="Row 6 kong"/>
          <p:cNvSpPr txBox="1"/>
          <p:nvPr/>
        </p:nvSpPr>
        <p:spPr>
          <a:xfrm>
            <a:off x="6510528" y="37124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900" b="1" i="0">
                <a:solidFill>
                  <a:srgbClr val="4A8500"/>
                </a:solidFill>
                <a:latin typeface="Calibri"/>
              </a:rPr>
              <a:t>not enabled, then live in one apply</a:t>
            </a:r>
            <a:endParaRPr lang="en-US" sz="800"/>
          </a:p>
        </p:txBody>
      </p:sp>
      <p:sp>
        <p:nvSpPr>
          <p:cNvPr id="996" name="Row 6 when"/>
          <p:cNvSpPr/>
          <p:nvPr/>
        </p:nvSpPr>
        <p:spPr>
          <a:xfrm>
            <a:off x="7845552" y="3813048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750" b="1" i="0">
                <a:solidFill>
                  <a:srgbClr val="001408"/>
                </a:solidFill>
                <a:latin typeface="Calibri"/>
              </a:rPr>
              <a:t>► USE CASE 13</a:t>
            </a:r>
            <a:endParaRPr lang="en-US" sz="800"/>
          </a:p>
        </p:txBody>
      </p:sp>
      <p:sp>
        <p:nvSpPr>
          <p:cNvPr id="997" name="Finale band"/>
          <p:cNvSpPr/>
          <p:nvPr/>
        </p:nvSpPr>
        <p:spPr>
          <a:xfrm>
            <a:off x="457200" y="4224528"/>
            <a:ext cx="8229600" cy="384048"/>
          </a:xfrm>
          <a:prstGeom prst="roundRect">
            <a:avLst>
              <a:gd name="adj" fmla="val 10000"/>
            </a:avLst>
          </a:prstGeom>
          <a:solidFill>
            <a:srgbClr val="001408"/>
          </a:solidFill>
          <a:ln>
            <a:noFill/>
          </a:ln>
        </p:spPr>
        <p:txBody>
          <a:bodyPr wrap="square" lIns="164592" tIns="0" rIns="164592" bIns="0" anchor="ctr">
            <a:noAutofit/>
          </a:bodyPr>
          <a:lstStyle/>
          <a:p>
            <a:pPr algn="l">
              <a:buNone/>
            </a:pPr>
            <a:r>
              <a:rPr lang="en-US" sz="950" b="1" i="0">
                <a:solidFill>
                  <a:srgbClr val="CCFF00"/>
                </a:solidFill>
                <a:latin typeface="Calibri"/>
              </a:rPr>
              <a:t>FINALE · KONNECT UNPLUGGED   </a:t>
            </a:r>
            <a:r>
              <a:rPr lang="en-US" sz="1000" b="1" i="0">
                <a:solidFill>
                  <a:srgbClr val="FFFFFF"/>
                </a:solidFill>
                <a:latin typeface="Calibri"/>
              </a:rPr>
              <a:t>Aisha's complaint is still redacted and Noura's agent still can't block: the controls run in GNB's data centre.</a:t>
            </a:r>
            <a:endParaRPr lang="en-US" sz="80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ACT 1 · CONNECT  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One endpoint that survives a site loss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999" name="Scenario"/>
          <p:cNvSpPr txBox="1"/>
          <p:nvPr/>
        </p:nvSpPr>
        <p:spPr>
          <a:xfrm>
            <a:off x="466344" y="886968"/>
            <a:ext cx="8183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Aisha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uses the Retail Assistant: one Kong endpoint over two sites, </a:t>
            </a:r>
            <a:r>
              <a:rPr lang="en-US" sz="1100" b="1" i="0">
                <a:solidFill>
                  <a:srgbClr val="001408"/>
                </a:solidFill>
                <a:latin typeface="Calibri"/>
              </a:rPr>
              <a:t>DC1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primary (7B) and </a:t>
            </a:r>
            <a:r>
              <a:rPr lang="en-US" sz="1100" b="1" i="0">
                <a:solidFill>
                  <a:srgbClr val="001408"/>
                </a:solidFill>
                <a:latin typeface="Calibri"/>
              </a:rPr>
              <a:t>DC2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disaster recovery (1.5B).</a:t>
            </a:r>
            <a:endParaRPr lang="en-US" sz="800"/>
          </a:p>
        </p:txBody>
      </p:sp>
      <p:sp>
        <p:nvSpPr>
          <p:cNvPr id="1000" name="Head do"/>
          <p:cNvSpPr txBox="1"/>
          <p:nvPr/>
        </p:nvSpPr>
        <p:spPr>
          <a:xfrm>
            <a:off x="896112" y="1225296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WE DO</a:t>
            </a:r>
            <a:endParaRPr lang="en-US" sz="800"/>
          </a:p>
        </p:txBody>
      </p:sp>
      <p:sp>
        <p:nvSpPr>
          <p:cNvPr id="1001" name="Head see"/>
          <p:cNvSpPr txBox="1"/>
          <p:nvPr/>
        </p:nvSpPr>
        <p:spPr>
          <a:xfrm>
            <a:off x="3840480" y="122529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YOU SEE</a:t>
            </a:r>
            <a:endParaRPr lang="en-US" sz="800"/>
          </a:p>
        </p:txBody>
      </p:sp>
      <p:sp>
        <p:nvSpPr>
          <p:cNvPr id="1027" name="Kong panel"/>
          <p:cNvSpPr/>
          <p:nvPr/>
        </p:nvSpPr>
        <p:spPr>
          <a:xfrm>
            <a:off x="6144768" y="1225296"/>
            <a:ext cx="2542032" cy="2688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1028" name="Kong panel label"/>
          <p:cNvSpPr txBox="1"/>
          <p:nvPr/>
        </p:nvSpPr>
        <p:spPr>
          <a:xfrm>
            <a:off x="6272784" y="131673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KONG CONSTRUCTS</a:t>
            </a:r>
            <a:endParaRPr lang="en-US" sz="800"/>
          </a:p>
        </p:txBody>
      </p:sp>
      <p:sp>
        <p:nvSpPr>
          <p:cNvPr id="1029" name="Construct 1"/>
          <p:cNvSpPr/>
          <p:nvPr/>
        </p:nvSpPr>
        <p:spPr>
          <a:xfrm>
            <a:off x="6272784" y="1517904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Model: one OpenAI-compatible endpoint</a:t>
            </a:r>
            <a:endParaRPr lang="en-US" sz="800"/>
          </a:p>
        </p:txBody>
      </p:sp>
      <p:sp>
        <p:nvSpPr>
          <p:cNvPr id="1030" name="Construct 2"/>
          <p:cNvSpPr/>
          <p:nvPr/>
        </p:nvSpPr>
        <p:spPr>
          <a:xfrm>
            <a:off x="6272784" y="1810512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priority and round-robin balancing</a:t>
            </a:r>
            <a:endParaRPr lang="en-US" sz="800"/>
          </a:p>
        </p:txBody>
      </p:sp>
      <p:sp>
        <p:nvSpPr>
          <p:cNvPr id="1031" name="Construct 3"/>
          <p:cNvSpPr/>
          <p:nvPr/>
        </p:nvSpPr>
        <p:spPr>
          <a:xfrm>
            <a:off x="6272784" y="2103120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retries and circuit breaker</a:t>
            </a:r>
            <a:endParaRPr lang="en-US" sz="800"/>
          </a:p>
        </p:txBody>
      </p:sp>
      <p:sp>
        <p:nvSpPr>
          <p:cNvPr id="1032" name="Construct 4"/>
          <p:cNvSpPr/>
          <p:nvPr/>
        </p:nvSpPr>
        <p:spPr>
          <a:xfrm>
            <a:off x="6272784" y="239572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stateless data planes, config as code</a:t>
            </a:r>
            <a:endParaRPr lang="en-US" sz="800"/>
          </a:p>
        </p:txBody>
      </p:sp>
      <p:sp>
        <p:nvSpPr>
          <p:cNvPr id="1033" name="Look label"/>
          <p:cNvSpPr txBox="1"/>
          <p:nvPr/>
        </p:nvSpPr>
        <p:spPr>
          <a:xfrm>
            <a:off x="6272784" y="2761488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WHERE TO LOOK</a:t>
            </a:r>
            <a:endParaRPr lang="en-US" sz="800"/>
          </a:p>
        </p:txBody>
      </p:sp>
      <p:sp>
        <p:nvSpPr>
          <p:cNvPr id="1034" name="Look 1"/>
          <p:cNvSpPr txBox="1"/>
          <p:nvPr/>
        </p:nvSpPr>
        <p:spPr>
          <a:xfrm>
            <a:off x="6272784" y="29626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DC1 and DC2 panes: which site answered</a:t>
            </a:r>
            <a:endParaRPr lang="en-US" sz="800"/>
          </a:p>
        </p:txBody>
      </p:sp>
      <p:sp>
        <p:nvSpPr>
          <p:cNvPr id="1035" name="Look 2"/>
          <p:cNvSpPr txBox="1"/>
          <p:nvPr/>
        </p:nvSpPr>
        <p:spPr>
          <a:xfrm>
            <a:off x="6272784" y="32369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Konnect: the model's targets</a:t>
            </a:r>
            <a:endParaRPr lang="en-US" sz="800"/>
          </a:p>
        </p:txBody>
      </p:sp>
      <p:grpSp>
        <p:nvGrpSpPr>
          <p:cNvPr id="1006" name="Step 1"/>
          <p:cNvGrpSpPr/>
          <p:nvPr/>
        </p:nvGrpSpPr>
        <p:grpSpPr>
          <a:xfrm>
            <a:off x="457200" y="1408176"/>
            <a:ext cx="5577840" cy="457200"/>
            <a:chOff x="457200" y="1408176"/>
            <a:chExt cx="5577840" cy="457200"/>
          </a:xfrm>
        </p:grpSpPr>
        <p:sp>
          <p:nvSpPr>
            <p:cNvPr id="1002" name="Step 1 row"/>
            <p:cNvSpPr/>
            <p:nvPr/>
          </p:nvSpPr>
          <p:spPr>
            <a:xfrm>
              <a:off x="457200" y="1408176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3" name="Step 1 number"/>
            <p:cNvSpPr/>
            <p:nvPr/>
          </p:nvSpPr>
          <p:spPr>
            <a:xfrm>
              <a:off x="548640" y="14996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1</a:t>
              </a:r>
              <a:endParaRPr lang="en-US" sz="800"/>
            </a:p>
          </p:txBody>
        </p:sp>
        <p:sp>
          <p:nvSpPr>
            <p:cNvPr id="1004" name="Step 1 do"/>
            <p:cNvSpPr txBox="1"/>
            <p:nvPr/>
          </p:nvSpPr>
          <p:spPr>
            <a:xfrm>
              <a:off x="896112" y="1408176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Aisha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asks: </a:t>
              </a:r>
              <a:r>
                <a:rPr lang="en-US" sz="900" b="0" i="1">
                  <a:solidFill>
                    <a:srgbClr val="001408"/>
                  </a:solidFill>
                  <a:latin typeface="Calibri"/>
                </a:rPr>
                <a:t>"What does a bank KYC check verify?"</a:t>
              </a:r>
              <a:endParaRPr lang="en-US" sz="800"/>
            </a:p>
          </p:txBody>
        </p:sp>
        <p:sp>
          <p:nvSpPr>
            <p:cNvPr id="1005" name="Step 1 see"/>
            <p:cNvSpPr txBox="1"/>
            <p:nvPr/>
          </p:nvSpPr>
          <p:spPr>
            <a:xfrm>
              <a:off x="3840480" y="1408176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DC1 answers; the status line shows DC1 · 7B.</a:t>
              </a:r>
              <a:endParaRPr lang="en-US" sz="800"/>
            </a:p>
          </p:txBody>
        </p:sp>
      </p:grpSp>
      <p:grpSp>
        <p:nvGrpSpPr>
          <p:cNvPr id="1011" name="Step 2"/>
          <p:cNvGrpSpPr/>
          <p:nvPr/>
        </p:nvGrpSpPr>
        <p:grpSpPr>
          <a:xfrm>
            <a:off x="457200" y="1920240"/>
            <a:ext cx="5577840" cy="457200"/>
            <a:chOff x="457200" y="1920240"/>
            <a:chExt cx="5577840" cy="457200"/>
          </a:xfrm>
        </p:grpSpPr>
        <p:sp>
          <p:nvSpPr>
            <p:cNvPr id="1007" name="Step 2 row"/>
            <p:cNvSpPr/>
            <p:nvPr/>
          </p:nvSpPr>
          <p:spPr>
            <a:xfrm>
              <a:off x="457200" y="1920240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8" name="Step 2 number"/>
            <p:cNvSpPr/>
            <p:nvPr/>
          </p:nvSpPr>
          <p:spPr>
            <a:xfrm>
              <a:off x="548640" y="2011680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2</a:t>
              </a:r>
              <a:endParaRPr lang="en-US" sz="800"/>
            </a:p>
          </p:txBody>
        </p:sp>
        <p:sp>
          <p:nvSpPr>
            <p:cNvPr id="1009" name="Step 2 do"/>
            <p:cNvSpPr txBox="1"/>
            <p:nvPr/>
          </p:nvSpPr>
          <p:spPr>
            <a:xfrm>
              <a:off x="896112" y="1920240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take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DC1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down, and Aisha asks again</a:t>
              </a:r>
              <a:endParaRPr lang="en-US" sz="800"/>
            </a:p>
          </p:txBody>
        </p:sp>
        <p:sp>
          <p:nvSpPr>
            <p:cNvPr id="1010" name="Step 2 see"/>
            <p:cNvSpPr txBox="1"/>
            <p:nvPr/>
          </p:nvSpPr>
          <p:spPr>
            <a:xfrm>
              <a:off x="3840480" y="1920240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DC2 answers in the same request: no error, no app change.</a:t>
              </a:r>
              <a:endParaRPr lang="en-US" sz="800"/>
            </a:p>
          </p:txBody>
        </p:sp>
      </p:grpSp>
      <p:grpSp>
        <p:nvGrpSpPr>
          <p:cNvPr id="1016" name="Step 3"/>
          <p:cNvGrpSpPr/>
          <p:nvPr/>
        </p:nvGrpSpPr>
        <p:grpSpPr>
          <a:xfrm>
            <a:off x="457200" y="2432304"/>
            <a:ext cx="5577840" cy="457200"/>
            <a:chOff x="457200" y="2432304"/>
            <a:chExt cx="5577840" cy="457200"/>
          </a:xfrm>
        </p:grpSpPr>
        <p:sp>
          <p:nvSpPr>
            <p:cNvPr id="1012" name="Step 3 row"/>
            <p:cNvSpPr/>
            <p:nvPr/>
          </p:nvSpPr>
          <p:spPr>
            <a:xfrm>
              <a:off x="457200" y="2432304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3" name="Step 3 number"/>
            <p:cNvSpPr/>
            <p:nvPr/>
          </p:nvSpPr>
          <p:spPr>
            <a:xfrm>
              <a:off x="548640" y="2523744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3</a:t>
              </a:r>
              <a:endParaRPr lang="en-US" sz="800"/>
            </a:p>
          </p:txBody>
        </p:sp>
        <p:sp>
          <p:nvSpPr>
            <p:cNvPr id="1014" name="Step 3 do"/>
            <p:cNvSpPr txBox="1"/>
            <p:nvPr/>
          </p:nvSpPr>
          <p:spPr>
            <a:xfrm>
              <a:off x="896112" y="2432304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DC1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comes back</a:t>
              </a:r>
              <a:endParaRPr lang="en-US" sz="800"/>
            </a:p>
          </p:txBody>
        </p:sp>
        <p:sp>
          <p:nvSpPr>
            <p:cNvPr id="1015" name="Step 3 see"/>
            <p:cNvSpPr txBox="1"/>
            <p:nvPr/>
          </p:nvSpPr>
          <p:spPr>
            <a:xfrm>
              <a:off x="3840480" y="2432304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Traffic returns to DC1 within about 10 s (circuit breaker).</a:t>
              </a:r>
              <a:endParaRPr lang="en-US" sz="800"/>
            </a:p>
          </p:txBody>
        </p:sp>
      </p:grpSp>
      <p:grpSp>
        <p:nvGrpSpPr>
          <p:cNvPr id="1021" name="Step 4"/>
          <p:cNvGrpSpPr/>
          <p:nvPr/>
        </p:nvGrpSpPr>
        <p:grpSpPr>
          <a:xfrm>
            <a:off x="457200" y="2944368"/>
            <a:ext cx="5577840" cy="457200"/>
            <a:chOff x="457200" y="2944368"/>
            <a:chExt cx="5577840" cy="457200"/>
          </a:xfrm>
        </p:grpSpPr>
        <p:sp>
          <p:nvSpPr>
            <p:cNvPr id="1017" name="Step 4 row"/>
            <p:cNvSpPr/>
            <p:nvPr/>
          </p:nvSpPr>
          <p:spPr>
            <a:xfrm>
              <a:off x="457200" y="2944368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8" name="Step 4 number"/>
            <p:cNvSpPr/>
            <p:nvPr/>
          </p:nvSpPr>
          <p:spPr>
            <a:xfrm>
              <a:off x="548640" y="3035808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4</a:t>
              </a:r>
              <a:endParaRPr lang="en-US" sz="800"/>
            </a:p>
          </p:txBody>
        </p:sp>
        <p:sp>
          <p:nvSpPr>
            <p:cNvPr id="1019" name="Step 4 do"/>
            <p:cNvSpPr txBox="1"/>
            <p:nvPr/>
          </p:nvSpPr>
          <p:spPr>
            <a:xfrm>
              <a:off x="896112" y="2944368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Switch to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active-active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; four quick questions</a:t>
              </a:r>
              <a:endParaRPr lang="en-US" sz="800"/>
            </a:p>
          </p:txBody>
        </p:sp>
        <p:sp>
          <p:nvSpPr>
            <p:cNvPr id="1020" name="Step 4 see"/>
            <p:cNvSpPr txBox="1"/>
            <p:nvPr/>
          </p:nvSpPr>
          <p:spPr>
            <a:xfrm>
              <a:off x="3840480" y="2944368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Answers come from both DC1 and DC2: see the panes.</a:t>
              </a:r>
              <a:endParaRPr lang="en-US" sz="800"/>
            </a:p>
          </p:txBody>
        </p:sp>
      </p:grpSp>
      <p:grpSp>
        <p:nvGrpSpPr>
          <p:cNvPr id="1026" name="Step 5"/>
          <p:cNvGrpSpPr/>
          <p:nvPr/>
        </p:nvGrpSpPr>
        <p:grpSpPr>
          <a:xfrm>
            <a:off x="457200" y="3456432"/>
            <a:ext cx="5577840" cy="457200"/>
            <a:chOff x="457200" y="3456432"/>
            <a:chExt cx="5577840" cy="457200"/>
          </a:xfrm>
        </p:grpSpPr>
        <p:sp>
          <p:nvSpPr>
            <p:cNvPr id="1022" name="Step 5 row"/>
            <p:cNvSpPr/>
            <p:nvPr/>
          </p:nvSpPr>
          <p:spPr>
            <a:xfrm>
              <a:off x="457200" y="3456432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23" name="Step 5 number"/>
            <p:cNvSpPr/>
            <p:nvPr/>
          </p:nvSpPr>
          <p:spPr>
            <a:xfrm>
              <a:off x="548640" y="354787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5</a:t>
              </a:r>
              <a:endParaRPr lang="en-US" sz="800"/>
            </a:p>
          </p:txBody>
        </p:sp>
        <p:sp>
          <p:nvSpPr>
            <p:cNvPr id="1024" name="Step 5 do"/>
            <p:cNvSpPr txBox="1"/>
            <p:nvPr/>
          </p:nvSpPr>
          <p:spPr>
            <a:xfrm>
              <a:off x="896112" y="3456432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Back to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DC1 first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before Act 2</a:t>
              </a:r>
              <a:endParaRPr lang="en-US" sz="800"/>
            </a:p>
          </p:txBody>
        </p:sp>
        <p:sp>
          <p:nvSpPr>
            <p:cNvPr id="1025" name="Step 5 see"/>
            <p:cNvSpPr txBox="1"/>
            <p:nvPr/>
          </p:nvSpPr>
          <p:spPr>
            <a:xfrm>
              <a:off x="3840480" y="3456432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Same endpoint throughout: only the config changed.</a:t>
              </a:r>
              <a:endParaRPr lang="en-US" sz="800"/>
            </a:p>
          </p:txBody>
        </p:sp>
      </p:grpSp>
      <p:grpSp>
        <p:nvGrpSpPr>
          <p:cNvPr id="1037" name="Proves"/>
          <p:cNvGrpSpPr/>
          <p:nvPr/>
        </p:nvGrpSpPr>
        <p:grpSpPr>
          <a:xfrm>
            <a:off x="457200" y="4041648"/>
            <a:ext cx="8229600" cy="548640"/>
            <a:chOff x="457200" y="4041648"/>
            <a:chExt cx="8229600" cy="548640"/>
          </a:xfrm>
        </p:grpSpPr>
        <p:sp>
          <p:nvSpPr>
            <p:cNvPr id="1036" name="Proves band"/>
            <p:cNvSpPr/>
            <p:nvPr/>
          </p:nvSpPr>
          <p:spPr>
            <a:xfrm>
              <a:off x="457200" y="4041648"/>
              <a:ext cx="8229600" cy="548640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182880" tIns="0" rIns="18288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CCFF00"/>
                  </a:solidFill>
                  <a:latin typeface="Calibri"/>
                </a:rPr>
                <a:t>WHAT IT PROVES  ·  FOR THE ARCHITECT AND THE PLATFORM OWNER</a:t>
              </a:r>
              <a:endParaRPr lang="en-US" sz="800"/>
            </a:p>
            <a:p>
              <a:pPr algn="l">
                <a:buNone/>
              </a:pPr>
              <a:r>
                <a:rPr lang="en-US" sz="1200" b="1" i="0">
                  <a:solidFill>
                    <a:srgbClr val="FFFFFF"/>
                  </a:solidFill>
                  <a:latin typeface="Calibri"/>
                </a:rPr>
                <a:t>One governed endpoint for every model, and no single point of failure.</a:t>
              </a:r>
              <a:endParaRPr lang="en-US" sz="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ACT 2 · THE PRODUCTION GATE  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One reviewed bundle, applied live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999" name="Scenario"/>
          <p:cNvSpPr txBox="1"/>
          <p:nvPr/>
        </p:nvSpPr>
        <p:spPr>
          <a:xfrm>
            <a:off x="466344" y="886968"/>
            <a:ext cx="8183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Aisha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's retail pilot as it runs today, with no guardrails; then security's reviewed policy bundle, attached in one apply.</a:t>
            </a:r>
            <a:endParaRPr lang="en-US" sz="800"/>
          </a:p>
        </p:txBody>
      </p:sp>
      <p:sp>
        <p:nvSpPr>
          <p:cNvPr id="1000" name="Head do"/>
          <p:cNvSpPr txBox="1"/>
          <p:nvPr/>
        </p:nvSpPr>
        <p:spPr>
          <a:xfrm>
            <a:off x="896112" y="1225296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WE DO</a:t>
            </a:r>
            <a:endParaRPr lang="en-US" sz="800"/>
          </a:p>
        </p:txBody>
      </p:sp>
      <p:sp>
        <p:nvSpPr>
          <p:cNvPr id="1001" name="Head see"/>
          <p:cNvSpPr txBox="1"/>
          <p:nvPr/>
        </p:nvSpPr>
        <p:spPr>
          <a:xfrm>
            <a:off x="3840480" y="122529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YOU SEE</a:t>
            </a:r>
            <a:endParaRPr lang="en-US" sz="800"/>
          </a:p>
        </p:txBody>
      </p:sp>
      <p:sp>
        <p:nvSpPr>
          <p:cNvPr id="1027" name="Kong panel"/>
          <p:cNvSpPr/>
          <p:nvPr/>
        </p:nvSpPr>
        <p:spPr>
          <a:xfrm>
            <a:off x="6144768" y="1225296"/>
            <a:ext cx="2542032" cy="2688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1028" name="Kong panel label"/>
          <p:cNvSpPr txBox="1"/>
          <p:nvPr/>
        </p:nvSpPr>
        <p:spPr>
          <a:xfrm>
            <a:off x="6272784" y="131673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KONG CONSTRUCTS</a:t>
            </a:r>
            <a:endParaRPr lang="en-US" sz="800"/>
          </a:p>
        </p:txBody>
      </p:sp>
      <p:sp>
        <p:nvSpPr>
          <p:cNvPr id="1029" name="Construct 1"/>
          <p:cNvSpPr/>
          <p:nvPr/>
        </p:nvSpPr>
        <p:spPr>
          <a:xfrm>
            <a:off x="6272784" y="1517904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PII Sanitizer, on-prem</a:t>
            </a:r>
            <a:endParaRPr lang="en-US" sz="800"/>
          </a:p>
        </p:txBody>
      </p:sp>
      <p:sp>
        <p:nvSpPr>
          <p:cNvPr id="1030" name="Construct 2"/>
          <p:cNvSpPr/>
          <p:nvPr/>
        </p:nvSpPr>
        <p:spPr>
          <a:xfrm>
            <a:off x="6272784" y="1810512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Semantic Prompt Guard</a:t>
            </a:r>
            <a:endParaRPr lang="en-US" sz="800"/>
          </a:p>
        </p:txBody>
      </p:sp>
      <p:sp>
        <p:nvSpPr>
          <p:cNvPr id="1031" name="Construct 3"/>
          <p:cNvSpPr/>
          <p:nvPr/>
        </p:nvSpPr>
        <p:spPr>
          <a:xfrm>
            <a:off x="6272784" y="2103120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Semantic Response Guard</a:t>
            </a:r>
            <a:endParaRPr lang="en-US" sz="800"/>
          </a:p>
        </p:txBody>
      </p:sp>
      <p:sp>
        <p:nvSpPr>
          <p:cNvPr id="1032" name="Construct 4"/>
          <p:cNvSpPr/>
          <p:nvPr/>
        </p:nvSpPr>
        <p:spPr>
          <a:xfrm>
            <a:off x="6272784" y="239572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Prompt Guard: injection</a:t>
            </a:r>
            <a:endParaRPr lang="en-US" sz="800"/>
          </a:p>
        </p:txBody>
      </p:sp>
      <p:sp>
        <p:nvSpPr>
          <p:cNvPr id="1033" name="Construct 5"/>
          <p:cNvSpPr/>
          <p:nvPr/>
        </p:nvSpPr>
        <p:spPr>
          <a:xfrm>
            <a:off x="6272784" y="2688336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audit log, one line per call</a:t>
            </a:r>
            <a:endParaRPr lang="en-US" sz="800"/>
          </a:p>
        </p:txBody>
      </p:sp>
      <p:sp>
        <p:nvSpPr>
          <p:cNvPr id="1034" name="Look label"/>
          <p:cNvSpPr txBox="1"/>
          <p:nvPr/>
        </p:nvSpPr>
        <p:spPr>
          <a:xfrm>
            <a:off x="6272784" y="305409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WHERE TO LOOK</a:t>
            </a:r>
            <a:endParaRPr lang="en-US" sz="800"/>
          </a:p>
        </p:txBody>
      </p:sp>
      <p:sp>
        <p:nvSpPr>
          <p:cNvPr id="1035" name="Look 1"/>
          <p:cNvSpPr txBox="1"/>
          <p:nvPr/>
        </p:nvSpPr>
        <p:spPr>
          <a:xfrm>
            <a:off x="6272784" y="32552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DC1 pane: what the model received</a:t>
            </a:r>
            <a:endParaRPr lang="en-US" sz="800"/>
          </a:p>
        </p:txBody>
      </p:sp>
      <p:sp>
        <p:nvSpPr>
          <p:cNvPr id="1036" name="Look 2"/>
          <p:cNvSpPr txBox="1"/>
          <p:nvPr/>
        </p:nvSpPr>
        <p:spPr>
          <a:xfrm>
            <a:off x="6272784" y="352958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Konnect: policies and Requests</a:t>
            </a:r>
            <a:endParaRPr lang="en-US" sz="800"/>
          </a:p>
        </p:txBody>
      </p:sp>
      <p:grpSp>
        <p:nvGrpSpPr>
          <p:cNvPr id="1006" name="Step 1"/>
          <p:cNvGrpSpPr/>
          <p:nvPr/>
        </p:nvGrpSpPr>
        <p:grpSpPr>
          <a:xfrm>
            <a:off x="457200" y="1408176"/>
            <a:ext cx="5577840" cy="457200"/>
            <a:chOff x="457200" y="1408176"/>
            <a:chExt cx="5577840" cy="457200"/>
          </a:xfrm>
        </p:grpSpPr>
        <p:sp>
          <p:nvSpPr>
            <p:cNvPr id="1002" name="Step 1 row"/>
            <p:cNvSpPr/>
            <p:nvPr/>
          </p:nvSpPr>
          <p:spPr>
            <a:xfrm>
              <a:off x="457200" y="1408176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3" name="Step 1 number"/>
            <p:cNvSpPr/>
            <p:nvPr/>
          </p:nvSpPr>
          <p:spPr>
            <a:xfrm>
              <a:off x="548640" y="1499616"/>
              <a:ext cx="274320" cy="274320"/>
            </a:xfrm>
            <a:prstGeom prst="ellipse">
              <a:avLst/>
            </a:prstGeom>
            <a:solidFill>
              <a:srgbClr val="C8553D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1</a:t>
              </a:r>
              <a:endParaRPr lang="en-US" sz="800"/>
            </a:p>
          </p:txBody>
        </p:sp>
        <p:sp>
          <p:nvSpPr>
            <p:cNvPr id="1004" name="Step 1 do"/>
            <p:cNvSpPr txBox="1"/>
            <p:nvPr/>
          </p:nvSpPr>
          <p:spPr>
            <a:xfrm>
              <a:off x="896112" y="1408176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Before: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Aisha sends a complaint with a name and an Emirates ID, then asks for stock tips</a:t>
              </a:r>
              <a:endParaRPr lang="en-US" sz="800"/>
            </a:p>
          </p:txBody>
        </p:sp>
        <p:sp>
          <p:nvSpPr>
            <p:cNvPr id="1005" name="Step 1 see"/>
            <p:cNvSpPr txBox="1"/>
            <p:nvPr/>
          </p:nvSpPr>
          <p:spPr>
            <a:xfrm>
              <a:off x="3840480" y="1408176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C8553D"/>
                  </a:solidFill>
                  <a:latin typeface="Calibri"/>
                </a:rPr>
                <a:t>The model receives the ID in clear, and the stock tip is answered.</a:t>
              </a:r>
              <a:endParaRPr lang="en-US" sz="800"/>
            </a:p>
          </p:txBody>
        </p:sp>
      </p:grpSp>
      <p:grpSp>
        <p:nvGrpSpPr>
          <p:cNvPr id="1011" name="Step 2"/>
          <p:cNvGrpSpPr/>
          <p:nvPr/>
        </p:nvGrpSpPr>
        <p:grpSpPr>
          <a:xfrm>
            <a:off x="457200" y="1920240"/>
            <a:ext cx="5577840" cy="457200"/>
            <a:chOff x="457200" y="1920240"/>
            <a:chExt cx="5577840" cy="457200"/>
          </a:xfrm>
        </p:grpSpPr>
        <p:sp>
          <p:nvSpPr>
            <p:cNvPr id="1007" name="Step 2 row"/>
            <p:cNvSpPr/>
            <p:nvPr/>
          </p:nvSpPr>
          <p:spPr>
            <a:xfrm>
              <a:off x="457200" y="1920240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8" name="Step 2 number"/>
            <p:cNvSpPr/>
            <p:nvPr/>
          </p:nvSpPr>
          <p:spPr>
            <a:xfrm>
              <a:off x="548640" y="2011680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2</a:t>
              </a:r>
              <a:endParaRPr lang="en-US" sz="800"/>
            </a:p>
          </p:txBody>
        </p:sp>
        <p:sp>
          <p:nvSpPr>
            <p:cNvPr id="1009" name="Step 2 do"/>
            <p:cNvSpPr txBox="1"/>
            <p:nvPr/>
          </p:nvSpPr>
          <p:spPr>
            <a:xfrm>
              <a:off x="896112" y="1920240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attach security's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reviewed bundle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to her use case: one kongctl apply</a:t>
              </a:r>
              <a:endParaRPr lang="en-US" sz="800"/>
            </a:p>
          </p:txBody>
        </p:sp>
        <p:sp>
          <p:nvSpPr>
            <p:cNvPr id="1010" name="Step 2 see"/>
            <p:cNvSpPr txBox="1"/>
            <p:nvPr/>
          </p:nvSpPr>
          <p:spPr>
            <a:xfrm>
              <a:off x="3840480" y="1920240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Konnect shows the bundle on the retail use case.</a:t>
              </a:r>
              <a:endParaRPr lang="en-US" sz="800"/>
            </a:p>
          </p:txBody>
        </p:sp>
      </p:grpSp>
      <p:grpSp>
        <p:nvGrpSpPr>
          <p:cNvPr id="1016" name="Step 3"/>
          <p:cNvGrpSpPr/>
          <p:nvPr/>
        </p:nvGrpSpPr>
        <p:grpSpPr>
          <a:xfrm>
            <a:off x="457200" y="2432304"/>
            <a:ext cx="5577840" cy="457200"/>
            <a:chOff x="457200" y="2432304"/>
            <a:chExt cx="5577840" cy="457200"/>
          </a:xfrm>
        </p:grpSpPr>
        <p:sp>
          <p:nvSpPr>
            <p:cNvPr id="1012" name="Step 3 row"/>
            <p:cNvSpPr/>
            <p:nvPr/>
          </p:nvSpPr>
          <p:spPr>
            <a:xfrm>
              <a:off x="457200" y="2432304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3" name="Step 3 number"/>
            <p:cNvSpPr/>
            <p:nvPr/>
          </p:nvSpPr>
          <p:spPr>
            <a:xfrm>
              <a:off x="548640" y="2523744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3</a:t>
              </a:r>
              <a:endParaRPr lang="en-US" sz="800"/>
            </a:p>
          </p:txBody>
        </p:sp>
        <p:sp>
          <p:nvSpPr>
            <p:cNvPr id="1014" name="Step 3 do"/>
            <p:cNvSpPr txBox="1"/>
            <p:nvPr/>
          </p:nvSpPr>
          <p:spPr>
            <a:xfrm>
              <a:off x="896112" y="2432304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Aisha sends the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same complaint</a:t>
              </a:r>
              <a:endParaRPr lang="en-US" sz="800"/>
            </a:p>
          </p:txBody>
        </p:sp>
        <p:sp>
          <p:nvSpPr>
            <p:cNvPr id="1015" name="Step 3 see"/>
            <p:cNvSpPr txBox="1"/>
            <p:nvPr/>
          </p:nvSpPr>
          <p:spPr>
            <a:xfrm>
              <a:off x="3840480" y="2432304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Placeholders replace the name and ID: the model never sees them.</a:t>
              </a:r>
              <a:endParaRPr lang="en-US" sz="800"/>
            </a:p>
          </p:txBody>
        </p:sp>
      </p:grpSp>
      <p:grpSp>
        <p:nvGrpSpPr>
          <p:cNvPr id="1021" name="Step 4"/>
          <p:cNvGrpSpPr/>
          <p:nvPr/>
        </p:nvGrpSpPr>
        <p:grpSpPr>
          <a:xfrm>
            <a:off x="457200" y="2944368"/>
            <a:ext cx="5577840" cy="457200"/>
            <a:chOff x="457200" y="2944368"/>
            <a:chExt cx="5577840" cy="457200"/>
          </a:xfrm>
        </p:grpSpPr>
        <p:sp>
          <p:nvSpPr>
            <p:cNvPr id="1017" name="Step 4 row"/>
            <p:cNvSpPr/>
            <p:nvPr/>
          </p:nvSpPr>
          <p:spPr>
            <a:xfrm>
              <a:off x="457200" y="2944368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8" name="Step 4 number"/>
            <p:cNvSpPr/>
            <p:nvPr/>
          </p:nvSpPr>
          <p:spPr>
            <a:xfrm>
              <a:off x="548640" y="3035808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4</a:t>
              </a:r>
              <a:endParaRPr lang="en-US" sz="800"/>
            </a:p>
          </p:txBody>
        </p:sp>
        <p:sp>
          <p:nvSpPr>
            <p:cNvPr id="1019" name="Step 4 do"/>
            <p:cNvSpPr txBox="1"/>
            <p:nvPr/>
          </p:nvSpPr>
          <p:spPr>
            <a:xfrm>
              <a:off x="896112" y="2944368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Stock tips reworded; a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pre-approved loan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answer; </a:t>
              </a:r>
              <a:r>
                <a:rPr lang="en-US" sz="900" b="0" i="1">
                  <a:solidFill>
                    <a:srgbClr val="001408"/>
                  </a:solidFill>
                  <a:latin typeface="Calibri"/>
                </a:rPr>
                <a:t>"Ignore all previous instructions…"</a:t>
              </a:r>
              <a:endParaRPr lang="en-US" sz="800"/>
            </a:p>
          </p:txBody>
        </p:sp>
        <p:sp>
          <p:nvSpPr>
            <p:cNvPr id="1020" name="Step 4 see"/>
            <p:cNvSpPr txBox="1"/>
            <p:nvPr/>
          </p:nvSpPr>
          <p:spPr>
            <a:xfrm>
              <a:off x="3840480" y="2944368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Advice blocked by meaning, the answer withheld, the injection stopped.</a:t>
              </a:r>
              <a:endParaRPr lang="en-US" sz="800"/>
            </a:p>
          </p:txBody>
        </p:sp>
      </p:grpSp>
      <p:grpSp>
        <p:nvGrpSpPr>
          <p:cNvPr id="1026" name="Step 5"/>
          <p:cNvGrpSpPr/>
          <p:nvPr/>
        </p:nvGrpSpPr>
        <p:grpSpPr>
          <a:xfrm>
            <a:off x="457200" y="3456432"/>
            <a:ext cx="5577840" cy="457200"/>
            <a:chOff x="457200" y="3456432"/>
            <a:chExt cx="5577840" cy="457200"/>
          </a:xfrm>
        </p:grpSpPr>
        <p:sp>
          <p:nvSpPr>
            <p:cNvPr id="1022" name="Step 5 row"/>
            <p:cNvSpPr/>
            <p:nvPr/>
          </p:nvSpPr>
          <p:spPr>
            <a:xfrm>
              <a:off x="457200" y="3456432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23" name="Step 5 number"/>
            <p:cNvSpPr/>
            <p:nvPr/>
          </p:nvSpPr>
          <p:spPr>
            <a:xfrm>
              <a:off x="548640" y="354787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5</a:t>
              </a:r>
              <a:endParaRPr lang="en-US" sz="800"/>
            </a:p>
          </p:txBody>
        </p:sp>
        <p:sp>
          <p:nvSpPr>
            <p:cNvPr id="1024" name="Step 5 do"/>
            <p:cNvSpPr txBox="1"/>
            <p:nvPr/>
          </p:nvSpPr>
          <p:spPr>
            <a:xfrm>
              <a:off x="896112" y="3456432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read the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audit trail</a:t>
              </a:r>
              <a:endParaRPr lang="en-US" sz="800"/>
            </a:p>
          </p:txBody>
        </p:sp>
        <p:sp>
          <p:nvSpPr>
            <p:cNvPr id="1025" name="Step 5 see"/>
            <p:cNvSpPr txBox="1"/>
            <p:nvPr/>
          </p:nvSpPr>
          <p:spPr>
            <a:xfrm>
              <a:off x="3840480" y="3456432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One line per call: who, model, tokens, PII found, verdict; no prompt text.</a:t>
              </a:r>
              <a:endParaRPr lang="en-US" sz="800"/>
            </a:p>
          </p:txBody>
        </p:sp>
      </p:grpSp>
      <p:grpSp>
        <p:nvGrpSpPr>
          <p:cNvPr id="1038" name="Proves"/>
          <p:cNvGrpSpPr/>
          <p:nvPr/>
        </p:nvGrpSpPr>
        <p:grpSpPr>
          <a:xfrm>
            <a:off x="457200" y="4041648"/>
            <a:ext cx="8229600" cy="548640"/>
            <a:chOff x="457200" y="4041648"/>
            <a:chExt cx="8229600" cy="548640"/>
          </a:xfrm>
        </p:grpSpPr>
        <p:sp>
          <p:nvSpPr>
            <p:cNvPr id="1037" name="Proves band"/>
            <p:cNvSpPr/>
            <p:nvPr/>
          </p:nvSpPr>
          <p:spPr>
            <a:xfrm>
              <a:off x="457200" y="4041648"/>
              <a:ext cx="8229600" cy="548640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182880" tIns="0" rIns="18288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CCFF00"/>
                  </a:solidFill>
                  <a:latin typeface="Calibri"/>
                </a:rPr>
                <a:t>WHAT IT PROVES  ·  FOR THE CIO AND THE ARCHITECT</a:t>
              </a:r>
              <a:endParaRPr lang="en-US" sz="800"/>
            </a:p>
            <a:p>
              <a:pPr algn="l">
                <a:buNone/>
              </a:pPr>
              <a:r>
                <a:rPr lang="en-US" sz="1200" b="1" i="0">
                  <a:solidFill>
                    <a:srgbClr val="FFFFFF"/>
                  </a:solidFill>
                  <a:latin typeface="Calibri"/>
                </a:rPr>
                <a:t>Security reviews one bundle once; every use case reuses it, and every call is audited.</a:t>
              </a:r>
              <a:endParaRPr lang="en-US" sz="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ACT 3 · TOKENOMICS  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Every token has an owner and a price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999" name="Scenario"/>
          <p:cNvSpPr txBox="1"/>
          <p:nvPr/>
        </p:nvSpPr>
        <p:spPr>
          <a:xfrm>
            <a:off x="466344" y="886968"/>
            <a:ext cx="8183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Aisha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(Retail Copilot) and </a:t>
            </a:r>
            <a:r>
              <a:rPr lang="en-US" sz="1100" b="1" i="0">
                <a:solidFill>
                  <a:srgbClr val="001408"/>
                </a:solidFill>
                <a:latin typeface="Calibri"/>
              </a:rPr>
              <a:t>Layla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 (AML Copilot): Kong picks the model by meaning, caches repeats and enforces budgets.</a:t>
            </a:r>
            <a:endParaRPr lang="en-US" sz="800"/>
          </a:p>
        </p:txBody>
      </p:sp>
      <p:sp>
        <p:nvSpPr>
          <p:cNvPr id="1000" name="Head do"/>
          <p:cNvSpPr txBox="1"/>
          <p:nvPr/>
        </p:nvSpPr>
        <p:spPr>
          <a:xfrm>
            <a:off x="896112" y="1225296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WE DO</a:t>
            </a:r>
            <a:endParaRPr lang="en-US" sz="800"/>
          </a:p>
        </p:txBody>
      </p:sp>
      <p:sp>
        <p:nvSpPr>
          <p:cNvPr id="1001" name="Head see"/>
          <p:cNvSpPr txBox="1"/>
          <p:nvPr/>
        </p:nvSpPr>
        <p:spPr>
          <a:xfrm>
            <a:off x="3840480" y="122529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YOU SEE</a:t>
            </a:r>
            <a:endParaRPr lang="en-US" sz="800"/>
          </a:p>
        </p:txBody>
      </p:sp>
      <p:sp>
        <p:nvSpPr>
          <p:cNvPr id="1027" name="Kong panel"/>
          <p:cNvSpPr/>
          <p:nvPr/>
        </p:nvSpPr>
        <p:spPr>
          <a:xfrm>
            <a:off x="6144768" y="1225296"/>
            <a:ext cx="2542032" cy="2688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1028" name="Kong panel label"/>
          <p:cNvSpPr txBox="1"/>
          <p:nvPr/>
        </p:nvSpPr>
        <p:spPr>
          <a:xfrm>
            <a:off x="6272784" y="131673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KONG CONSTRUCTS</a:t>
            </a:r>
            <a:endParaRPr lang="en-US" sz="800"/>
          </a:p>
        </p:txBody>
      </p:sp>
      <p:sp>
        <p:nvSpPr>
          <p:cNvPr id="1029" name="Construct 1"/>
          <p:cNvSpPr/>
          <p:nvPr/>
        </p:nvSpPr>
        <p:spPr>
          <a:xfrm>
            <a:off x="6272784" y="1517904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Model: semantic routing</a:t>
            </a:r>
            <a:endParaRPr lang="en-US" sz="800"/>
          </a:p>
        </p:txBody>
      </p:sp>
      <p:sp>
        <p:nvSpPr>
          <p:cNvPr id="1030" name="Construct 2"/>
          <p:cNvSpPr/>
          <p:nvPr/>
        </p:nvSpPr>
        <p:spPr>
          <a:xfrm>
            <a:off x="6272784" y="1810512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Semantic Cache</a:t>
            </a:r>
            <a:endParaRPr lang="en-US" sz="800"/>
          </a:p>
        </p:txBody>
      </p:sp>
      <p:sp>
        <p:nvSpPr>
          <p:cNvPr id="1031" name="Construct 3"/>
          <p:cNvSpPr/>
          <p:nvPr/>
        </p:nvSpPr>
        <p:spPr>
          <a:xfrm>
            <a:off x="6272784" y="2103120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Rate Limiting Advanced: budgets</a:t>
            </a:r>
            <a:endParaRPr lang="en-US" sz="800"/>
          </a:p>
        </p:txBody>
      </p:sp>
      <p:sp>
        <p:nvSpPr>
          <p:cNvPr id="1032" name="Construct 4"/>
          <p:cNvSpPr/>
          <p:nvPr/>
        </p:nvSpPr>
        <p:spPr>
          <a:xfrm>
            <a:off x="6272784" y="239572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Konnect Analytics: cost per use case</a:t>
            </a:r>
            <a:endParaRPr lang="en-US" sz="800"/>
          </a:p>
        </p:txBody>
      </p:sp>
      <p:sp>
        <p:nvSpPr>
          <p:cNvPr id="1033" name="Look label"/>
          <p:cNvSpPr txBox="1"/>
          <p:nvPr/>
        </p:nvSpPr>
        <p:spPr>
          <a:xfrm>
            <a:off x="6272784" y="2761488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WHERE TO LOOK</a:t>
            </a:r>
            <a:endParaRPr lang="en-US" sz="800"/>
          </a:p>
        </p:txBody>
      </p:sp>
      <p:sp>
        <p:nvSpPr>
          <p:cNvPr id="1034" name="Look 1"/>
          <p:cNvSpPr txBox="1"/>
          <p:nvPr/>
        </p:nvSpPr>
        <p:spPr>
          <a:xfrm>
            <a:off x="6272784" y="29626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chat status line: model and tokens</a:t>
            </a:r>
            <a:endParaRPr lang="en-US" sz="800"/>
          </a:p>
        </p:txBody>
      </p:sp>
      <p:sp>
        <p:nvSpPr>
          <p:cNvPr id="1035" name="Look 2"/>
          <p:cNvSpPr txBox="1"/>
          <p:nvPr/>
        </p:nvSpPr>
        <p:spPr>
          <a:xfrm>
            <a:off x="6272784" y="32369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Konnect: routing, cache and Analytics</a:t>
            </a:r>
            <a:endParaRPr lang="en-US" sz="800"/>
          </a:p>
        </p:txBody>
      </p:sp>
      <p:grpSp>
        <p:nvGrpSpPr>
          <p:cNvPr id="1006" name="Step 1"/>
          <p:cNvGrpSpPr/>
          <p:nvPr/>
        </p:nvGrpSpPr>
        <p:grpSpPr>
          <a:xfrm>
            <a:off x="457200" y="1408176"/>
            <a:ext cx="5577840" cy="457200"/>
            <a:chOff x="457200" y="1408176"/>
            <a:chExt cx="5577840" cy="457200"/>
          </a:xfrm>
        </p:grpSpPr>
        <p:sp>
          <p:nvSpPr>
            <p:cNvPr id="1002" name="Step 1 row"/>
            <p:cNvSpPr/>
            <p:nvPr/>
          </p:nvSpPr>
          <p:spPr>
            <a:xfrm>
              <a:off x="457200" y="1408176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3" name="Step 1 number"/>
            <p:cNvSpPr/>
            <p:nvPr/>
          </p:nvSpPr>
          <p:spPr>
            <a:xfrm>
              <a:off x="548640" y="14996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1</a:t>
              </a:r>
              <a:endParaRPr lang="en-US" sz="800"/>
            </a:p>
          </p:txBody>
        </p:sp>
        <p:sp>
          <p:nvSpPr>
            <p:cNvPr id="1004" name="Step 1 do"/>
            <p:cNvSpPr txBox="1"/>
            <p:nvPr/>
          </p:nvSpPr>
          <p:spPr>
            <a:xfrm>
              <a:off x="896112" y="1408176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Aisha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asks a routine question: </a:t>
              </a:r>
              <a:r>
                <a:rPr lang="en-US" sz="900" b="0" i="1">
                  <a:solidFill>
                    <a:srgbClr val="001408"/>
                  </a:solidFill>
                  <a:latin typeface="Calibri"/>
                </a:rPr>
                <a:t>Saturday branch hours</a:t>
              </a:r>
              <a:endParaRPr lang="en-US" sz="800"/>
            </a:p>
          </p:txBody>
        </p:sp>
        <p:sp>
          <p:nvSpPr>
            <p:cNvPr id="1005" name="Step 1 see"/>
            <p:cNvSpPr txBox="1"/>
            <p:nvPr/>
          </p:nvSpPr>
          <p:spPr>
            <a:xfrm>
              <a:off x="3840480" y="1408176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Routed to the small model.</a:t>
              </a:r>
              <a:endParaRPr lang="en-US" sz="800"/>
            </a:p>
          </p:txBody>
        </p:sp>
      </p:grpSp>
      <p:grpSp>
        <p:nvGrpSpPr>
          <p:cNvPr id="1011" name="Step 2"/>
          <p:cNvGrpSpPr/>
          <p:nvPr/>
        </p:nvGrpSpPr>
        <p:grpSpPr>
          <a:xfrm>
            <a:off x="457200" y="1920240"/>
            <a:ext cx="5577840" cy="457200"/>
            <a:chOff x="457200" y="1920240"/>
            <a:chExt cx="5577840" cy="457200"/>
          </a:xfrm>
        </p:grpSpPr>
        <p:sp>
          <p:nvSpPr>
            <p:cNvPr id="1007" name="Step 2 row"/>
            <p:cNvSpPr/>
            <p:nvPr/>
          </p:nvSpPr>
          <p:spPr>
            <a:xfrm>
              <a:off x="457200" y="1920240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8" name="Step 2 number"/>
            <p:cNvSpPr/>
            <p:nvPr/>
          </p:nvSpPr>
          <p:spPr>
            <a:xfrm>
              <a:off x="548640" y="2011680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2</a:t>
              </a:r>
              <a:endParaRPr lang="en-US" sz="800"/>
            </a:p>
          </p:txBody>
        </p:sp>
        <p:sp>
          <p:nvSpPr>
            <p:cNvPr id="1009" name="Step 2 do"/>
            <p:cNvSpPr txBox="1"/>
            <p:nvPr/>
          </p:nvSpPr>
          <p:spPr>
            <a:xfrm>
              <a:off x="896112" y="1920240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Layla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brings an AML case: </a:t>
              </a:r>
              <a:r>
                <a:rPr lang="en-US" sz="900" b="0" i="1">
                  <a:solidFill>
                    <a:srgbClr val="001408"/>
                  </a:solidFill>
                  <a:latin typeface="Calibri"/>
                </a:rPr>
                <a:t>14 cash deposits of AED 9,500 in 5 days</a:t>
              </a:r>
              <a:endParaRPr lang="en-US" sz="800"/>
            </a:p>
          </p:txBody>
        </p:sp>
        <p:sp>
          <p:nvSpPr>
            <p:cNvPr id="1010" name="Step 2 see"/>
            <p:cNvSpPr txBox="1"/>
            <p:nvPr/>
          </p:nvSpPr>
          <p:spPr>
            <a:xfrm>
              <a:off x="3840480" y="1920240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Routed to the large model, by meaning.</a:t>
              </a:r>
              <a:endParaRPr lang="en-US" sz="800"/>
            </a:p>
          </p:txBody>
        </p:sp>
      </p:grpSp>
      <p:grpSp>
        <p:nvGrpSpPr>
          <p:cNvPr id="1016" name="Step 3"/>
          <p:cNvGrpSpPr/>
          <p:nvPr/>
        </p:nvGrpSpPr>
        <p:grpSpPr>
          <a:xfrm>
            <a:off x="457200" y="2432304"/>
            <a:ext cx="5577840" cy="457200"/>
            <a:chOff x="457200" y="2432304"/>
            <a:chExt cx="5577840" cy="457200"/>
          </a:xfrm>
        </p:grpSpPr>
        <p:sp>
          <p:nvSpPr>
            <p:cNvPr id="1012" name="Step 3 row"/>
            <p:cNvSpPr/>
            <p:nvPr/>
          </p:nvSpPr>
          <p:spPr>
            <a:xfrm>
              <a:off x="457200" y="2432304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3" name="Step 3 number"/>
            <p:cNvSpPr/>
            <p:nvPr/>
          </p:nvSpPr>
          <p:spPr>
            <a:xfrm>
              <a:off x="548640" y="2523744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3</a:t>
              </a:r>
              <a:endParaRPr lang="en-US" sz="800"/>
            </a:p>
          </p:txBody>
        </p:sp>
        <p:sp>
          <p:nvSpPr>
            <p:cNvPr id="1014" name="Step 3 do"/>
            <p:cNvSpPr txBox="1"/>
            <p:nvPr/>
          </p:nvSpPr>
          <p:spPr>
            <a:xfrm>
              <a:off x="896112" y="2432304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Aisha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asks a question, then the same one reworded</a:t>
              </a:r>
              <a:endParaRPr lang="en-US" sz="800"/>
            </a:p>
          </p:txBody>
        </p:sp>
        <p:sp>
          <p:nvSpPr>
            <p:cNvPr id="1015" name="Step 3 see"/>
            <p:cNvSpPr txBox="1"/>
            <p:nvPr/>
          </p:nvSpPr>
          <p:spPr>
            <a:xfrm>
              <a:off x="3840480" y="2432304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The repeat comes from the semantic cache: $0.</a:t>
              </a:r>
              <a:endParaRPr lang="en-US" sz="800"/>
            </a:p>
          </p:txBody>
        </p:sp>
      </p:grpSp>
      <p:grpSp>
        <p:nvGrpSpPr>
          <p:cNvPr id="1021" name="Step 4"/>
          <p:cNvGrpSpPr/>
          <p:nvPr/>
        </p:nvGrpSpPr>
        <p:grpSpPr>
          <a:xfrm>
            <a:off x="457200" y="2944368"/>
            <a:ext cx="5577840" cy="457200"/>
            <a:chOff x="457200" y="2944368"/>
            <a:chExt cx="5577840" cy="457200"/>
          </a:xfrm>
        </p:grpSpPr>
        <p:sp>
          <p:nvSpPr>
            <p:cNvPr id="1017" name="Step 4 row"/>
            <p:cNvSpPr/>
            <p:nvPr/>
          </p:nvSpPr>
          <p:spPr>
            <a:xfrm>
              <a:off x="457200" y="2944368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8" name="Step 4 number"/>
            <p:cNvSpPr/>
            <p:nvPr/>
          </p:nvSpPr>
          <p:spPr>
            <a:xfrm>
              <a:off x="548640" y="3035808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4</a:t>
              </a:r>
              <a:endParaRPr lang="en-US" sz="800"/>
            </a:p>
          </p:txBody>
        </p:sp>
        <p:sp>
          <p:nvSpPr>
            <p:cNvPr id="1019" name="Step 4 do"/>
            <p:cNvSpPr txBox="1"/>
            <p:nvPr/>
          </p:nvSpPr>
          <p:spPr>
            <a:xfrm>
              <a:off x="896112" y="2944368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Aisha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keeps asking</a:t>
              </a:r>
              <a:endParaRPr lang="en-US" sz="800"/>
            </a:p>
          </p:txBody>
        </p:sp>
        <p:sp>
          <p:nvSpPr>
            <p:cNvPr id="1020" name="Step 4 see"/>
            <p:cNvSpPr txBox="1"/>
            <p:nvPr/>
          </p:nvSpPr>
          <p:spPr>
            <a:xfrm>
              <a:off x="3840480" y="2944368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Her team's token budget runs out: GNB's budget message (429).</a:t>
              </a:r>
              <a:endParaRPr lang="en-US" sz="800"/>
            </a:p>
          </p:txBody>
        </p:sp>
      </p:grpSp>
      <p:grpSp>
        <p:nvGrpSpPr>
          <p:cNvPr id="1026" name="Step 5"/>
          <p:cNvGrpSpPr/>
          <p:nvPr/>
        </p:nvGrpSpPr>
        <p:grpSpPr>
          <a:xfrm>
            <a:off x="457200" y="3456432"/>
            <a:ext cx="5577840" cy="457200"/>
            <a:chOff x="457200" y="3456432"/>
            <a:chExt cx="5577840" cy="457200"/>
          </a:xfrm>
        </p:grpSpPr>
        <p:sp>
          <p:nvSpPr>
            <p:cNvPr id="1022" name="Step 5 row"/>
            <p:cNvSpPr/>
            <p:nvPr/>
          </p:nvSpPr>
          <p:spPr>
            <a:xfrm>
              <a:off x="457200" y="3456432"/>
              <a:ext cx="5577840" cy="45720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23" name="Step 5 number"/>
            <p:cNvSpPr/>
            <p:nvPr/>
          </p:nvSpPr>
          <p:spPr>
            <a:xfrm>
              <a:off x="548640" y="354787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5</a:t>
              </a:r>
              <a:endParaRPr lang="en-US" sz="800"/>
            </a:p>
          </p:txBody>
        </p:sp>
        <p:sp>
          <p:nvSpPr>
            <p:cNvPr id="1024" name="Step 5 do"/>
            <p:cNvSpPr txBox="1"/>
            <p:nvPr/>
          </p:nvSpPr>
          <p:spPr>
            <a:xfrm>
              <a:off x="896112" y="3456432"/>
              <a:ext cx="28529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open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Konnect Analytics</a:t>
              </a:r>
              <a:endParaRPr lang="en-US" sz="800"/>
            </a:p>
          </p:txBody>
        </p:sp>
        <p:sp>
          <p:nvSpPr>
            <p:cNvPr id="1025" name="Step 5 see"/>
            <p:cNvSpPr txBox="1"/>
            <p:nvPr/>
          </p:nvSpPr>
          <p:spPr>
            <a:xfrm>
              <a:off x="3840480" y="3456432"/>
              <a:ext cx="21214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Tokens and cost per use case: the chargeback view.</a:t>
              </a:r>
              <a:endParaRPr lang="en-US" sz="800"/>
            </a:p>
          </p:txBody>
        </p:sp>
      </p:grpSp>
      <p:grpSp>
        <p:nvGrpSpPr>
          <p:cNvPr id="1037" name="Proves"/>
          <p:cNvGrpSpPr/>
          <p:nvPr/>
        </p:nvGrpSpPr>
        <p:grpSpPr>
          <a:xfrm>
            <a:off x="457200" y="4041648"/>
            <a:ext cx="8229600" cy="548640"/>
            <a:chOff x="457200" y="4041648"/>
            <a:chExt cx="8229600" cy="548640"/>
          </a:xfrm>
        </p:grpSpPr>
        <p:sp>
          <p:nvSpPr>
            <p:cNvPr id="1036" name="Proves band"/>
            <p:cNvSpPr/>
            <p:nvPr/>
          </p:nvSpPr>
          <p:spPr>
            <a:xfrm>
              <a:off x="457200" y="4041648"/>
              <a:ext cx="8229600" cy="548640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182880" tIns="0" rIns="18288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CCFF00"/>
                  </a:solidFill>
                  <a:latin typeface="Calibri"/>
                </a:rPr>
                <a:t>WHAT IT PROVES  ·  FOR THE CIO AND THE PLATFORM OWNER</a:t>
              </a:r>
              <a:endParaRPr lang="en-US" sz="800"/>
            </a:p>
            <a:p>
              <a:pPr algn="l">
                <a:buNone/>
              </a:pPr>
              <a:r>
                <a:rPr lang="en-US" sz="1200" b="1" i="0">
                  <a:solidFill>
                    <a:srgbClr val="FFFFFF"/>
                  </a:solidFill>
                  <a:latin typeface="Calibri"/>
                </a:rPr>
                <a:t>Right-sized models, repeats at $0, a budget per team and a cost per use case.</a:t>
              </a:r>
              <a:endParaRPr lang="en-US" sz="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ACT 4 · AGENTS  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Agents act only through governed tools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999" name="Scenario"/>
          <p:cNvSpPr txBox="1"/>
          <p:nvPr/>
        </p:nvSpPr>
        <p:spPr>
          <a:xfrm>
            <a:off x="466344" y="886968"/>
            <a:ext cx="8183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1" i="0">
                <a:solidFill>
                  <a:srgbClr val="001408"/>
                </a:solidFill>
                <a:latin typeface="Calibri"/>
              </a:rPr>
              <a:t>Noura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's card-ops agent and her supervisor </a:t>
            </a:r>
            <a:r>
              <a:rPr lang="en-US" sz="1100" b="1" i="0">
                <a:solidFill>
                  <a:srgbClr val="001408"/>
                </a:solidFill>
                <a:latin typeface="Calibri"/>
              </a:rPr>
              <a:t>Khalid</a:t>
            </a:r>
            <a:r>
              <a:rPr lang="en-US" sz="1100" b="0" i="0">
                <a:solidFill>
                  <a:srgbClr val="4B5650"/>
                </a:solidFill>
                <a:latin typeface="Calibri"/>
              </a:rPr>
              <a:t>: the card APIs reach agents as an AI MCP Server with four tools.</a:t>
            </a:r>
            <a:endParaRPr lang="en-US" sz="800"/>
          </a:p>
        </p:txBody>
      </p:sp>
      <p:sp>
        <p:nvSpPr>
          <p:cNvPr id="1000" name="Head do"/>
          <p:cNvSpPr txBox="1"/>
          <p:nvPr/>
        </p:nvSpPr>
        <p:spPr>
          <a:xfrm>
            <a:off x="896112" y="1225296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WE DO</a:t>
            </a:r>
            <a:endParaRPr lang="en-US" sz="800"/>
          </a:p>
        </p:txBody>
      </p:sp>
      <p:sp>
        <p:nvSpPr>
          <p:cNvPr id="1001" name="Head see"/>
          <p:cNvSpPr txBox="1"/>
          <p:nvPr/>
        </p:nvSpPr>
        <p:spPr>
          <a:xfrm>
            <a:off x="3840480" y="122529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WHAT YOU SEE</a:t>
            </a:r>
            <a:endParaRPr lang="en-US" sz="800"/>
          </a:p>
        </p:txBody>
      </p:sp>
      <p:sp>
        <p:nvSpPr>
          <p:cNvPr id="1022" name="Kong panel"/>
          <p:cNvSpPr/>
          <p:nvPr/>
        </p:nvSpPr>
        <p:spPr>
          <a:xfrm>
            <a:off x="6144768" y="1225296"/>
            <a:ext cx="2542032" cy="2596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800"/>
          </a:p>
        </p:txBody>
      </p:sp>
      <p:sp>
        <p:nvSpPr>
          <p:cNvPr id="1023" name="Kong panel label"/>
          <p:cNvSpPr txBox="1"/>
          <p:nvPr/>
        </p:nvSpPr>
        <p:spPr>
          <a:xfrm>
            <a:off x="6272784" y="1316736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KONG CONSTRUCTS</a:t>
            </a:r>
            <a:endParaRPr lang="en-US" sz="800"/>
          </a:p>
        </p:txBody>
      </p:sp>
      <p:sp>
        <p:nvSpPr>
          <p:cNvPr id="1024" name="Construct 1"/>
          <p:cNvSpPr/>
          <p:nvPr/>
        </p:nvSpPr>
        <p:spPr>
          <a:xfrm>
            <a:off x="6272784" y="1517904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AI MCP Server: REST APIs as tools</a:t>
            </a:r>
            <a:endParaRPr lang="en-US" sz="800"/>
          </a:p>
        </p:txBody>
      </p:sp>
      <p:sp>
        <p:nvSpPr>
          <p:cNvPr id="1025" name="Construct 2"/>
          <p:cNvSpPr/>
          <p:nvPr/>
        </p:nvSpPr>
        <p:spPr>
          <a:xfrm>
            <a:off x="6272784" y="1810512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tool ACL per consumer group</a:t>
            </a:r>
            <a:endParaRPr lang="en-US" sz="800"/>
          </a:p>
        </p:txBody>
      </p:sp>
      <p:sp>
        <p:nvSpPr>
          <p:cNvPr id="1026" name="Construct 3"/>
          <p:cNvSpPr/>
          <p:nvPr/>
        </p:nvSpPr>
        <p:spPr>
          <a:xfrm>
            <a:off x="6272784" y="2103120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rate limit per identity</a:t>
            </a:r>
            <a:endParaRPr lang="en-US" sz="800"/>
          </a:p>
        </p:txBody>
      </p:sp>
      <p:sp>
        <p:nvSpPr>
          <p:cNvPr id="1027" name="Construct 4"/>
          <p:cNvSpPr/>
          <p:nvPr/>
        </p:nvSpPr>
        <p:spPr>
          <a:xfrm>
            <a:off x="6272784" y="239572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850" b="0" i="0">
                <a:solidFill>
                  <a:srgbClr val="001408"/>
                </a:solidFill>
                <a:latin typeface="Calibri"/>
              </a:rPr>
              <a:t>agent + user identity in logs</a:t>
            </a:r>
            <a:endParaRPr lang="en-US" sz="800"/>
          </a:p>
        </p:txBody>
      </p:sp>
      <p:sp>
        <p:nvSpPr>
          <p:cNvPr id="1028" name="Look label"/>
          <p:cNvSpPr txBox="1"/>
          <p:nvPr/>
        </p:nvSpPr>
        <p:spPr>
          <a:xfrm>
            <a:off x="6272784" y="2761488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b="1" i="0">
                <a:solidFill>
                  <a:srgbClr val="4A8500"/>
                </a:solidFill>
                <a:latin typeface="Calibri"/>
              </a:rPr>
              <a:t>WHERE TO LOOK</a:t>
            </a:r>
            <a:endParaRPr lang="en-US" sz="800"/>
          </a:p>
        </p:txBody>
      </p:sp>
      <p:sp>
        <p:nvSpPr>
          <p:cNvPr id="1029" name="Look 1"/>
          <p:cNvSpPr txBox="1"/>
          <p:nvPr/>
        </p:nvSpPr>
        <p:spPr>
          <a:xfrm>
            <a:off x="6272784" y="29626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chat: tool calls and the escalation</a:t>
            </a:r>
            <a:endParaRPr lang="en-US" sz="800"/>
          </a:p>
        </p:txBody>
      </p:sp>
      <p:sp>
        <p:nvSpPr>
          <p:cNvPr id="1030" name="Look 2"/>
          <p:cNvSpPr txBox="1"/>
          <p:nvPr/>
        </p:nvSpPr>
        <p:spPr>
          <a:xfrm>
            <a:off x="6272784" y="32369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50" b="1" i="0">
                <a:solidFill>
                  <a:srgbClr val="4A8500"/>
                </a:solidFill>
                <a:latin typeface="Calibri"/>
              </a:rPr>
              <a:t>▸ </a:t>
            </a:r>
            <a:r>
              <a:rPr lang="en-US" sz="850" b="0" i="0">
                <a:solidFill>
                  <a:srgbClr val="4B5650"/>
                </a:solidFill>
                <a:latin typeface="Calibri"/>
              </a:rPr>
              <a:t>Konnect: MCP tools and policies</a:t>
            </a:r>
            <a:endParaRPr lang="en-US" sz="800"/>
          </a:p>
        </p:txBody>
      </p:sp>
      <p:grpSp>
        <p:nvGrpSpPr>
          <p:cNvPr id="1006" name="Step 1"/>
          <p:cNvGrpSpPr/>
          <p:nvPr/>
        </p:nvGrpSpPr>
        <p:grpSpPr>
          <a:xfrm>
            <a:off x="457200" y="1408176"/>
            <a:ext cx="5577840" cy="548640"/>
            <a:chOff x="457200" y="1408176"/>
            <a:chExt cx="5577840" cy="548640"/>
          </a:xfrm>
        </p:grpSpPr>
        <p:sp>
          <p:nvSpPr>
            <p:cNvPr id="1002" name="Step 1 row"/>
            <p:cNvSpPr/>
            <p:nvPr/>
          </p:nvSpPr>
          <p:spPr>
            <a:xfrm>
              <a:off x="457200" y="1408176"/>
              <a:ext cx="5577840" cy="54864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3" name="Step 1 number"/>
            <p:cNvSpPr/>
            <p:nvPr/>
          </p:nvSpPr>
          <p:spPr>
            <a:xfrm>
              <a:off x="548640" y="154533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1</a:t>
              </a:r>
              <a:endParaRPr lang="en-US" sz="800"/>
            </a:p>
          </p:txBody>
        </p:sp>
        <p:sp>
          <p:nvSpPr>
            <p:cNvPr id="1004" name="Step 1 do"/>
            <p:cNvSpPr txBox="1"/>
            <p:nvPr/>
          </p:nvSpPr>
          <p:spPr>
            <a:xfrm>
              <a:off x="896112" y="1408176"/>
              <a:ext cx="28529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Noura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: </a:t>
              </a:r>
              <a:r>
                <a:rPr lang="en-US" sz="900" b="0" i="1">
                  <a:solidFill>
                    <a:srgbClr val="001408"/>
                  </a:solidFill>
                  <a:latin typeface="Calibri"/>
                </a:rPr>
                <a:t>"Card 4242 was stolen. Check the card and the KYC, then block it."</a:t>
              </a:r>
              <a:endParaRPr lang="en-US" sz="800"/>
            </a:p>
          </p:txBody>
        </p:sp>
        <p:sp>
          <p:nvSpPr>
            <p:cNvPr id="1005" name="Step 1 see"/>
            <p:cNvSpPr txBox="1"/>
            <p:nvPr/>
          </p:nvSpPr>
          <p:spPr>
            <a:xfrm>
              <a:off x="3840480" y="1408176"/>
              <a:ext cx="2121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The agent checks both, can't see block_card, and escalates.</a:t>
              </a:r>
              <a:endParaRPr lang="en-US" sz="800"/>
            </a:p>
          </p:txBody>
        </p:sp>
      </p:grpSp>
      <p:grpSp>
        <p:nvGrpSpPr>
          <p:cNvPr id="1011" name="Step 2"/>
          <p:cNvGrpSpPr/>
          <p:nvPr/>
        </p:nvGrpSpPr>
        <p:grpSpPr>
          <a:xfrm>
            <a:off x="457200" y="2029968"/>
            <a:ext cx="5577840" cy="548640"/>
            <a:chOff x="457200" y="2029968"/>
            <a:chExt cx="5577840" cy="548640"/>
          </a:xfrm>
        </p:grpSpPr>
        <p:sp>
          <p:nvSpPr>
            <p:cNvPr id="1007" name="Step 2 row"/>
            <p:cNvSpPr/>
            <p:nvPr/>
          </p:nvSpPr>
          <p:spPr>
            <a:xfrm>
              <a:off x="457200" y="2029968"/>
              <a:ext cx="5577840" cy="54864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08" name="Step 2 number"/>
            <p:cNvSpPr/>
            <p:nvPr/>
          </p:nvSpPr>
          <p:spPr>
            <a:xfrm>
              <a:off x="548640" y="2167128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2</a:t>
              </a:r>
              <a:endParaRPr lang="en-US" sz="800"/>
            </a:p>
          </p:txBody>
        </p:sp>
        <p:sp>
          <p:nvSpPr>
            <p:cNvPr id="1009" name="Step 2 do"/>
            <p:cNvSpPr txBox="1"/>
            <p:nvPr/>
          </p:nvSpPr>
          <p:spPr>
            <a:xfrm>
              <a:off x="896112" y="2029968"/>
              <a:ext cx="28529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open the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MCP server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 in Konnect</a:t>
              </a:r>
              <a:endParaRPr lang="en-US" sz="800"/>
            </a:p>
          </p:txBody>
        </p:sp>
        <p:sp>
          <p:nvSpPr>
            <p:cNvPr id="1010" name="Step 2 see"/>
            <p:cNvSpPr txBox="1"/>
            <p:nvPr/>
          </p:nvSpPr>
          <p:spPr>
            <a:xfrm>
              <a:off x="3840480" y="2029968"/>
              <a:ext cx="2121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Four tools; block_card for supervisors only; 120 calls a minute per identity.</a:t>
              </a:r>
              <a:endParaRPr lang="en-US" sz="800"/>
            </a:p>
          </p:txBody>
        </p:sp>
      </p:grpSp>
      <p:grpSp>
        <p:nvGrpSpPr>
          <p:cNvPr id="1016" name="Step 3"/>
          <p:cNvGrpSpPr/>
          <p:nvPr/>
        </p:nvGrpSpPr>
        <p:grpSpPr>
          <a:xfrm>
            <a:off x="457200" y="2651760"/>
            <a:ext cx="5577840" cy="548640"/>
            <a:chOff x="457200" y="2651760"/>
            <a:chExt cx="5577840" cy="548640"/>
          </a:xfrm>
        </p:grpSpPr>
        <p:sp>
          <p:nvSpPr>
            <p:cNvPr id="1012" name="Step 3 row"/>
            <p:cNvSpPr/>
            <p:nvPr/>
          </p:nvSpPr>
          <p:spPr>
            <a:xfrm>
              <a:off x="457200" y="2651760"/>
              <a:ext cx="5577840" cy="54864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3" name="Step 3 number"/>
            <p:cNvSpPr/>
            <p:nvPr/>
          </p:nvSpPr>
          <p:spPr>
            <a:xfrm>
              <a:off x="548640" y="2788920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3</a:t>
              </a:r>
              <a:endParaRPr lang="en-US" sz="800"/>
            </a:p>
          </p:txBody>
        </p:sp>
        <p:sp>
          <p:nvSpPr>
            <p:cNvPr id="1014" name="Step 3 do"/>
            <p:cNvSpPr txBox="1"/>
            <p:nvPr/>
          </p:nvSpPr>
          <p:spPr>
            <a:xfrm>
              <a:off x="896112" y="2651760"/>
              <a:ext cx="28529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Khalid</a:t>
              </a: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, her supervisor, confirms the theft and asks the agent to block</a:t>
              </a:r>
              <a:endParaRPr lang="en-US" sz="800"/>
            </a:p>
          </p:txBody>
        </p:sp>
        <p:sp>
          <p:nvSpPr>
            <p:cNvPr id="1015" name="Step 3 see"/>
            <p:cNvSpPr txBox="1"/>
            <p:nvPr/>
          </p:nvSpPr>
          <p:spPr>
            <a:xfrm>
              <a:off x="3840480" y="2651760"/>
              <a:ext cx="2121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His identity may block: the card is blocked.</a:t>
              </a:r>
              <a:endParaRPr lang="en-US" sz="800"/>
            </a:p>
          </p:txBody>
        </p:sp>
      </p:grpSp>
      <p:grpSp>
        <p:nvGrpSpPr>
          <p:cNvPr id="1021" name="Step 4"/>
          <p:cNvGrpSpPr/>
          <p:nvPr/>
        </p:nvGrpSpPr>
        <p:grpSpPr>
          <a:xfrm>
            <a:off x="457200" y="3273552"/>
            <a:ext cx="5577840" cy="548640"/>
            <a:chOff x="457200" y="3273552"/>
            <a:chExt cx="5577840" cy="548640"/>
          </a:xfrm>
        </p:grpSpPr>
        <p:sp>
          <p:nvSpPr>
            <p:cNvPr id="1017" name="Step 4 row"/>
            <p:cNvSpPr/>
            <p:nvPr/>
          </p:nvSpPr>
          <p:spPr>
            <a:xfrm>
              <a:off x="457200" y="3273552"/>
              <a:ext cx="5577840" cy="548640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endParaRPr lang="en-US" sz="800"/>
            </a:p>
          </p:txBody>
        </p:sp>
        <p:sp>
          <p:nvSpPr>
            <p:cNvPr id="1018" name="Step 4 number"/>
            <p:cNvSpPr/>
            <p:nvPr/>
          </p:nvSpPr>
          <p:spPr>
            <a:xfrm>
              <a:off x="548640" y="341071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lang="en-US" sz="1000" b="1" i="0">
                  <a:solidFill>
                    <a:srgbClr val="001408"/>
                  </a:solidFill>
                  <a:latin typeface="Calibri"/>
                </a:rPr>
                <a:t>4</a:t>
              </a:r>
              <a:endParaRPr lang="en-US" sz="800"/>
            </a:p>
          </p:txBody>
        </p:sp>
        <p:sp>
          <p:nvSpPr>
            <p:cNvPr id="1019" name="Step 4 do"/>
            <p:cNvSpPr txBox="1"/>
            <p:nvPr/>
          </p:nvSpPr>
          <p:spPr>
            <a:xfrm>
              <a:off x="896112" y="3273552"/>
              <a:ext cx="28529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0" i="0">
                  <a:solidFill>
                    <a:srgbClr val="001408"/>
                  </a:solidFill>
                  <a:latin typeface="Calibri"/>
                </a:rPr>
                <a:t>We read the </a:t>
              </a:r>
              <a:r>
                <a:rPr lang="en-US" sz="900" b="1" i="0">
                  <a:solidFill>
                    <a:srgbClr val="001408"/>
                  </a:solidFill>
                  <a:latin typeface="Calibri"/>
                </a:rPr>
                <a:t>audit trail</a:t>
              </a:r>
              <a:endParaRPr lang="en-US" sz="800"/>
            </a:p>
          </p:txBody>
        </p:sp>
        <p:sp>
          <p:nvSpPr>
            <p:cNvPr id="1020" name="Step 4 see"/>
            <p:cNvSpPr txBox="1"/>
            <p:nvPr/>
          </p:nvSpPr>
          <p:spPr>
            <a:xfrm>
              <a:off x="3840480" y="3273552"/>
              <a:ext cx="2121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lang="en-US" sz="900" b="1" i="0">
                  <a:solidFill>
                    <a:srgbClr val="4A8500"/>
                  </a:solidFill>
                  <a:latin typeface="Calibri"/>
                </a:rPr>
                <a:t>Every tool call logged with the agent's and the user's identity.</a:t>
              </a:r>
              <a:endParaRPr lang="en-US" sz="800"/>
            </a:p>
          </p:txBody>
        </p:sp>
      </p:grpSp>
      <p:grpSp>
        <p:nvGrpSpPr>
          <p:cNvPr id="1032" name="Proves"/>
          <p:cNvGrpSpPr/>
          <p:nvPr/>
        </p:nvGrpSpPr>
        <p:grpSpPr>
          <a:xfrm>
            <a:off x="457200" y="4041648"/>
            <a:ext cx="8229600" cy="548640"/>
            <a:chOff x="457200" y="4041648"/>
            <a:chExt cx="8229600" cy="548640"/>
          </a:xfrm>
        </p:grpSpPr>
        <p:sp>
          <p:nvSpPr>
            <p:cNvPr id="1031" name="Proves band"/>
            <p:cNvSpPr/>
            <p:nvPr/>
          </p:nvSpPr>
          <p:spPr>
            <a:xfrm>
              <a:off x="457200" y="4041648"/>
              <a:ext cx="8229600" cy="548640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182880" tIns="0" rIns="182880" bIns="0" anchor="ctr">
              <a:noAutofit/>
            </a:bodyPr>
            <a:lstStyle/>
            <a:p>
              <a:pPr algn="l">
                <a:buNone/>
              </a:pPr>
              <a:r>
                <a:rPr lang="en-US" sz="850" b="1" i="0">
                  <a:solidFill>
                    <a:srgbClr val="CCFF00"/>
                  </a:solidFill>
                  <a:latin typeface="Calibri"/>
                </a:rPr>
                <a:t>WHAT IT PROVES  ·  FOR THE CIO AND THE ARCHITECT</a:t>
              </a:r>
              <a:endParaRPr lang="en-US" sz="800"/>
            </a:p>
            <a:p>
              <a:pPr algn="l">
                <a:buNone/>
              </a:pPr>
              <a:r>
                <a:rPr lang="en-US" sz="1200" b="1" i="0">
                  <a:solidFill>
                    <a:srgbClr val="FFFFFF"/>
                  </a:solidFill>
                  <a:latin typeface="Calibri"/>
                </a:rPr>
                <a:t>Identity decides what an agent can do, not code: a human approves card actions.</a:t>
              </a:r>
              <a:endParaRPr lang="en-US" sz="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WHY KONG  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What you saw removes the platform blockers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10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816" name="Label PRODUCTION REQUIREMENTS  ·  COVERED"/>
          <p:cNvSpPr txBox="1"/>
          <p:nvPr/>
        </p:nvSpPr>
        <p:spPr>
          <a:xfrm>
            <a:off x="502920" y="950976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PRODUCTION REQUIREMENTS  ·  COVERED</a:t>
            </a:r>
          </a:p>
        </p:txBody>
      </p:sp>
      <p:grpSp>
        <p:nvGrpSpPr>
          <p:cNvPr id="2" name="Coverage"/>
          <p:cNvGrpSpPr/>
          <p:nvPr/>
        </p:nvGrpSpPr>
        <p:grpSpPr>
          <a:xfrm>
            <a:off x="457200" y="1133856"/>
            <a:ext cx="4846320" cy="2775204"/>
            <a:chOff x="457200" y="1133856"/>
            <a:chExt cx="4846320" cy="2775204"/>
          </a:xfrm>
        </p:grpSpPr>
        <p:sp>
          <p:nvSpPr>
            <p:cNvPr id="817" name="Cov Connectivity &amp; traffic"/>
            <p:cNvSpPr/>
            <p:nvPr/>
          </p:nvSpPr>
          <p:spPr>
            <a:xfrm>
              <a:off x="457200" y="1133856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8" name="Icon FaRout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207008"/>
              <a:ext cx="164592" cy="164592"/>
            </a:xfrm>
            <a:prstGeom prst="rect">
              <a:avLst/>
            </a:prstGeom>
          </p:spPr>
        </p:pic>
        <p:sp>
          <p:nvSpPr>
            <p:cNvPr id="819" name="Cov Connectivity &amp; traffic name"/>
            <p:cNvSpPr txBox="1"/>
            <p:nvPr/>
          </p:nvSpPr>
          <p:spPr>
            <a:xfrm>
              <a:off x="786384" y="1133856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Connectivity &amp; traffic</a:t>
              </a:r>
            </a:p>
          </p:txBody>
        </p:sp>
        <p:sp>
          <p:nvSpPr>
            <p:cNvPr id="820" name="Cov Connectivity &amp; traffic how"/>
            <p:cNvSpPr txBox="1"/>
            <p:nvPr/>
          </p:nvSpPr>
          <p:spPr>
            <a:xfrm>
              <a:off x="2212848" y="1133856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AI Model · semantic routing · failover</a:t>
              </a:r>
            </a:p>
          </p:txBody>
        </p:sp>
        <p:sp>
          <p:nvSpPr>
            <p:cNvPr id="821" name="ACT 1 tag"/>
            <p:cNvSpPr/>
            <p:nvPr/>
          </p:nvSpPr>
          <p:spPr>
            <a:xfrm>
              <a:off x="4553712" y="1197864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1</a:t>
              </a:r>
            </a:p>
          </p:txBody>
        </p:sp>
        <p:sp>
          <p:nvSpPr>
            <p:cNvPr id="822" name="Tick"/>
            <p:cNvSpPr/>
            <p:nvPr/>
          </p:nvSpPr>
          <p:spPr>
            <a:xfrm>
              <a:off x="5120640" y="1207008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3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1248156"/>
              <a:ext cx="82296" cy="82296"/>
            </a:xfrm>
            <a:prstGeom prst="rect">
              <a:avLst/>
            </a:prstGeom>
          </p:spPr>
        </p:pic>
        <p:sp>
          <p:nvSpPr>
            <p:cNvPr id="824" name="Cov Security &amp; identity"/>
            <p:cNvSpPr/>
            <p:nvPr/>
          </p:nvSpPr>
          <p:spPr>
            <a:xfrm>
              <a:off x="457200" y="1485900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25" name="Icon FaLock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1559052"/>
              <a:ext cx="164592" cy="164592"/>
            </a:xfrm>
            <a:prstGeom prst="rect">
              <a:avLst/>
            </a:prstGeom>
          </p:spPr>
        </p:pic>
        <p:sp>
          <p:nvSpPr>
            <p:cNvPr id="826" name="Cov Security &amp; identity name"/>
            <p:cNvSpPr txBox="1"/>
            <p:nvPr/>
          </p:nvSpPr>
          <p:spPr>
            <a:xfrm>
              <a:off x="786384" y="1485900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Security &amp; identity</a:t>
              </a:r>
            </a:p>
          </p:txBody>
        </p:sp>
        <p:sp>
          <p:nvSpPr>
            <p:cNvPr id="827" name="Cov Security &amp; identity how"/>
            <p:cNvSpPr txBox="1"/>
            <p:nvPr/>
          </p:nvSpPr>
          <p:spPr>
            <a:xfrm>
              <a:off x="2212848" y="1485900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OIDC · ACL · PII sanitizer · prompt guards</a:t>
              </a:r>
            </a:p>
          </p:txBody>
        </p:sp>
        <p:sp>
          <p:nvSpPr>
            <p:cNvPr id="828" name="ACT 2 tag"/>
            <p:cNvSpPr/>
            <p:nvPr/>
          </p:nvSpPr>
          <p:spPr>
            <a:xfrm>
              <a:off x="4553712" y="1549908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2</a:t>
              </a:r>
            </a:p>
          </p:txBody>
        </p:sp>
        <p:sp>
          <p:nvSpPr>
            <p:cNvPr id="829" name="Tick"/>
            <p:cNvSpPr/>
            <p:nvPr/>
          </p:nvSpPr>
          <p:spPr>
            <a:xfrm>
              <a:off x="5120640" y="1559052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0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1600200"/>
              <a:ext cx="82296" cy="82296"/>
            </a:xfrm>
            <a:prstGeom prst="rect">
              <a:avLst/>
            </a:prstGeom>
          </p:spPr>
        </p:pic>
        <p:sp>
          <p:nvSpPr>
            <p:cNvPr id="831" name="Cov Model output"/>
            <p:cNvSpPr/>
            <p:nvPr/>
          </p:nvSpPr>
          <p:spPr>
            <a:xfrm>
              <a:off x="457200" y="1837943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2" name="Icon FaClipboardCheck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1911095"/>
              <a:ext cx="164592" cy="164592"/>
            </a:xfrm>
            <a:prstGeom prst="rect">
              <a:avLst/>
            </a:prstGeom>
          </p:spPr>
        </p:pic>
        <p:sp>
          <p:nvSpPr>
            <p:cNvPr id="833" name="Cov Model output name"/>
            <p:cNvSpPr txBox="1"/>
            <p:nvPr/>
          </p:nvSpPr>
          <p:spPr>
            <a:xfrm>
              <a:off x="786384" y="1837943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Model output</a:t>
              </a:r>
            </a:p>
          </p:txBody>
        </p:sp>
        <p:sp>
          <p:nvSpPr>
            <p:cNvPr id="834" name="Cov Model output how"/>
            <p:cNvSpPr txBox="1"/>
            <p:nvPr/>
          </p:nvSpPr>
          <p:spPr>
            <a:xfrm>
              <a:off x="2212848" y="1837943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response guard · LLM as judge · NeMo</a:t>
              </a:r>
            </a:p>
          </p:txBody>
        </p:sp>
        <p:sp>
          <p:nvSpPr>
            <p:cNvPr id="835" name="ACT 2 tag"/>
            <p:cNvSpPr/>
            <p:nvPr/>
          </p:nvSpPr>
          <p:spPr>
            <a:xfrm>
              <a:off x="4553712" y="1901951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2</a:t>
              </a:r>
            </a:p>
          </p:txBody>
        </p:sp>
        <p:sp>
          <p:nvSpPr>
            <p:cNvPr id="836" name="Tick"/>
            <p:cNvSpPr/>
            <p:nvPr/>
          </p:nvSpPr>
          <p:spPr>
            <a:xfrm>
              <a:off x="5120640" y="1911095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7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1952243"/>
              <a:ext cx="82296" cy="82296"/>
            </a:xfrm>
            <a:prstGeom prst="rect">
              <a:avLst/>
            </a:prstGeom>
          </p:spPr>
        </p:pic>
        <p:sp>
          <p:nvSpPr>
            <p:cNvPr id="838" name="Cov Risk &amp; compliance"/>
            <p:cNvSpPr/>
            <p:nvPr/>
          </p:nvSpPr>
          <p:spPr>
            <a:xfrm>
              <a:off x="457200" y="2189988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9" name="Icon FaUserShield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8640" y="2263140"/>
              <a:ext cx="164592" cy="164592"/>
            </a:xfrm>
            <a:prstGeom prst="rect">
              <a:avLst/>
            </a:prstGeom>
          </p:spPr>
        </p:pic>
        <p:sp>
          <p:nvSpPr>
            <p:cNvPr id="840" name="Cov Risk &amp; compliance name"/>
            <p:cNvSpPr txBox="1"/>
            <p:nvPr/>
          </p:nvSpPr>
          <p:spPr>
            <a:xfrm>
              <a:off x="786384" y="2189988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Risk &amp; compliance</a:t>
              </a:r>
            </a:p>
          </p:txBody>
        </p:sp>
        <p:sp>
          <p:nvSpPr>
            <p:cNvPr id="841" name="Cov Risk &amp; compliance how"/>
            <p:cNvSpPr txBox="1"/>
            <p:nvPr/>
          </p:nvSpPr>
          <p:spPr>
            <a:xfrm>
              <a:off x="2212848" y="2189988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on-prem data path · audit logs → SIEM</a:t>
              </a:r>
            </a:p>
          </p:txBody>
        </p:sp>
        <p:sp>
          <p:nvSpPr>
            <p:cNvPr id="842" name="ACT 2 tag"/>
            <p:cNvSpPr/>
            <p:nvPr/>
          </p:nvSpPr>
          <p:spPr>
            <a:xfrm>
              <a:off x="4553712" y="2253996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2</a:t>
              </a:r>
            </a:p>
          </p:txBody>
        </p:sp>
        <p:sp>
          <p:nvSpPr>
            <p:cNvPr id="843" name="Tick"/>
            <p:cNvSpPr/>
            <p:nvPr/>
          </p:nvSpPr>
          <p:spPr>
            <a:xfrm>
              <a:off x="5120640" y="2263140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4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2304288"/>
              <a:ext cx="82296" cy="82296"/>
            </a:xfrm>
            <a:prstGeom prst="rect">
              <a:avLst/>
            </a:prstGeom>
          </p:spPr>
        </p:pic>
        <p:sp>
          <p:nvSpPr>
            <p:cNvPr id="845" name="Cov Tokenomics"/>
            <p:cNvSpPr/>
            <p:nvPr/>
          </p:nvSpPr>
          <p:spPr>
            <a:xfrm>
              <a:off x="457200" y="2542032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6" name="Icon FaCoins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8640" y="2615184"/>
              <a:ext cx="164592" cy="164592"/>
            </a:xfrm>
            <a:prstGeom prst="rect">
              <a:avLst/>
            </a:prstGeom>
          </p:spPr>
        </p:pic>
        <p:sp>
          <p:nvSpPr>
            <p:cNvPr id="847" name="Cov Tokenomics name"/>
            <p:cNvSpPr txBox="1"/>
            <p:nvPr/>
          </p:nvSpPr>
          <p:spPr>
            <a:xfrm>
              <a:off x="786384" y="2542032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Tokenomics</a:t>
              </a:r>
            </a:p>
          </p:txBody>
        </p:sp>
        <p:sp>
          <p:nvSpPr>
            <p:cNvPr id="848" name="Cov Tokenomics how"/>
            <p:cNvSpPr txBox="1"/>
            <p:nvPr/>
          </p:nvSpPr>
          <p:spPr>
            <a:xfrm>
              <a:off x="2212848" y="2542032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token budgets · semantic cache · chargeback</a:t>
              </a:r>
            </a:p>
          </p:txBody>
        </p:sp>
        <p:sp>
          <p:nvSpPr>
            <p:cNvPr id="849" name="ACT 3 tag"/>
            <p:cNvSpPr/>
            <p:nvPr/>
          </p:nvSpPr>
          <p:spPr>
            <a:xfrm>
              <a:off x="4553712" y="2606040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3</a:t>
              </a:r>
            </a:p>
          </p:txBody>
        </p:sp>
        <p:sp>
          <p:nvSpPr>
            <p:cNvPr id="850" name="Tick"/>
            <p:cNvSpPr/>
            <p:nvPr/>
          </p:nvSpPr>
          <p:spPr>
            <a:xfrm>
              <a:off x="5120640" y="2615184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1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2656332"/>
              <a:ext cx="82296" cy="82296"/>
            </a:xfrm>
            <a:prstGeom prst="rect">
              <a:avLst/>
            </a:prstGeom>
          </p:spPr>
        </p:pic>
        <p:sp>
          <p:nvSpPr>
            <p:cNvPr id="852" name="Cov Agentic control"/>
            <p:cNvSpPr/>
            <p:nvPr/>
          </p:nvSpPr>
          <p:spPr>
            <a:xfrm>
              <a:off x="457200" y="2894076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3" name="Icon FaRobot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640" y="2967228"/>
              <a:ext cx="164592" cy="164592"/>
            </a:xfrm>
            <a:prstGeom prst="rect">
              <a:avLst/>
            </a:prstGeom>
          </p:spPr>
        </p:pic>
        <p:sp>
          <p:nvSpPr>
            <p:cNvPr id="854" name="Cov Agentic control name"/>
            <p:cNvSpPr txBox="1"/>
            <p:nvPr/>
          </p:nvSpPr>
          <p:spPr>
            <a:xfrm>
              <a:off x="786384" y="2894076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Agentic control</a:t>
              </a:r>
            </a:p>
          </p:txBody>
        </p:sp>
        <p:sp>
          <p:nvSpPr>
            <p:cNvPr id="855" name="Cov Agentic control how"/>
            <p:cNvSpPr txBox="1"/>
            <p:nvPr/>
          </p:nvSpPr>
          <p:spPr>
            <a:xfrm>
              <a:off x="2212848" y="2894076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AI MCP Server · tool ACLs · A2A</a:t>
              </a:r>
            </a:p>
          </p:txBody>
        </p:sp>
        <p:sp>
          <p:nvSpPr>
            <p:cNvPr id="856" name="ACT 4 tag"/>
            <p:cNvSpPr/>
            <p:nvPr/>
          </p:nvSpPr>
          <p:spPr>
            <a:xfrm>
              <a:off x="4553712" y="2958084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4</a:t>
              </a:r>
            </a:p>
          </p:txBody>
        </p:sp>
        <p:sp>
          <p:nvSpPr>
            <p:cNvPr id="857" name="Tick"/>
            <p:cNvSpPr/>
            <p:nvPr/>
          </p:nvSpPr>
          <p:spPr>
            <a:xfrm>
              <a:off x="5120640" y="2967228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8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3008376"/>
              <a:ext cx="82296" cy="82296"/>
            </a:xfrm>
            <a:prstGeom prst="rect">
              <a:avLst/>
            </a:prstGeom>
          </p:spPr>
        </p:pic>
        <p:sp>
          <p:nvSpPr>
            <p:cNvPr id="859" name="Cov Observability"/>
            <p:cNvSpPr/>
            <p:nvPr/>
          </p:nvSpPr>
          <p:spPr>
            <a:xfrm>
              <a:off x="457200" y="3246120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0" name="Icon FaChartBar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8640" y="3319272"/>
              <a:ext cx="164592" cy="164592"/>
            </a:xfrm>
            <a:prstGeom prst="rect">
              <a:avLst/>
            </a:prstGeom>
          </p:spPr>
        </p:pic>
        <p:sp>
          <p:nvSpPr>
            <p:cNvPr id="861" name="Cov Observability name"/>
            <p:cNvSpPr txBox="1"/>
            <p:nvPr/>
          </p:nvSpPr>
          <p:spPr>
            <a:xfrm>
              <a:off x="786384" y="3246120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Observability</a:t>
              </a:r>
            </a:p>
          </p:txBody>
        </p:sp>
        <p:sp>
          <p:nvSpPr>
            <p:cNvPr id="862" name="Cov Observability how"/>
            <p:cNvSpPr txBox="1"/>
            <p:nvPr/>
          </p:nvSpPr>
          <p:spPr>
            <a:xfrm>
              <a:off x="2212848" y="3246120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Analytics · OpenTelemetry · Prometheus</a:t>
              </a:r>
            </a:p>
          </p:txBody>
        </p:sp>
        <p:sp>
          <p:nvSpPr>
            <p:cNvPr id="863" name="ACT 3 tag"/>
            <p:cNvSpPr/>
            <p:nvPr/>
          </p:nvSpPr>
          <p:spPr>
            <a:xfrm>
              <a:off x="4553712" y="3310127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3</a:t>
              </a:r>
            </a:p>
          </p:txBody>
        </p:sp>
        <p:sp>
          <p:nvSpPr>
            <p:cNvPr id="864" name="Tick"/>
            <p:cNvSpPr/>
            <p:nvPr/>
          </p:nvSpPr>
          <p:spPr>
            <a:xfrm>
              <a:off x="5120640" y="3319272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5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3360420"/>
              <a:ext cx="82296" cy="82296"/>
            </a:xfrm>
            <a:prstGeom prst="rect">
              <a:avLst/>
            </a:prstGeom>
          </p:spPr>
        </p:pic>
        <p:sp>
          <p:nvSpPr>
            <p:cNvPr id="866" name="Cov Integration &amp; continuity"/>
            <p:cNvSpPr/>
            <p:nvPr/>
          </p:nvSpPr>
          <p:spPr>
            <a:xfrm>
              <a:off x="457200" y="3598164"/>
              <a:ext cx="4846320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7" name="Icon FaPuzzlePiece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8640" y="3671316"/>
              <a:ext cx="164592" cy="164592"/>
            </a:xfrm>
            <a:prstGeom prst="rect">
              <a:avLst/>
            </a:prstGeom>
          </p:spPr>
        </p:pic>
        <p:sp>
          <p:nvSpPr>
            <p:cNvPr id="868" name="Cov Integration &amp; continuity name"/>
            <p:cNvSpPr txBox="1"/>
            <p:nvPr/>
          </p:nvSpPr>
          <p:spPr>
            <a:xfrm>
              <a:off x="786384" y="3598164"/>
              <a:ext cx="14173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Integration &amp; continuity</a:t>
              </a:r>
            </a:p>
          </p:txBody>
        </p:sp>
        <p:sp>
          <p:nvSpPr>
            <p:cNvPr id="869" name="Cov Integration &amp; continuity how"/>
            <p:cNvSpPr txBox="1"/>
            <p:nvPr/>
          </p:nvSpPr>
          <p:spPr>
            <a:xfrm>
              <a:off x="2212848" y="3598164"/>
              <a:ext cx="2331720" cy="31089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Kubernetes · IdP · Vault · HA / DR</a:t>
              </a:r>
            </a:p>
          </p:txBody>
        </p:sp>
        <p:sp>
          <p:nvSpPr>
            <p:cNvPr id="870" name="ACT 1 tag"/>
            <p:cNvSpPr/>
            <p:nvPr/>
          </p:nvSpPr>
          <p:spPr>
            <a:xfrm>
              <a:off x="4553712" y="3662172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sz="900" b="1" i="0">
                  <a:solidFill>
                    <a:srgbClr val="FFFFFF"/>
                  </a:solidFill>
                  <a:latin typeface="Calibri"/>
                </a:rPr>
                <a:t>ACT 1</a:t>
              </a:r>
            </a:p>
          </p:txBody>
        </p:sp>
        <p:sp>
          <p:nvSpPr>
            <p:cNvPr id="871" name="Tick"/>
            <p:cNvSpPr/>
            <p:nvPr/>
          </p:nvSpPr>
          <p:spPr>
            <a:xfrm>
              <a:off x="5120640" y="3671316"/>
              <a:ext cx="164592" cy="16459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2" name="Icon Fa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788" y="3712464"/>
              <a:ext cx="82296" cy="82296"/>
            </a:xfrm>
            <a:prstGeom prst="rect">
              <a:avLst/>
            </a:prstGeom>
          </p:spPr>
        </p:pic>
      </p:grpSp>
      <p:grpSp>
        <p:nvGrpSpPr>
          <p:cNvPr id="3" name="Why Kong"/>
          <p:cNvGrpSpPr/>
          <p:nvPr/>
        </p:nvGrpSpPr>
        <p:grpSpPr>
          <a:xfrm>
            <a:off x="5486400" y="950976"/>
            <a:ext cx="3200400" cy="2935224"/>
            <a:chOff x="5486400" y="950976"/>
            <a:chExt cx="3200400" cy="2935224"/>
          </a:xfrm>
        </p:grpSpPr>
        <p:sp>
          <p:nvSpPr>
            <p:cNvPr id="873" name="Label WHY KONG FOR THE AI FACTORY"/>
            <p:cNvSpPr txBox="1"/>
            <p:nvPr/>
          </p:nvSpPr>
          <p:spPr>
            <a:xfrm>
              <a:off x="5486400" y="950976"/>
              <a:ext cx="31089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WHY KONG FOR THE AI FACTORY</a:t>
              </a:r>
            </a:p>
          </p:txBody>
        </p:sp>
        <p:sp>
          <p:nvSpPr>
            <p:cNvPr id="874" name="Why One layer for every AI type"/>
            <p:cNvSpPr/>
            <p:nvPr/>
          </p:nvSpPr>
          <p:spPr>
            <a:xfrm>
              <a:off x="5486400" y="1133856"/>
              <a:ext cx="3200400" cy="640080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5" name="Why One layer for every AI type badge badge"/>
            <p:cNvSpPr/>
            <p:nvPr/>
          </p:nvSpPr>
          <p:spPr>
            <a:xfrm>
              <a:off x="5577840" y="1271016"/>
              <a:ext cx="365760" cy="365760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6" name="Why One layer for every AI type badge icon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65622" y="1358798"/>
              <a:ext cx="190195" cy="190195"/>
            </a:xfrm>
            <a:prstGeom prst="rect">
              <a:avLst/>
            </a:prstGeom>
          </p:spPr>
        </p:pic>
        <p:sp>
          <p:nvSpPr>
            <p:cNvPr id="877" name="Why One layer for every AI type title"/>
            <p:cNvSpPr txBox="1"/>
            <p:nvPr/>
          </p:nvSpPr>
          <p:spPr>
            <a:xfrm>
              <a:off x="6035040" y="1188720"/>
              <a:ext cx="2606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One layer for every AI type</a:t>
              </a:r>
            </a:p>
          </p:txBody>
        </p:sp>
        <p:sp>
          <p:nvSpPr>
            <p:cNvPr id="878" name="Why One layer for every AI type desc"/>
            <p:cNvSpPr txBox="1"/>
            <p:nvPr/>
          </p:nvSpPr>
          <p:spPr>
            <a:xfrm>
              <a:off x="6035040" y="1389888"/>
              <a:ext cx="26060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4B5650"/>
                  </a:solidFill>
                  <a:latin typeface="Calibri"/>
                </a:rPr>
                <a:t>LLMs, embeddings, MCP tools and A2A agents under </a:t>
              </a:r>
              <a:r>
                <a:rPr sz="1100" b="1" i="0">
                  <a:solidFill>
                    <a:srgbClr val="001408"/>
                  </a:solidFill>
                  <a:latin typeface="Calibri"/>
                </a:rPr>
                <a:t>one policy model</a:t>
              </a:r>
              <a:r>
                <a:rPr sz="1100" b="0" i="0">
                  <a:solidFill>
                    <a:srgbClr val="4B5650"/>
                  </a:solidFill>
                  <a:latin typeface="Calibri"/>
                </a:rPr>
                <a:t>.</a:t>
              </a:r>
            </a:p>
          </p:txBody>
        </p:sp>
        <p:sp>
          <p:nvSpPr>
            <p:cNvPr id="879" name="Why Hybrid by design"/>
            <p:cNvSpPr/>
            <p:nvPr/>
          </p:nvSpPr>
          <p:spPr>
            <a:xfrm>
              <a:off x="5486400" y="1837943"/>
              <a:ext cx="3200400" cy="640080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0" name="Why Hybrid by design badge badge"/>
            <p:cNvSpPr/>
            <p:nvPr/>
          </p:nvSpPr>
          <p:spPr>
            <a:xfrm>
              <a:off x="5577840" y="1975103"/>
              <a:ext cx="365760" cy="365760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1" name="Why Hybrid by design badge icon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65622" y="2062886"/>
              <a:ext cx="190195" cy="190195"/>
            </a:xfrm>
            <a:prstGeom prst="rect">
              <a:avLst/>
            </a:prstGeom>
          </p:spPr>
        </p:pic>
        <p:sp>
          <p:nvSpPr>
            <p:cNvPr id="882" name="Why Hybrid by design title"/>
            <p:cNvSpPr txBox="1"/>
            <p:nvPr/>
          </p:nvSpPr>
          <p:spPr>
            <a:xfrm>
              <a:off x="6035040" y="1892807"/>
              <a:ext cx="2606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Hybrid by design</a:t>
              </a:r>
            </a:p>
          </p:txBody>
        </p:sp>
        <p:sp>
          <p:nvSpPr>
            <p:cNvPr id="883" name="Why Hybrid by design desc"/>
            <p:cNvSpPr txBox="1"/>
            <p:nvPr/>
          </p:nvSpPr>
          <p:spPr>
            <a:xfrm>
              <a:off x="6035040" y="2093976"/>
              <a:ext cx="26060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4B5650"/>
                  </a:solidFill>
                  <a:latin typeface="Calibri"/>
                </a:rPr>
                <a:t>SaaS control, on-prem data path; </a:t>
              </a:r>
              <a:r>
                <a:rPr sz="1100" b="1" i="0">
                  <a:solidFill>
                    <a:srgbClr val="001408"/>
                  </a:solidFill>
                  <a:latin typeface="Calibri"/>
                </a:rPr>
                <a:t>keeps serving if the link drops</a:t>
              </a:r>
              <a:r>
                <a:rPr sz="1100" b="0" i="0">
                  <a:solidFill>
                    <a:srgbClr val="4B5650"/>
                  </a:solidFill>
                  <a:latin typeface="Calibri"/>
                </a:rPr>
                <a:t>.</a:t>
              </a:r>
            </a:p>
          </p:txBody>
        </p:sp>
        <p:sp>
          <p:nvSpPr>
            <p:cNvPr id="884" name="Why Open and model-agnostic"/>
            <p:cNvSpPr/>
            <p:nvPr/>
          </p:nvSpPr>
          <p:spPr>
            <a:xfrm>
              <a:off x="5486400" y="2542032"/>
              <a:ext cx="3200400" cy="640080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5" name="Why Open and model-agnostic badge badge"/>
            <p:cNvSpPr/>
            <p:nvPr/>
          </p:nvSpPr>
          <p:spPr>
            <a:xfrm>
              <a:off x="5577840" y="2679192"/>
              <a:ext cx="365760" cy="365760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6" name="Why Open and model-agnostic badge icon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665622" y="2766974"/>
              <a:ext cx="190195" cy="190195"/>
            </a:xfrm>
            <a:prstGeom prst="rect">
              <a:avLst/>
            </a:prstGeom>
          </p:spPr>
        </p:pic>
        <p:sp>
          <p:nvSpPr>
            <p:cNvPr id="887" name="Why Open and model-agnostic title"/>
            <p:cNvSpPr txBox="1"/>
            <p:nvPr/>
          </p:nvSpPr>
          <p:spPr>
            <a:xfrm>
              <a:off x="6035040" y="2596896"/>
              <a:ext cx="2606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Open and model-agnostic</a:t>
              </a:r>
            </a:p>
          </p:txBody>
        </p:sp>
        <p:sp>
          <p:nvSpPr>
            <p:cNvPr id="888" name="Why Open and model-agnostic desc"/>
            <p:cNvSpPr txBox="1"/>
            <p:nvPr/>
          </p:nvSpPr>
          <p:spPr>
            <a:xfrm>
              <a:off x="6035040" y="2798064"/>
              <a:ext cx="26060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20 providers</a:t>
              </a:r>
              <a:r>
                <a:rPr sz="1100" b="0" i="0">
                  <a:solidFill>
                    <a:srgbClr val="4B5650"/>
                  </a:solidFill>
                  <a:latin typeface="Calibri"/>
                </a:rPr>
                <a:t> incl. vLLM and Ollama; partner guardrails incl. NVIDIA NeMo.</a:t>
              </a:r>
            </a:p>
          </p:txBody>
        </p:sp>
        <p:sp>
          <p:nvSpPr>
            <p:cNvPr id="889" name="Why One platform for APIs, events and AI"/>
            <p:cNvSpPr/>
            <p:nvPr/>
          </p:nvSpPr>
          <p:spPr>
            <a:xfrm>
              <a:off x="5486400" y="3246120"/>
              <a:ext cx="3200400" cy="640080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0" name="Why One platform for APIs, events and AI badge badge"/>
            <p:cNvSpPr/>
            <p:nvPr/>
          </p:nvSpPr>
          <p:spPr>
            <a:xfrm>
              <a:off x="5577840" y="3383279"/>
              <a:ext cx="365760" cy="365760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1" name="Why One platform for APIs, events and AI badge icon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665622" y="3471062"/>
              <a:ext cx="190195" cy="190195"/>
            </a:xfrm>
            <a:prstGeom prst="rect">
              <a:avLst/>
            </a:prstGeom>
          </p:spPr>
        </p:pic>
        <p:sp>
          <p:nvSpPr>
            <p:cNvPr id="892" name="Why One platform for APIs, events and AI title"/>
            <p:cNvSpPr txBox="1"/>
            <p:nvPr/>
          </p:nvSpPr>
          <p:spPr>
            <a:xfrm>
              <a:off x="6035040" y="3300984"/>
              <a:ext cx="2606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One platform for APIs, events and AI</a:t>
              </a:r>
            </a:p>
          </p:txBody>
        </p:sp>
        <p:sp>
          <p:nvSpPr>
            <p:cNvPr id="893" name="Why One platform for APIs, events and AI desc"/>
            <p:cNvSpPr txBox="1"/>
            <p:nvPr/>
          </p:nvSpPr>
          <p:spPr>
            <a:xfrm>
              <a:off x="6035040" y="3502152"/>
              <a:ext cx="26060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4B5650"/>
                  </a:solidFill>
                  <a:latin typeface="Calibri"/>
                </a:rPr>
                <a:t>Konnect runs GNB’s </a:t>
              </a:r>
              <a:r>
                <a:rPr sz="1100" b="1" i="0">
                  <a:solidFill>
                    <a:srgbClr val="001408"/>
                  </a:solidFill>
                  <a:latin typeface="Calibri"/>
                </a:rPr>
                <a:t>APIs and events too</a:t>
              </a:r>
              <a:r>
                <a:rPr sz="1100" b="0" i="0">
                  <a:solidFill>
                    <a:srgbClr val="4B5650"/>
                  </a:solidFill>
                  <a:latin typeface="Calibri"/>
                </a:rPr>
                <a:t>; agent tools are those same APIs.</a:t>
              </a:r>
            </a:p>
          </p:txBody>
        </p:sp>
      </p:grpSp>
      <p:grpSp>
        <p:nvGrpSpPr>
          <p:cNvPr id="4" name="Next steps"/>
          <p:cNvGrpSpPr/>
          <p:nvPr/>
        </p:nvGrpSpPr>
        <p:grpSpPr>
          <a:xfrm>
            <a:off x="457200" y="4023360"/>
            <a:ext cx="8229600" cy="603504"/>
            <a:chOff x="457200" y="4023360"/>
            <a:chExt cx="8229600" cy="603504"/>
          </a:xfrm>
        </p:grpSpPr>
        <p:sp>
          <p:nvSpPr>
            <p:cNvPr id="894" name="Next band"/>
            <p:cNvSpPr/>
            <p:nvPr/>
          </p:nvSpPr>
          <p:spPr>
            <a:xfrm>
              <a:off x="457200" y="4023360"/>
              <a:ext cx="8229600" cy="603504"/>
            </a:xfrm>
            <a:prstGeom prst="roundRect">
              <a:avLst>
                <a:gd name="adj" fmla="val 8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5" name="Next label"/>
            <p:cNvSpPr txBox="1"/>
            <p:nvPr/>
          </p:nvSpPr>
          <p:spPr>
            <a:xfrm>
              <a:off x="603504" y="4023360"/>
              <a:ext cx="137160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NEXT STEPS</a:t>
              </a:r>
            </a:p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TO PRODUCTION</a:t>
              </a:r>
            </a:p>
          </p:txBody>
        </p:sp>
        <p:sp>
          <p:nvSpPr>
            <p:cNvPr id="896" name="Next 1"/>
            <p:cNvSpPr/>
            <p:nvPr/>
          </p:nvSpPr>
          <p:spPr>
            <a:xfrm>
              <a:off x="1920240" y="418795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7" name="Next 1 n"/>
            <p:cNvSpPr txBox="1"/>
            <p:nvPr/>
          </p:nvSpPr>
          <p:spPr>
            <a:xfrm>
              <a:off x="1920240" y="4187952"/>
              <a:ext cx="27432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1</a:t>
              </a:r>
            </a:p>
          </p:txBody>
        </p:sp>
        <p:sp>
          <p:nvSpPr>
            <p:cNvPr id="898" name="Next 1 text"/>
            <p:cNvSpPr txBox="1"/>
            <p:nvPr/>
          </p:nvSpPr>
          <p:spPr>
            <a:xfrm>
              <a:off x="2267712" y="4163529"/>
              <a:ext cx="1828800" cy="3231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 dirty="0">
                  <a:solidFill>
                    <a:srgbClr val="FFFFFF"/>
                  </a:solidFill>
                  <a:latin typeface="Calibri"/>
                </a:rPr>
                <a:t>Architecture and sizing, validated on GNB infrastructure</a:t>
              </a:r>
            </a:p>
          </p:txBody>
        </p:sp>
        <p:sp>
          <p:nvSpPr>
            <p:cNvPr id="899" name="Next 2"/>
            <p:cNvSpPr/>
            <p:nvPr/>
          </p:nvSpPr>
          <p:spPr>
            <a:xfrm>
              <a:off x="4178808" y="418795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0" name="Next 2 n"/>
            <p:cNvSpPr txBox="1"/>
            <p:nvPr/>
          </p:nvSpPr>
          <p:spPr>
            <a:xfrm>
              <a:off x="4178808" y="4187952"/>
              <a:ext cx="27432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2</a:t>
              </a:r>
            </a:p>
          </p:txBody>
        </p:sp>
        <p:sp>
          <p:nvSpPr>
            <p:cNvPr id="901" name="Next 2 text"/>
            <p:cNvSpPr txBox="1"/>
            <p:nvPr/>
          </p:nvSpPr>
          <p:spPr>
            <a:xfrm>
              <a:off x="4526280" y="4163529"/>
              <a:ext cx="1828800" cy="3231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 dirty="0">
                  <a:solidFill>
                    <a:srgbClr val="FFFFFF"/>
                  </a:solidFill>
                  <a:latin typeface="Calibri"/>
                </a:rPr>
                <a:t>Commercial proposal for the AI connectivity layer</a:t>
              </a:r>
            </a:p>
          </p:txBody>
        </p:sp>
        <p:sp>
          <p:nvSpPr>
            <p:cNvPr id="902" name="Next 3"/>
            <p:cNvSpPr/>
            <p:nvPr/>
          </p:nvSpPr>
          <p:spPr>
            <a:xfrm>
              <a:off x="6437376" y="4187952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3" name="Next 3 n"/>
            <p:cNvSpPr txBox="1"/>
            <p:nvPr/>
          </p:nvSpPr>
          <p:spPr>
            <a:xfrm>
              <a:off x="6437376" y="4187952"/>
              <a:ext cx="27432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3</a:t>
              </a:r>
            </a:p>
          </p:txBody>
        </p:sp>
        <p:sp>
          <p:nvSpPr>
            <p:cNvPr id="904" name="Next 3 text"/>
            <p:cNvSpPr txBox="1"/>
            <p:nvPr/>
          </p:nvSpPr>
          <p:spPr>
            <a:xfrm>
              <a:off x="6784848" y="4163529"/>
              <a:ext cx="1828800" cy="3231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 dirty="0">
                  <a:solidFill>
                    <a:srgbClr val="FFFFFF"/>
                  </a:solidFill>
                  <a:latin typeface="Calibri"/>
                </a:rPr>
                <a:t>First two use cases live with your SI partner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VALUE  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What the connectivity layer is worth to GNB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816" name="Label USE-CASE KPIs SET BY THE BANK  ·  REACHABLE ONLY ONCE THE USE CASE IS IN PRODUCTION  (ILLUSTRATIVE)"/>
          <p:cNvSpPr txBox="1"/>
          <p:nvPr/>
        </p:nvSpPr>
        <p:spPr>
          <a:xfrm>
            <a:off x="502920" y="950976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4A8500"/>
                </a:solidFill>
                <a:latin typeface="Calibri"/>
              </a:rPr>
              <a:t>USE-CASE KPIs SET BY THE BANK  ·  REACHABLE ONLY ONCE THE USE CASE IS IN PRODUCTION </a:t>
            </a:r>
          </a:p>
        </p:txBody>
      </p:sp>
      <p:grpSp>
        <p:nvGrpSpPr>
          <p:cNvPr id="2" name="KPI strip"/>
          <p:cNvGrpSpPr/>
          <p:nvPr/>
        </p:nvGrpSpPr>
        <p:grpSpPr>
          <a:xfrm>
            <a:off x="457200" y="1133856"/>
            <a:ext cx="8247888" cy="566928"/>
            <a:chOff x="457200" y="1133856"/>
            <a:chExt cx="8247888" cy="566928"/>
          </a:xfrm>
        </p:grpSpPr>
        <p:sp>
          <p:nvSpPr>
            <p:cNvPr id="817" name="KPI Arabic copilot"/>
            <p:cNvSpPr/>
            <p:nvPr/>
          </p:nvSpPr>
          <p:spPr>
            <a:xfrm>
              <a:off x="457200" y="1133856"/>
              <a:ext cx="1993392" cy="566928"/>
            </a:xfrm>
            <a:prstGeom prst="roundRect">
              <a:avLst>
                <a:gd name="adj" fmla="val 8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KPI Arabic copilot value"/>
            <p:cNvSpPr txBox="1"/>
            <p:nvPr/>
          </p:nvSpPr>
          <p:spPr>
            <a:xfrm>
              <a:off x="548640" y="1152144"/>
              <a:ext cx="7772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+15%</a:t>
              </a:r>
            </a:p>
          </p:txBody>
        </p:sp>
        <p:sp>
          <p:nvSpPr>
            <p:cNvPr id="819" name="KPI Arabic copilot label"/>
            <p:cNvSpPr txBox="1"/>
            <p:nvPr/>
          </p:nvSpPr>
          <p:spPr>
            <a:xfrm>
              <a:off x="1298448" y="1170432"/>
              <a:ext cx="1115568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self-service containment</a:t>
              </a:r>
            </a:p>
          </p:txBody>
        </p:sp>
        <p:sp>
          <p:nvSpPr>
            <p:cNvPr id="820" name="KPI Arabic copilot uc"/>
            <p:cNvSpPr txBox="1"/>
            <p:nvPr/>
          </p:nvSpPr>
          <p:spPr>
            <a:xfrm>
              <a:off x="548640" y="1481328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Arabic copilot  ·  </a:t>
              </a:r>
              <a:r>
                <a:rPr sz="800" b="1" i="0">
                  <a:solidFill>
                    <a:srgbClr val="6B7069"/>
                  </a:solidFill>
                  <a:latin typeface="Calibri"/>
                </a:rPr>
                <a:t>GENERATIVE</a:t>
              </a:r>
            </a:p>
          </p:txBody>
        </p:sp>
        <p:sp>
          <p:nvSpPr>
            <p:cNvPr id="821" name="KPI Credit memo"/>
            <p:cNvSpPr/>
            <p:nvPr/>
          </p:nvSpPr>
          <p:spPr>
            <a:xfrm>
              <a:off x="2542032" y="1133856"/>
              <a:ext cx="1993392" cy="566928"/>
            </a:xfrm>
            <a:prstGeom prst="roundRect">
              <a:avLst>
                <a:gd name="adj" fmla="val 8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2" name="KPI Credit memo value"/>
            <p:cNvSpPr txBox="1"/>
            <p:nvPr/>
          </p:nvSpPr>
          <p:spPr>
            <a:xfrm>
              <a:off x="2633472" y="1152144"/>
              <a:ext cx="7772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−40%</a:t>
              </a:r>
            </a:p>
          </p:txBody>
        </p:sp>
        <p:sp>
          <p:nvSpPr>
            <p:cNvPr id="823" name="KPI Credit memo label"/>
            <p:cNvSpPr txBox="1"/>
            <p:nvPr/>
          </p:nvSpPr>
          <p:spPr>
            <a:xfrm>
              <a:off x="3383279" y="1170432"/>
              <a:ext cx="1115568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credit memo drafting time</a:t>
              </a:r>
            </a:p>
          </p:txBody>
        </p:sp>
        <p:sp>
          <p:nvSpPr>
            <p:cNvPr id="824" name="KPI Credit memo uc"/>
            <p:cNvSpPr txBox="1"/>
            <p:nvPr/>
          </p:nvSpPr>
          <p:spPr>
            <a:xfrm>
              <a:off x="2633472" y="1481328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Credit memo  ·  </a:t>
              </a:r>
              <a:r>
                <a:rPr sz="800" b="1" i="0">
                  <a:solidFill>
                    <a:srgbClr val="6B7069"/>
                  </a:solidFill>
                  <a:latin typeface="Calibri"/>
                </a:rPr>
                <a:t>GENERATIVE</a:t>
              </a:r>
            </a:p>
          </p:txBody>
        </p:sp>
        <p:sp>
          <p:nvSpPr>
            <p:cNvPr id="825" name="KPI Card-ops agent"/>
            <p:cNvSpPr/>
            <p:nvPr/>
          </p:nvSpPr>
          <p:spPr>
            <a:xfrm>
              <a:off x="4626864" y="1133856"/>
              <a:ext cx="1993392" cy="566928"/>
            </a:xfrm>
            <a:prstGeom prst="roundRect">
              <a:avLst>
                <a:gd name="adj" fmla="val 8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6" name="KPI Card-ops agent value"/>
            <p:cNvSpPr txBox="1"/>
            <p:nvPr/>
          </p:nvSpPr>
          <p:spPr>
            <a:xfrm>
              <a:off x="4718303" y="1152144"/>
              <a:ext cx="7772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−50%</a:t>
              </a:r>
            </a:p>
          </p:txBody>
        </p:sp>
        <p:sp>
          <p:nvSpPr>
            <p:cNvPr id="827" name="KPI Card-ops agent label"/>
            <p:cNvSpPr txBox="1"/>
            <p:nvPr/>
          </p:nvSpPr>
          <p:spPr>
            <a:xfrm>
              <a:off x="5468112" y="1170432"/>
              <a:ext cx="1115568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card dispute resolution time</a:t>
              </a:r>
            </a:p>
          </p:txBody>
        </p:sp>
        <p:sp>
          <p:nvSpPr>
            <p:cNvPr id="828" name="KPI Card-ops agent uc"/>
            <p:cNvSpPr txBox="1"/>
            <p:nvPr/>
          </p:nvSpPr>
          <p:spPr>
            <a:xfrm>
              <a:off x="4718303" y="1481328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Card-ops agent  ·  </a:t>
              </a:r>
              <a:r>
                <a:rPr sz="800" b="1" i="0">
                  <a:solidFill>
                    <a:srgbClr val="6B7069"/>
                  </a:solidFill>
                  <a:latin typeface="Calibri"/>
                </a:rPr>
                <a:t>AGENTIC</a:t>
              </a:r>
            </a:p>
          </p:txBody>
        </p:sp>
        <p:sp>
          <p:nvSpPr>
            <p:cNvPr id="829" name="KPI AML summaries"/>
            <p:cNvSpPr/>
            <p:nvPr/>
          </p:nvSpPr>
          <p:spPr>
            <a:xfrm>
              <a:off x="6711696" y="1133856"/>
              <a:ext cx="1993392" cy="566928"/>
            </a:xfrm>
            <a:prstGeom prst="roundRect">
              <a:avLst>
                <a:gd name="adj" fmla="val 8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0" name="KPI AML summaries value"/>
            <p:cNvSpPr txBox="1"/>
            <p:nvPr/>
          </p:nvSpPr>
          <p:spPr>
            <a:xfrm>
              <a:off x="6803136" y="1152144"/>
              <a:ext cx="7772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4A8500"/>
                  </a:solidFill>
                  <a:latin typeface="Calibri"/>
                </a:rPr>
                <a:t>−30%</a:t>
              </a:r>
            </a:p>
          </p:txBody>
        </p:sp>
        <p:sp>
          <p:nvSpPr>
            <p:cNvPr id="831" name="KPI AML summaries label"/>
            <p:cNvSpPr txBox="1"/>
            <p:nvPr/>
          </p:nvSpPr>
          <p:spPr>
            <a:xfrm>
              <a:off x="7552944" y="1170432"/>
              <a:ext cx="1115568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AML alert handling time</a:t>
              </a:r>
            </a:p>
          </p:txBody>
        </p:sp>
        <p:sp>
          <p:nvSpPr>
            <p:cNvPr id="832" name="KPI AML summaries uc"/>
            <p:cNvSpPr txBox="1"/>
            <p:nvPr/>
          </p:nvSpPr>
          <p:spPr>
            <a:xfrm>
              <a:off x="6803136" y="1481328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AML summaries  ·  </a:t>
              </a:r>
              <a:r>
                <a:rPr sz="800" b="1" i="0">
                  <a:solidFill>
                    <a:srgbClr val="6B7069"/>
                  </a:solidFill>
                  <a:latin typeface="Calibri"/>
                </a:rPr>
                <a:t>GENERATIVE</a:t>
              </a:r>
            </a:p>
          </p:txBody>
        </p:sp>
      </p:grpSp>
      <p:sp>
        <p:nvSpPr>
          <p:cNvPr id="833" name="Label VALUE LEVERS  ·  SHOW THE MATH"/>
          <p:cNvSpPr txBox="1"/>
          <p:nvPr/>
        </p:nvSpPr>
        <p:spPr>
          <a:xfrm>
            <a:off x="502920" y="1810512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VALUE LEVERS  ·  SHOW THE MATH</a:t>
            </a:r>
          </a:p>
        </p:txBody>
      </p:sp>
      <p:sp>
        <p:nvSpPr>
          <p:cNvPr id="834" name="Label ANNUAL VALUE, USD  ·  ILLUSTRATIVE"/>
          <p:cNvSpPr txBox="1"/>
          <p:nvPr/>
        </p:nvSpPr>
        <p:spPr>
          <a:xfrm>
            <a:off x="4937760" y="1810512"/>
            <a:ext cx="3657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4A8500"/>
                </a:solidFill>
                <a:latin typeface="Calibri"/>
              </a:rPr>
              <a:t>YEAR-ONE VALUE, USD </a:t>
            </a:r>
          </a:p>
        </p:txBody>
      </p:sp>
      <p:grpSp>
        <p:nvGrpSpPr>
          <p:cNvPr id="3" name="Lever 1"/>
          <p:cNvGrpSpPr/>
          <p:nvPr/>
        </p:nvGrpSpPr>
        <p:grpSpPr>
          <a:xfrm>
            <a:off x="457200" y="1993392"/>
            <a:ext cx="5266943" cy="2340864"/>
            <a:chOff x="457200" y="1993392"/>
            <a:chExt cx="5266943" cy="2340864"/>
          </a:xfrm>
        </p:grpSpPr>
        <p:sp>
          <p:nvSpPr>
            <p:cNvPr id="835" name="Lever 1 card"/>
            <p:cNvSpPr/>
            <p:nvPr/>
          </p:nvSpPr>
          <p:spPr>
            <a:xfrm>
              <a:off x="457200" y="1993392"/>
              <a:ext cx="4224528" cy="49377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6" name="Lever 1 n"/>
            <p:cNvSpPr/>
            <p:nvPr/>
          </p:nvSpPr>
          <p:spPr>
            <a:xfrm>
              <a:off x="548640" y="2112264"/>
              <a:ext cx="256032" cy="25603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7" name="Lever 1 num"/>
            <p:cNvSpPr txBox="1"/>
            <p:nvPr/>
          </p:nvSpPr>
          <p:spPr>
            <a:xfrm>
              <a:off x="548640" y="2112264"/>
              <a:ext cx="256032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1</a:t>
              </a:r>
            </a:p>
          </p:txBody>
        </p:sp>
        <p:sp>
          <p:nvSpPr>
            <p:cNvPr id="838" name="Lever 1 name"/>
            <p:cNvSpPr txBox="1"/>
            <p:nvPr/>
          </p:nvSpPr>
          <p:spPr>
            <a:xfrm>
              <a:off x="914400" y="2066544"/>
              <a:ext cx="19385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Use-case value realised sooner</a:t>
              </a:r>
            </a:p>
          </p:txBody>
        </p:sp>
        <p:sp>
          <p:nvSpPr>
            <p:cNvPr id="839" name="Lever 1 tag"/>
            <p:cNvSpPr/>
            <p:nvPr/>
          </p:nvSpPr>
          <p:spPr>
            <a:xfrm>
              <a:off x="2889504" y="2075688"/>
              <a:ext cx="640080" cy="155448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VALUE</a:t>
              </a:r>
            </a:p>
          </p:txBody>
        </p:sp>
        <p:sp>
          <p:nvSpPr>
            <p:cNvPr id="840" name="Lever 1 math"/>
            <p:cNvSpPr txBox="1"/>
            <p:nvPr/>
          </p:nvSpPr>
          <p:spPr>
            <a:xfrm>
              <a:off x="914400" y="2258568"/>
              <a:ext cx="2971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12 use cases × 3 months earlier × $100k per month</a:t>
              </a:r>
            </a:p>
          </p:txBody>
        </p:sp>
        <p:sp>
          <p:nvSpPr>
            <p:cNvPr id="842" name="Lever 1 value"/>
            <p:cNvSpPr txBox="1"/>
            <p:nvPr/>
          </p:nvSpPr>
          <p:spPr>
            <a:xfrm>
              <a:off x="3584448" y="1993392"/>
              <a:ext cx="100584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500" b="1" i="0">
                  <a:solidFill>
                    <a:srgbClr val="4A8500"/>
                  </a:solidFill>
                  <a:latin typeface="Calibri"/>
                </a:rPr>
                <a:t>$3.6M</a:t>
              </a:r>
            </a:p>
          </p:txBody>
        </p:sp>
        <p:sp>
          <p:nvSpPr>
            <p:cNvPr id="843" name="Bar Value sooner"/>
            <p:cNvSpPr/>
            <p:nvPr/>
          </p:nvSpPr>
          <p:spPr>
            <a:xfrm>
              <a:off x="5047488" y="2628457"/>
              <a:ext cx="566928" cy="1449767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4" name="Bar Value sooner label"/>
            <p:cNvSpPr txBox="1"/>
            <p:nvPr/>
          </p:nvSpPr>
          <p:spPr>
            <a:xfrm>
              <a:off x="4956048" y="2454721"/>
              <a:ext cx="749808" cy="1554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1" i="0">
                  <a:solidFill>
                    <a:srgbClr val="001408"/>
                  </a:solidFill>
                  <a:latin typeface="Calibri"/>
                </a:rPr>
                <a:t>$3.6M</a:t>
              </a:r>
            </a:p>
          </p:txBody>
        </p:sp>
        <p:sp>
          <p:nvSpPr>
            <p:cNvPr id="845" name="Bar Value sooner category"/>
            <p:cNvSpPr txBox="1"/>
            <p:nvPr/>
          </p:nvSpPr>
          <p:spPr>
            <a:xfrm>
              <a:off x="4937759" y="4114800"/>
              <a:ext cx="786384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4B5650"/>
                  </a:solidFill>
                  <a:latin typeface="Calibri"/>
                </a:rPr>
                <a:t>Value sooner</a:t>
              </a:r>
            </a:p>
          </p:txBody>
        </p:sp>
      </p:grpSp>
      <p:grpSp>
        <p:nvGrpSpPr>
          <p:cNvPr id="4" name="Lever 2"/>
          <p:cNvGrpSpPr/>
          <p:nvPr/>
        </p:nvGrpSpPr>
        <p:grpSpPr>
          <a:xfrm>
            <a:off x="457200" y="2164768"/>
            <a:ext cx="5989320" cy="2169488"/>
            <a:chOff x="457200" y="2164768"/>
            <a:chExt cx="5989320" cy="2169488"/>
          </a:xfrm>
        </p:grpSpPr>
        <p:sp>
          <p:nvSpPr>
            <p:cNvPr id="846" name="Lever 2 card"/>
            <p:cNvSpPr/>
            <p:nvPr/>
          </p:nvSpPr>
          <p:spPr>
            <a:xfrm>
              <a:off x="457200" y="2542032"/>
              <a:ext cx="4224528" cy="49377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7" name="Lever 2 n"/>
            <p:cNvSpPr/>
            <p:nvPr/>
          </p:nvSpPr>
          <p:spPr>
            <a:xfrm>
              <a:off x="548640" y="2660904"/>
              <a:ext cx="256032" cy="25603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8" name="Lever 2 num"/>
            <p:cNvSpPr txBox="1"/>
            <p:nvPr/>
          </p:nvSpPr>
          <p:spPr>
            <a:xfrm>
              <a:off x="548640" y="2660904"/>
              <a:ext cx="256032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2</a:t>
              </a:r>
            </a:p>
          </p:txBody>
        </p:sp>
        <p:sp>
          <p:nvSpPr>
            <p:cNvPr id="849" name="Lever 2 name"/>
            <p:cNvSpPr txBox="1"/>
            <p:nvPr/>
          </p:nvSpPr>
          <p:spPr>
            <a:xfrm>
              <a:off x="914400" y="2615184"/>
              <a:ext cx="19385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Integration plumbing avoided</a:t>
              </a:r>
            </a:p>
          </p:txBody>
        </p:sp>
        <p:sp>
          <p:nvSpPr>
            <p:cNvPr id="850" name="Lever 2 tag"/>
            <p:cNvSpPr/>
            <p:nvPr/>
          </p:nvSpPr>
          <p:spPr>
            <a:xfrm>
              <a:off x="2889504" y="2624328"/>
              <a:ext cx="64008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EFFORT</a:t>
              </a:r>
            </a:p>
          </p:txBody>
        </p:sp>
        <p:sp>
          <p:nvSpPr>
            <p:cNvPr id="851" name="Lever 2 math"/>
            <p:cNvSpPr txBox="1"/>
            <p:nvPr/>
          </p:nvSpPr>
          <p:spPr>
            <a:xfrm>
              <a:off x="914400" y="2807208"/>
              <a:ext cx="2971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12 use cases × 12 engineer-weeks × $5k per week</a:t>
              </a:r>
            </a:p>
          </p:txBody>
        </p:sp>
        <p:sp>
          <p:nvSpPr>
            <p:cNvPr id="853" name="Lever 2 value"/>
            <p:cNvSpPr txBox="1"/>
            <p:nvPr/>
          </p:nvSpPr>
          <p:spPr>
            <a:xfrm>
              <a:off x="3584448" y="2542032"/>
              <a:ext cx="100584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500" b="1" i="0">
                  <a:solidFill>
                    <a:srgbClr val="4A8500"/>
                  </a:solidFill>
                  <a:latin typeface="Calibri"/>
                </a:rPr>
                <a:t>$0.72M</a:t>
              </a:r>
            </a:p>
          </p:txBody>
        </p:sp>
        <p:sp>
          <p:nvSpPr>
            <p:cNvPr id="854" name="Bar Plumbing avoided"/>
            <p:cNvSpPr/>
            <p:nvPr/>
          </p:nvSpPr>
          <p:spPr>
            <a:xfrm>
              <a:off x="5769864" y="2338504"/>
              <a:ext cx="566928" cy="289953"/>
            </a:xfrm>
            <a:prstGeom prst="rect">
              <a:avLst/>
            </a:prstGeom>
            <a:solidFill>
              <a:srgbClr val="A9CC8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Bar Plumbing avoided label"/>
            <p:cNvSpPr txBox="1"/>
            <p:nvPr/>
          </p:nvSpPr>
          <p:spPr>
            <a:xfrm>
              <a:off x="5678424" y="2164768"/>
              <a:ext cx="749808" cy="1554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1" i="0">
                  <a:solidFill>
                    <a:srgbClr val="001408"/>
                  </a:solidFill>
                  <a:latin typeface="Calibri"/>
                </a:rPr>
                <a:t>$0.72M</a:t>
              </a:r>
            </a:p>
          </p:txBody>
        </p:sp>
        <p:sp>
          <p:nvSpPr>
            <p:cNvPr id="856" name="Bar Plumbing avoided category"/>
            <p:cNvSpPr txBox="1"/>
            <p:nvPr/>
          </p:nvSpPr>
          <p:spPr>
            <a:xfrm>
              <a:off x="5660136" y="4114800"/>
              <a:ext cx="786384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4B5650"/>
                  </a:solidFill>
                  <a:latin typeface="Calibri"/>
                </a:rPr>
                <a:t>Plumbing avoided</a:t>
              </a:r>
            </a:p>
          </p:txBody>
        </p:sp>
        <p:cxnSp>
          <p:nvCxnSpPr>
            <p:cNvPr id="857" name="Waterfall link"/>
            <p:cNvCxnSpPr/>
            <p:nvPr/>
          </p:nvCxnSpPr>
          <p:spPr>
            <a:xfrm>
              <a:off x="5614416" y="2628457"/>
              <a:ext cx="155448" cy="0"/>
            </a:xfrm>
            <a:prstGeom prst="line">
              <a:avLst/>
            </a:prstGeom>
            <a:ln w="6350">
              <a:solidFill>
                <a:srgbClr val="6B7069"/>
              </a:solidFill>
              <a:prstDash val="dash"/>
            </a:ln>
          </p:spPr>
        </p:cxnSp>
      </p:grpSp>
      <p:grpSp>
        <p:nvGrpSpPr>
          <p:cNvPr id="5" name="Lever 3"/>
          <p:cNvGrpSpPr/>
          <p:nvPr/>
        </p:nvGrpSpPr>
        <p:grpSpPr>
          <a:xfrm>
            <a:off x="457200" y="2047981"/>
            <a:ext cx="6711696" cy="2286275"/>
            <a:chOff x="457200" y="2047981"/>
            <a:chExt cx="6711696" cy="2286275"/>
          </a:xfrm>
        </p:grpSpPr>
        <p:sp>
          <p:nvSpPr>
            <p:cNvPr id="858" name="Lever 3 card"/>
            <p:cNvSpPr/>
            <p:nvPr/>
          </p:nvSpPr>
          <p:spPr>
            <a:xfrm>
              <a:off x="457200" y="3090672"/>
              <a:ext cx="4224528" cy="49377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9" name="Lever 3 n"/>
            <p:cNvSpPr/>
            <p:nvPr/>
          </p:nvSpPr>
          <p:spPr>
            <a:xfrm>
              <a:off x="548640" y="3209544"/>
              <a:ext cx="256032" cy="25603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0" name="Lever 3 num"/>
            <p:cNvSpPr txBox="1"/>
            <p:nvPr/>
          </p:nvSpPr>
          <p:spPr>
            <a:xfrm>
              <a:off x="548640" y="3209544"/>
              <a:ext cx="256032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3</a:t>
              </a:r>
            </a:p>
          </p:txBody>
        </p:sp>
        <p:sp>
          <p:nvSpPr>
            <p:cNvPr id="861" name="Lever 3 name"/>
            <p:cNvSpPr txBox="1"/>
            <p:nvPr/>
          </p:nvSpPr>
          <p:spPr>
            <a:xfrm>
              <a:off x="914400" y="3163824"/>
              <a:ext cx="19385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GPU expansion deferred</a:t>
              </a:r>
            </a:p>
          </p:txBody>
        </p:sp>
        <p:sp>
          <p:nvSpPr>
            <p:cNvPr id="862" name="Lever 3 tag"/>
            <p:cNvSpPr/>
            <p:nvPr/>
          </p:nvSpPr>
          <p:spPr>
            <a:xfrm>
              <a:off x="2889504" y="3172968"/>
              <a:ext cx="640080" cy="155448"/>
            </a:xfrm>
            <a:prstGeom prst="roundRect">
              <a:avLst>
                <a:gd name="adj" fmla="val 50000"/>
              </a:avLst>
            </a:prstGeom>
            <a:solidFill>
              <a:srgbClr val="4A85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FFFFFF"/>
                  </a:solidFill>
                  <a:latin typeface="Calibri"/>
                </a:rPr>
                <a:t>CAPACITY</a:t>
              </a:r>
            </a:p>
          </p:txBody>
        </p:sp>
        <p:sp>
          <p:nvSpPr>
            <p:cNvPr id="863" name="Lever 3 math"/>
            <p:cNvSpPr txBox="1"/>
            <p:nvPr/>
          </p:nvSpPr>
          <p:spPr>
            <a:xfrm>
              <a:off x="914400" y="3355848"/>
              <a:ext cx="2971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$3.2M run cost × 60% GenAI share × 15% fewer tokens</a:t>
              </a:r>
            </a:p>
          </p:txBody>
        </p:sp>
        <p:sp>
          <p:nvSpPr>
            <p:cNvPr id="865" name="Lever 3 value"/>
            <p:cNvSpPr txBox="1"/>
            <p:nvPr/>
          </p:nvSpPr>
          <p:spPr>
            <a:xfrm>
              <a:off x="3584448" y="3090672"/>
              <a:ext cx="100584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500" b="1" i="0">
                  <a:solidFill>
                    <a:srgbClr val="4A8500"/>
                  </a:solidFill>
                  <a:latin typeface="Calibri"/>
                </a:rPr>
                <a:t>$0.29M</a:t>
              </a:r>
            </a:p>
          </p:txBody>
        </p:sp>
        <p:sp>
          <p:nvSpPr>
            <p:cNvPr id="866" name="Bar GPU deferred"/>
            <p:cNvSpPr/>
            <p:nvPr/>
          </p:nvSpPr>
          <p:spPr>
            <a:xfrm>
              <a:off x="6492240" y="2221717"/>
              <a:ext cx="566928" cy="116787"/>
            </a:xfrm>
            <a:prstGeom prst="rect">
              <a:avLst/>
            </a:prstGeom>
            <a:solidFill>
              <a:srgbClr val="A9CC8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7" name="Bar GPU deferred label"/>
            <p:cNvSpPr txBox="1"/>
            <p:nvPr/>
          </p:nvSpPr>
          <p:spPr>
            <a:xfrm>
              <a:off x="6400800" y="2047981"/>
              <a:ext cx="749808" cy="1554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1" i="0">
                  <a:solidFill>
                    <a:srgbClr val="001408"/>
                  </a:solidFill>
                  <a:latin typeface="Calibri"/>
                </a:rPr>
                <a:t>$0.29M</a:t>
              </a:r>
            </a:p>
          </p:txBody>
        </p:sp>
        <p:sp>
          <p:nvSpPr>
            <p:cNvPr id="868" name="Bar GPU deferred category"/>
            <p:cNvSpPr txBox="1"/>
            <p:nvPr/>
          </p:nvSpPr>
          <p:spPr>
            <a:xfrm>
              <a:off x="6382512" y="4114800"/>
              <a:ext cx="786384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4B5650"/>
                  </a:solidFill>
                  <a:latin typeface="Calibri"/>
                </a:rPr>
                <a:t>GPU deferred</a:t>
              </a:r>
            </a:p>
          </p:txBody>
        </p:sp>
        <p:cxnSp>
          <p:nvCxnSpPr>
            <p:cNvPr id="869" name="Waterfall link"/>
            <p:cNvCxnSpPr/>
            <p:nvPr/>
          </p:nvCxnSpPr>
          <p:spPr>
            <a:xfrm>
              <a:off x="6336792" y="2338504"/>
              <a:ext cx="155448" cy="0"/>
            </a:xfrm>
            <a:prstGeom prst="line">
              <a:avLst/>
            </a:prstGeom>
            <a:ln w="6350">
              <a:solidFill>
                <a:srgbClr val="6B7069"/>
              </a:solidFill>
              <a:prstDash val="dash"/>
            </a:ln>
          </p:spPr>
        </p:cxnSp>
      </p:grpSp>
      <p:grpSp>
        <p:nvGrpSpPr>
          <p:cNvPr id="6" name="Lever 4"/>
          <p:cNvGrpSpPr/>
          <p:nvPr/>
        </p:nvGrpSpPr>
        <p:grpSpPr>
          <a:xfrm>
            <a:off x="457200" y="1951330"/>
            <a:ext cx="7434072" cy="2382926"/>
            <a:chOff x="457200" y="1951330"/>
            <a:chExt cx="7434072" cy="2382926"/>
          </a:xfrm>
        </p:grpSpPr>
        <p:sp>
          <p:nvSpPr>
            <p:cNvPr id="870" name="Lever 4 card"/>
            <p:cNvSpPr/>
            <p:nvPr/>
          </p:nvSpPr>
          <p:spPr>
            <a:xfrm>
              <a:off x="457200" y="3639312"/>
              <a:ext cx="4224528" cy="49377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1" name="Lever 4 n"/>
            <p:cNvSpPr/>
            <p:nvPr/>
          </p:nvSpPr>
          <p:spPr>
            <a:xfrm>
              <a:off x="548640" y="3758184"/>
              <a:ext cx="256032" cy="25603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2" name="Lever 4 num"/>
            <p:cNvSpPr txBox="1"/>
            <p:nvPr/>
          </p:nvSpPr>
          <p:spPr>
            <a:xfrm>
              <a:off x="548640" y="3758184"/>
              <a:ext cx="256032" cy="2560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4</a:t>
              </a:r>
            </a:p>
          </p:txBody>
        </p:sp>
        <p:sp>
          <p:nvSpPr>
            <p:cNvPr id="873" name="Lever 4 name"/>
            <p:cNvSpPr txBox="1"/>
            <p:nvPr/>
          </p:nvSpPr>
          <p:spPr>
            <a:xfrm>
              <a:off x="914400" y="3712464"/>
              <a:ext cx="193852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Audit evidence automated</a:t>
              </a:r>
            </a:p>
          </p:txBody>
        </p:sp>
        <p:sp>
          <p:nvSpPr>
            <p:cNvPr id="874" name="Lever 4 tag"/>
            <p:cNvSpPr/>
            <p:nvPr/>
          </p:nvSpPr>
          <p:spPr>
            <a:xfrm>
              <a:off x="2889504" y="3721608"/>
              <a:ext cx="64008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EFFORT</a:t>
              </a:r>
            </a:p>
          </p:txBody>
        </p:sp>
        <p:sp>
          <p:nvSpPr>
            <p:cNvPr id="875" name="Lever 4 math"/>
            <p:cNvSpPr txBox="1"/>
            <p:nvPr/>
          </p:nvSpPr>
          <p:spPr>
            <a:xfrm>
              <a:off x="914400" y="3904488"/>
              <a:ext cx="2971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4B5650"/>
                  </a:solidFill>
                  <a:latin typeface="Calibri"/>
                </a:rPr>
                <a:t>12 use cases × 20 days per year × $1,000 per day</a:t>
              </a:r>
            </a:p>
          </p:txBody>
        </p:sp>
        <p:sp>
          <p:nvSpPr>
            <p:cNvPr id="877" name="Lever 4 value"/>
            <p:cNvSpPr txBox="1"/>
            <p:nvPr/>
          </p:nvSpPr>
          <p:spPr>
            <a:xfrm>
              <a:off x="3584448" y="3639312"/>
              <a:ext cx="100584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1500" b="1" i="0">
                  <a:solidFill>
                    <a:srgbClr val="4A8500"/>
                  </a:solidFill>
                  <a:latin typeface="Calibri"/>
                </a:rPr>
                <a:t>$0.24M</a:t>
              </a:r>
            </a:p>
          </p:txBody>
        </p:sp>
        <p:sp>
          <p:nvSpPr>
            <p:cNvPr id="878" name="Bar Audit effort"/>
            <p:cNvSpPr/>
            <p:nvPr/>
          </p:nvSpPr>
          <p:spPr>
            <a:xfrm>
              <a:off x="7214616" y="2125066"/>
              <a:ext cx="566928" cy="96651"/>
            </a:xfrm>
            <a:prstGeom prst="rect">
              <a:avLst/>
            </a:prstGeom>
            <a:solidFill>
              <a:srgbClr val="A9CC8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9" name="Bar Audit effort label"/>
            <p:cNvSpPr txBox="1"/>
            <p:nvPr/>
          </p:nvSpPr>
          <p:spPr>
            <a:xfrm>
              <a:off x="7123176" y="1951330"/>
              <a:ext cx="749808" cy="1554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1" i="0">
                  <a:solidFill>
                    <a:srgbClr val="001408"/>
                  </a:solidFill>
                  <a:latin typeface="Calibri"/>
                </a:rPr>
                <a:t>$0.24M</a:t>
              </a:r>
            </a:p>
          </p:txBody>
        </p:sp>
        <p:sp>
          <p:nvSpPr>
            <p:cNvPr id="880" name="Bar Audit effort category"/>
            <p:cNvSpPr txBox="1"/>
            <p:nvPr/>
          </p:nvSpPr>
          <p:spPr>
            <a:xfrm>
              <a:off x="7104888" y="4114800"/>
              <a:ext cx="786384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0" i="0">
                  <a:solidFill>
                    <a:srgbClr val="4B5650"/>
                  </a:solidFill>
                  <a:latin typeface="Calibri"/>
                </a:rPr>
                <a:t>Audit effort</a:t>
              </a:r>
            </a:p>
          </p:txBody>
        </p:sp>
        <p:cxnSp>
          <p:nvCxnSpPr>
            <p:cNvPr id="881" name="Waterfall link"/>
            <p:cNvCxnSpPr/>
            <p:nvPr/>
          </p:nvCxnSpPr>
          <p:spPr>
            <a:xfrm>
              <a:off x="7059168" y="2221717"/>
              <a:ext cx="155448" cy="0"/>
            </a:xfrm>
            <a:prstGeom prst="line">
              <a:avLst/>
            </a:prstGeom>
            <a:ln w="6350">
              <a:solidFill>
                <a:srgbClr val="6B7069"/>
              </a:solidFill>
              <a:prstDash val="dash"/>
            </a:ln>
          </p:spPr>
        </p:cxnSp>
      </p:grpSp>
      <p:cxnSp>
        <p:nvCxnSpPr>
          <p:cNvPr id="882" name="Baseline"/>
          <p:cNvCxnSpPr/>
          <p:nvPr/>
        </p:nvCxnSpPr>
        <p:spPr>
          <a:xfrm>
            <a:off x="4937760" y="4078224"/>
            <a:ext cx="3703320" cy="0"/>
          </a:xfrm>
          <a:prstGeom prst="line">
            <a:avLst/>
          </a:prstGeom>
          <a:ln w="12700">
            <a:solidFill>
              <a:srgbClr val="D3D9CC"/>
            </a:solidFill>
          </a:ln>
        </p:spPr>
      </p:cxnSp>
      <p:grpSp>
        <p:nvGrpSpPr>
          <p:cNvPr id="7" name="Total"/>
          <p:cNvGrpSpPr/>
          <p:nvPr/>
        </p:nvGrpSpPr>
        <p:grpSpPr>
          <a:xfrm>
            <a:off x="457200" y="1828800"/>
            <a:ext cx="8238744" cy="2926080"/>
            <a:chOff x="457200" y="1828800"/>
            <a:chExt cx="8238744" cy="2926080"/>
          </a:xfrm>
        </p:grpSpPr>
        <p:cxnSp>
          <p:nvCxnSpPr>
            <p:cNvPr id="883" name="Waterfall link"/>
            <p:cNvCxnSpPr/>
            <p:nvPr/>
          </p:nvCxnSpPr>
          <p:spPr>
            <a:xfrm>
              <a:off x="7781544" y="2125066"/>
              <a:ext cx="155448" cy="0"/>
            </a:xfrm>
            <a:prstGeom prst="line">
              <a:avLst/>
            </a:prstGeom>
            <a:ln w="6350">
              <a:solidFill>
                <a:srgbClr val="6B7069"/>
              </a:solidFill>
              <a:prstDash val="dash"/>
            </a:ln>
          </p:spPr>
        </p:cxnSp>
        <p:sp>
          <p:nvSpPr>
            <p:cNvPr id="884" name="Bar total"/>
            <p:cNvSpPr/>
            <p:nvPr/>
          </p:nvSpPr>
          <p:spPr>
            <a:xfrm>
              <a:off x="7936992" y="2125065"/>
              <a:ext cx="566928" cy="1953158"/>
            </a:xfrm>
            <a:prstGeom prst="rect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5" name="Bar total label"/>
            <p:cNvSpPr txBox="1"/>
            <p:nvPr/>
          </p:nvSpPr>
          <p:spPr>
            <a:xfrm>
              <a:off x="7744968" y="1828800"/>
              <a:ext cx="950976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>
                  <a:solidFill>
                    <a:srgbClr val="4A8500"/>
                  </a:solidFill>
                  <a:latin typeface="Calibri"/>
                </a:rPr>
                <a:t>$4.85M</a:t>
              </a:r>
            </a:p>
          </p:txBody>
        </p:sp>
        <p:sp>
          <p:nvSpPr>
            <p:cNvPr id="886" name="Bar total category"/>
            <p:cNvSpPr txBox="1"/>
            <p:nvPr/>
          </p:nvSpPr>
          <p:spPr>
            <a:xfrm>
              <a:off x="7827264" y="4114800"/>
              <a:ext cx="786384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00" b="1" i="0">
                  <a:solidFill>
                    <a:srgbClr val="001408"/>
                  </a:solidFill>
                  <a:latin typeface="Calibri"/>
                </a:rPr>
                <a:t>Total, year one</a:t>
              </a:r>
            </a:p>
          </p:txBody>
        </p:sp>
        <p:sp>
          <p:nvSpPr>
            <p:cNvPr id="889" name="Value band"/>
            <p:cNvSpPr/>
            <p:nvPr/>
          </p:nvSpPr>
          <p:spPr>
            <a:xfrm>
              <a:off x="457200" y="4389120"/>
              <a:ext cx="8229600" cy="365760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square" lIns="201168" tIns="0" rIns="201168" bIns="0" anchor="ctr">
              <a:noAutofit/>
            </a:bodyPr>
            <a:lstStyle/>
            <a:p>
              <a:pPr algn="l">
                <a:buNone/>
              </a:pPr>
              <a:r>
                <a:rPr lang="en-US" sz="2000" b="1" i="0" dirty="0">
                  <a:solidFill>
                    <a:srgbClr val="CCFF00"/>
                  </a:solidFill>
                  <a:latin typeface="Calibri"/>
                </a:rPr>
                <a:t>$4.85M in year one</a:t>
              </a:r>
              <a:r>
                <a:rPr lang="en-US" sz="1100" b="0" i="0" dirty="0">
                  <a:solidFill>
                    <a:srgbClr val="FFFFFF"/>
                  </a:solidFill>
                  <a:latin typeface="Calibri"/>
                </a:rPr>
                <a:t>   three-quarters of it is use cases reaching production three months sooner</a:t>
              </a:r>
              <a:endParaRPr lang="en-US" sz="8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THE ALTERNATIVES  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Why not build it, or extend the gateway we have?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80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80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80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Both are fair questions. Building moves the risk onto your teams; plugins are the fast start, not the operating model for an AI estate.</a:t>
            </a:r>
          </a:p>
        </p:txBody>
      </p:sp>
      <p:grpSp>
        <p:nvGrpSpPr>
          <p:cNvPr id="2" name="Option 1"/>
          <p:cNvGrpSpPr/>
          <p:nvPr/>
        </p:nvGrpSpPr>
        <p:grpSpPr>
          <a:xfrm>
            <a:off x="457200" y="1152144"/>
            <a:ext cx="2651760" cy="2816352"/>
            <a:chOff x="457200" y="1152144"/>
            <a:chExt cx="2651760" cy="2816352"/>
          </a:xfrm>
        </p:grpSpPr>
        <p:sp>
          <p:nvSpPr>
            <p:cNvPr id="817" name="Option 1 card"/>
            <p:cNvSpPr/>
            <p:nvPr/>
          </p:nvSpPr>
          <p:spPr>
            <a:xfrm>
              <a:off x="457200" y="1152144"/>
              <a:ext cx="2651760" cy="281635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Option 1 header"/>
            <p:cNvSpPr/>
            <p:nvPr/>
          </p:nvSpPr>
          <p:spPr>
            <a:xfrm>
              <a:off x="457200" y="1152144"/>
              <a:ext cx="2651760" cy="493776"/>
            </a:xfrm>
            <a:prstGeom prst="roundRect">
              <a:avLst>
                <a:gd name="adj" fmla="val 1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9" name="Icon FaExclamationTriangl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928" y="1307592"/>
              <a:ext cx="182880" cy="182880"/>
            </a:xfrm>
            <a:prstGeom prst="rect">
              <a:avLst/>
            </a:prstGeom>
          </p:spPr>
        </p:pic>
        <p:sp>
          <p:nvSpPr>
            <p:cNvPr id="820" name="Option 1 title"/>
            <p:cNvSpPr txBox="1"/>
            <p:nvPr/>
          </p:nvSpPr>
          <p:spPr>
            <a:xfrm>
              <a:off x="841247" y="1197864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BUILD IT OURSELVES</a:t>
              </a:r>
            </a:p>
          </p:txBody>
        </p:sp>
        <p:sp>
          <p:nvSpPr>
            <p:cNvPr id="821" name="Option 1 sub"/>
            <p:cNvSpPr txBox="1"/>
            <p:nvPr/>
          </p:nvSpPr>
          <p:spPr>
            <a:xfrm>
              <a:off x="841247" y="1399032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600" b="0" i="0">
                  <a:solidFill>
                    <a:srgbClr val="6B7069"/>
                  </a:solidFill>
                  <a:latin typeface="Calibri"/>
                </a:rPr>
                <a:t>open-source proxy + guardrail libraries + custom code</a:t>
              </a:r>
            </a:p>
          </p:txBody>
        </p:sp>
        <p:pic>
          <p:nvPicPr>
            <p:cNvPr id="822" name="Icon FaShieldAlt" descr="FaShieldAlt_cora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1773936"/>
              <a:ext cx="137160" cy="137160"/>
            </a:xfrm>
            <a:prstGeom prst="rect">
              <a:avLst/>
            </a:prstGeom>
          </p:spPr>
        </p:pic>
        <p:sp>
          <p:nvSpPr>
            <p:cNvPr id="823" name="Option 1 point 1"/>
            <p:cNvSpPr txBox="1"/>
            <p:nvPr/>
          </p:nvSpPr>
          <p:spPr>
            <a:xfrm>
              <a:off x="804672" y="173736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Risk: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every CVE, patch and guardrail update is yours to own.</a:t>
              </a:r>
            </a:p>
          </p:txBody>
        </p:sp>
        <p:pic>
          <p:nvPicPr>
            <p:cNvPr id="824" name="Icon FaPuzzlePiece" descr="FaPuzzlePiece_cora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216" y="2139696"/>
              <a:ext cx="137160" cy="137160"/>
            </a:xfrm>
            <a:prstGeom prst="rect">
              <a:avLst/>
            </a:prstGeom>
          </p:spPr>
        </p:pic>
        <p:sp>
          <p:nvSpPr>
            <p:cNvPr id="825" name="Option 1 point 2"/>
            <p:cNvSpPr txBox="1"/>
            <p:nvPr/>
          </p:nvSpPr>
          <p:spPr>
            <a:xfrm>
              <a:off x="804672" y="210312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Interoperability: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each new model, provider API or MCP spec change joins your backlog.</a:t>
              </a:r>
            </a:p>
          </p:txBody>
        </p:sp>
        <p:pic>
          <p:nvPicPr>
            <p:cNvPr id="826" name="Icon FaCodeBranch" descr="FaCodeBranch_coral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5216" y="2505456"/>
              <a:ext cx="137160" cy="137160"/>
            </a:xfrm>
            <a:prstGeom prst="rect">
              <a:avLst/>
            </a:prstGeom>
          </p:spPr>
        </p:pic>
        <p:sp>
          <p:nvSpPr>
            <p:cNvPr id="827" name="Option 1 point 3"/>
            <p:cNvSpPr txBox="1"/>
            <p:nvPr/>
          </p:nvSpPr>
          <p:spPr>
            <a:xfrm>
              <a:off x="804672" y="246888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Compatibility: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no tested upgrade path; custom code breaks on upgrades.</a:t>
              </a:r>
            </a:p>
          </p:txBody>
        </p:sp>
        <p:pic>
          <p:nvPicPr>
            <p:cNvPr id="828" name="Icon FaTicketAlt" descr="FaTicketAlt_coral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5216" y="2871216"/>
              <a:ext cx="137160" cy="137160"/>
            </a:xfrm>
            <a:prstGeom prst="rect">
              <a:avLst/>
            </a:prstGeom>
          </p:spPr>
        </p:pic>
        <p:sp>
          <p:nvSpPr>
            <p:cNvPr id="829" name="Option 1 point 4"/>
            <p:cNvSpPr txBox="1"/>
            <p:nvPr/>
          </p:nvSpPr>
          <p:spPr>
            <a:xfrm>
              <a:off x="804672" y="283464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Support and SLA: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none, plus key-person risk in a regulated estate.</a:t>
              </a:r>
            </a:p>
          </p:txBody>
        </p:sp>
        <p:pic>
          <p:nvPicPr>
            <p:cNvPr id="830" name="Icon FaClipboardCheck" descr="FaClipboardCheck_coral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5216" y="3236976"/>
              <a:ext cx="137160" cy="137160"/>
            </a:xfrm>
            <a:prstGeom prst="rect">
              <a:avLst/>
            </a:prstGeom>
          </p:spPr>
        </p:pic>
        <p:sp>
          <p:nvSpPr>
            <p:cNvPr id="831" name="Option 1 point 5"/>
            <p:cNvSpPr txBox="1"/>
            <p:nvPr/>
          </p:nvSpPr>
          <p:spPr>
            <a:xfrm>
              <a:off x="804672" y="320040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Audit: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control evidence for regulators is yours to build.</a:t>
              </a:r>
            </a:p>
          </p:txBody>
        </p:sp>
        <p:sp>
          <p:nvSpPr>
            <p:cNvPr id="832" name="Option 1 verdict"/>
            <p:cNvSpPr/>
            <p:nvPr/>
          </p:nvSpPr>
          <p:spPr>
            <a:xfrm>
              <a:off x="548640" y="3566160"/>
              <a:ext cx="2468879" cy="329184"/>
            </a:xfrm>
            <a:prstGeom prst="roundRect">
              <a:avLst>
                <a:gd name="adj" fmla="val 12000"/>
              </a:avLst>
            </a:prstGeom>
            <a:solidFill>
              <a:srgbClr val="FBECE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700" b="1" i="0">
                  <a:solidFill>
                    <a:srgbClr val="C8553D"/>
                  </a:solidFill>
                  <a:latin typeface="Calibri"/>
                </a:rPr>
                <a:t>Engineers maintain plumbing instead of shipping use cases.</a:t>
              </a:r>
            </a:p>
          </p:txBody>
        </p:sp>
      </p:grpSp>
      <p:grpSp>
        <p:nvGrpSpPr>
          <p:cNvPr id="3" name="Option 2"/>
          <p:cNvGrpSpPr/>
          <p:nvPr/>
        </p:nvGrpSpPr>
        <p:grpSpPr>
          <a:xfrm>
            <a:off x="3246120" y="1152144"/>
            <a:ext cx="2651760" cy="2816352"/>
            <a:chOff x="3246120" y="1152144"/>
            <a:chExt cx="2651760" cy="2816352"/>
          </a:xfrm>
        </p:grpSpPr>
        <p:sp>
          <p:nvSpPr>
            <p:cNvPr id="833" name="Option 2 card"/>
            <p:cNvSpPr/>
            <p:nvPr/>
          </p:nvSpPr>
          <p:spPr>
            <a:xfrm>
              <a:off x="3246120" y="1152144"/>
              <a:ext cx="2651760" cy="281635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4" name="Option 2 header"/>
            <p:cNvSpPr/>
            <p:nvPr/>
          </p:nvSpPr>
          <p:spPr>
            <a:xfrm>
              <a:off x="3246120" y="1152144"/>
              <a:ext cx="2651760" cy="493776"/>
            </a:xfrm>
            <a:prstGeom prst="roundRect">
              <a:avLst>
                <a:gd name="adj" fmla="val 10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35" name="Icon FaExclamationTriangl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5848" y="1307592"/>
              <a:ext cx="182880" cy="182880"/>
            </a:xfrm>
            <a:prstGeom prst="rect">
              <a:avLst/>
            </a:prstGeom>
          </p:spPr>
        </p:pic>
        <p:sp>
          <p:nvSpPr>
            <p:cNvPr id="836" name="Option 2 title"/>
            <p:cNvSpPr txBox="1"/>
            <p:nvPr/>
          </p:nvSpPr>
          <p:spPr>
            <a:xfrm>
              <a:off x="3630168" y="1197864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001408"/>
                  </a:solidFill>
                  <a:latin typeface="Calibri"/>
                </a:rPr>
                <a:t>ADD AI PLUGINS TO THE API GATEWAY</a:t>
              </a:r>
            </a:p>
          </p:txBody>
        </p:sp>
        <p:sp>
          <p:nvSpPr>
            <p:cNvPr id="837" name="Option 2 sub"/>
            <p:cNvSpPr txBox="1"/>
            <p:nvPr/>
          </p:nvSpPr>
          <p:spPr>
            <a:xfrm>
              <a:off x="3630168" y="1399032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600" b="0" i="0">
                  <a:solidFill>
                    <a:srgbClr val="6B7069"/>
                  </a:solidFill>
                  <a:latin typeface="Calibri"/>
                </a:rPr>
                <a:t>Kong Gateway + AI plugins: the fast start</a:t>
              </a:r>
            </a:p>
          </p:txBody>
        </p:sp>
        <p:pic>
          <p:nvPicPr>
            <p:cNvPr id="838" name="Icon FaCoins" descr="FaCoins_coral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74136" y="1773936"/>
              <a:ext cx="137160" cy="137160"/>
            </a:xfrm>
            <a:prstGeom prst="rect">
              <a:avLst/>
            </a:prstGeom>
          </p:spPr>
        </p:pic>
        <p:sp>
          <p:nvSpPr>
            <p:cNvPr id="839" name="Option 2 point 1"/>
            <p:cNvSpPr txBox="1"/>
            <p:nvPr/>
          </p:nvSpPr>
          <p:spPr>
            <a:xfrm>
              <a:off x="3593591" y="173736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Fast start: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AI Proxy, guards and token limits on Kong Gateway, no new runtime.</a:t>
              </a:r>
            </a:p>
          </p:txBody>
        </p:sp>
        <p:pic>
          <p:nvPicPr>
            <p:cNvPr id="840" name="Icon FaBrain" descr="FaBrain_coral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74136" y="2139696"/>
              <a:ext cx="137160" cy="137160"/>
            </a:xfrm>
            <a:prstGeom prst="rect">
              <a:avLst/>
            </a:prstGeom>
          </p:spPr>
        </p:pic>
        <p:sp>
          <p:nvSpPr>
            <p:cNvPr id="841" name="Option 2 point 2"/>
            <p:cNvSpPr txBox="1"/>
            <p:nvPr/>
          </p:nvSpPr>
          <p:spPr>
            <a:xfrm>
              <a:off x="3593591" y="210312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Right for pilots and POCs: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the first few use cases, fully supported.</a:t>
              </a:r>
            </a:p>
          </p:txBody>
        </p:sp>
        <p:pic>
          <p:nvPicPr>
            <p:cNvPr id="842" name="Icon FaStopwatch" descr="FaStopwatch_coral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74136" y="2505456"/>
              <a:ext cx="137160" cy="137160"/>
            </a:xfrm>
            <a:prstGeom prst="rect">
              <a:avLst/>
            </a:prstGeom>
          </p:spPr>
        </p:pic>
        <p:sp>
          <p:nvSpPr>
            <p:cNvPr id="843" name="Option 2 point 3"/>
            <p:cNvSpPr txBox="1"/>
            <p:nvPr/>
          </p:nvSpPr>
          <p:spPr>
            <a:xfrm>
              <a:off x="3593591" y="246888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Plugins per route: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each use case wired by hand; models, MCP servers and agents aren't first-class.</a:t>
              </a:r>
            </a:p>
          </p:txBody>
        </p:sp>
        <p:pic>
          <p:nvPicPr>
            <p:cNvPr id="844" name="Icon FaRobot" descr="FaRobot_coral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374136" y="2871216"/>
              <a:ext cx="137160" cy="137160"/>
            </a:xfrm>
            <a:prstGeom prst="rect">
              <a:avLst/>
            </a:prstGeom>
          </p:spPr>
        </p:pic>
        <p:sp>
          <p:nvSpPr>
            <p:cNvPr id="845" name="Option 2 point 4"/>
            <p:cNvSpPr txBox="1"/>
            <p:nvPr/>
          </p:nvSpPr>
          <p:spPr>
            <a:xfrm>
              <a:off x="3593591" y="283464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Rebuilt per team: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at 12 use cases and agents, the same bundle is repeated route by route.</a:t>
              </a:r>
            </a:p>
          </p:txBody>
        </p:sp>
        <p:pic>
          <p:nvPicPr>
            <p:cNvPr id="846" name="Icon FaUniversity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74136" y="3236976"/>
              <a:ext cx="137160" cy="137160"/>
            </a:xfrm>
            <a:prstGeom prst="rect">
              <a:avLst/>
            </a:prstGeom>
          </p:spPr>
        </p:pic>
        <p:sp>
          <p:nvSpPr>
            <p:cNvPr id="847" name="Option 2 point 5"/>
            <p:cNvSpPr txBox="1"/>
            <p:nvPr/>
          </p:nvSpPr>
          <p:spPr>
            <a:xfrm>
              <a:off x="3593591" y="320040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Shared blast radius: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AI’s weekly changes land on the gateway that runs core banking.</a:t>
              </a:r>
            </a:p>
          </p:txBody>
        </p:sp>
        <p:sp>
          <p:nvSpPr>
            <p:cNvPr id="848" name="Option 2 verdict"/>
            <p:cNvSpPr/>
            <p:nvPr/>
          </p:nvSpPr>
          <p:spPr>
            <a:xfrm>
              <a:off x="3337560" y="3566160"/>
              <a:ext cx="2468879" cy="329184"/>
            </a:xfrm>
            <a:prstGeom prst="roundRect">
              <a:avLst>
                <a:gd name="adj" fmla="val 12000"/>
              </a:avLst>
            </a:prstGeom>
            <a:solidFill>
              <a:srgbClr val="FBECE8"/>
            </a:solidFill>
            <a:ln>
              <a:noFill/>
            </a:ln>
          </p:spPr>
          <p:txBody>
            <a:bodyPr wrap="square" lIns="73152" tIns="0" rIns="73152" bIns="0" rtlCol="0" anchor="ctr"/>
            <a:lstStyle/>
            <a:p>
              <a:pPr algn="ctr"/>
              <a:r>
                <a:rPr sz="700" b="1" i="0">
                  <a:solidFill>
                    <a:srgbClr val="C8553D"/>
                  </a:solidFill>
                  <a:latin typeface="Calibri"/>
                </a:rPr>
                <a:t>Great for the first pilots. At 12 use cases and agents, AI needs its own runtime and change control.</a:t>
              </a:r>
            </a:p>
          </p:txBody>
        </p:sp>
      </p:grpSp>
      <p:grpSp>
        <p:nvGrpSpPr>
          <p:cNvPr id="4" name="Option 3"/>
          <p:cNvGrpSpPr/>
          <p:nvPr/>
        </p:nvGrpSpPr>
        <p:grpSpPr>
          <a:xfrm>
            <a:off x="6035040" y="1152144"/>
            <a:ext cx="2651760" cy="2816352"/>
            <a:chOff x="6035040" y="1152144"/>
            <a:chExt cx="2651760" cy="2816352"/>
          </a:xfrm>
        </p:grpSpPr>
        <p:sp>
          <p:nvSpPr>
            <p:cNvPr id="849" name="Option 3 card"/>
            <p:cNvSpPr/>
            <p:nvPr/>
          </p:nvSpPr>
          <p:spPr>
            <a:xfrm>
              <a:off x="6035040" y="1152144"/>
              <a:ext cx="2651760" cy="2816352"/>
            </a:xfrm>
            <a:prstGeom prst="roundRect">
              <a:avLst>
                <a:gd name="adj" fmla="val 4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0" name="Option 3 header"/>
            <p:cNvSpPr/>
            <p:nvPr/>
          </p:nvSpPr>
          <p:spPr>
            <a:xfrm>
              <a:off x="6035040" y="1152144"/>
              <a:ext cx="2651760" cy="493776"/>
            </a:xfrm>
            <a:prstGeom prst="roundRect">
              <a:avLst>
                <a:gd name="adj" fmla="val 1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1" name="Icon FaCheck" descr="FaCheck_lim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144768" y="1307592"/>
              <a:ext cx="182880" cy="182880"/>
            </a:xfrm>
            <a:prstGeom prst="rect">
              <a:avLst/>
            </a:prstGeom>
          </p:spPr>
        </p:pic>
        <p:sp>
          <p:nvSpPr>
            <p:cNvPr id="852" name="Option 3 title"/>
            <p:cNvSpPr txBox="1"/>
            <p:nvPr/>
          </p:nvSpPr>
          <p:spPr>
            <a:xfrm>
              <a:off x="6419088" y="1197864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50" b="1" i="0">
                  <a:solidFill>
                    <a:srgbClr val="CCFF00"/>
                  </a:solidFill>
                  <a:latin typeface="Calibri"/>
                </a:rPr>
                <a:t>KONG: A GATEWAY PER PILLAR</a:t>
              </a:r>
            </a:p>
          </p:txBody>
        </p:sp>
        <p:sp>
          <p:nvSpPr>
            <p:cNvPr id="853" name="Option 3 sub"/>
            <p:cNvSpPr txBox="1"/>
            <p:nvPr/>
          </p:nvSpPr>
          <p:spPr>
            <a:xfrm>
              <a:off x="6419088" y="1399032"/>
              <a:ext cx="217627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600" b="0" i="0">
                  <a:solidFill>
                    <a:srgbClr val="FFFFFF"/>
                  </a:solidFill>
                  <a:latin typeface="Calibri"/>
                </a:rPr>
                <a:t>Kong Gateway for APIs + Kong AI Gateway for AI, one Konnect platform</a:t>
              </a:r>
            </a:p>
          </p:txBody>
        </p:sp>
        <p:pic>
          <p:nvPicPr>
            <p:cNvPr id="854" name="Icon FaBrain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163055" y="1773936"/>
              <a:ext cx="137160" cy="137160"/>
            </a:xfrm>
            <a:prstGeom prst="rect">
              <a:avLst/>
            </a:prstGeom>
          </p:spPr>
        </p:pic>
        <p:sp>
          <p:nvSpPr>
            <p:cNvPr id="855" name="Option 3 point 1"/>
            <p:cNvSpPr txBox="1"/>
            <p:nvPr/>
          </p:nvSpPr>
          <p:spPr>
            <a:xfrm>
              <a:off x="6382512" y="173736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CCFF00"/>
                  </a:solidFill>
                  <a:latin typeface="Calibri"/>
                </a:rPr>
                <a:t>Purpose-built AI runtime: </a:t>
              </a:r>
              <a:r>
                <a:rPr sz="800" b="0" i="0">
                  <a:solidFill>
                    <a:srgbClr val="FFFFFF"/>
                  </a:solidFill>
                  <a:latin typeface="Calibri"/>
                </a:rPr>
                <a:t>tokens, semantics, streaming, MCP and A2A are native.</a:t>
              </a:r>
            </a:p>
          </p:txBody>
        </p:sp>
        <p:pic>
          <p:nvPicPr>
            <p:cNvPr id="856" name="Icon FaServer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163055" y="2139696"/>
              <a:ext cx="137160" cy="137160"/>
            </a:xfrm>
            <a:prstGeom prst="rect">
              <a:avLst/>
            </a:prstGeom>
          </p:spPr>
        </p:pic>
        <p:sp>
          <p:nvSpPr>
            <p:cNvPr id="857" name="Option 3 point 2"/>
            <p:cNvSpPr txBox="1"/>
            <p:nvPr/>
          </p:nvSpPr>
          <p:spPr>
            <a:xfrm>
              <a:off x="6382512" y="210312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CCFF00"/>
                  </a:solidFill>
                  <a:latin typeface="Calibri"/>
                </a:rPr>
                <a:t>Separate change control: </a:t>
              </a:r>
              <a:r>
                <a:rPr sz="800" b="0" i="0">
                  <a:solidFill>
                    <a:srgbClr val="FFFFFF"/>
                  </a:solidFill>
                  <a:latin typeface="Calibri"/>
                </a:rPr>
                <a:t>the API gateway stays stable; AI moves at AI speed.</a:t>
              </a:r>
            </a:p>
          </p:txBody>
        </p:sp>
        <p:pic>
          <p:nvPicPr>
            <p:cNvPr id="858" name="Icon FaLayerGroup" descr="imag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163055" y="2505456"/>
              <a:ext cx="137160" cy="137160"/>
            </a:xfrm>
            <a:prstGeom prst="rect">
              <a:avLst/>
            </a:prstGeom>
          </p:spPr>
        </p:pic>
        <p:sp>
          <p:nvSpPr>
            <p:cNvPr id="859" name="Option 3 point 3"/>
            <p:cNvSpPr txBox="1"/>
            <p:nvPr/>
          </p:nvSpPr>
          <p:spPr>
            <a:xfrm>
              <a:off x="6382512" y="246888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CCFF00"/>
                  </a:solidFill>
                  <a:latin typeface="Calibri"/>
                </a:rPr>
                <a:t>Governed as one: </a:t>
              </a:r>
              <a:r>
                <a:rPr sz="800" b="0" i="0">
                  <a:solidFill>
                    <a:srgbClr val="FFFFFF"/>
                  </a:solidFill>
                  <a:latin typeface="Calibri"/>
                </a:rPr>
                <a:t>one identity, analytics and config-as-code across both.</a:t>
              </a:r>
            </a:p>
          </p:txBody>
        </p:sp>
        <p:pic>
          <p:nvPicPr>
            <p:cNvPr id="860" name="Icon FaUserShield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163055" y="2871216"/>
              <a:ext cx="137160" cy="137160"/>
            </a:xfrm>
            <a:prstGeom prst="rect">
              <a:avLst/>
            </a:prstGeom>
          </p:spPr>
        </p:pic>
        <p:sp>
          <p:nvSpPr>
            <p:cNvPr id="861" name="Option 3 point 4"/>
            <p:cNvSpPr txBox="1"/>
            <p:nvPr/>
          </p:nvSpPr>
          <p:spPr>
            <a:xfrm>
              <a:off x="6382512" y="283464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CCFF00"/>
                  </a:solidFill>
                  <a:latin typeface="Calibri"/>
                </a:rPr>
                <a:t>Accountable vendor: </a:t>
              </a:r>
              <a:r>
                <a:rPr sz="800" b="0" i="0">
                  <a:solidFill>
                    <a:srgbClr val="FFFFFF"/>
                  </a:solidFill>
                  <a:latin typeface="Calibri"/>
                </a:rPr>
                <a:t>enterprise support and SLA for both gateways.</a:t>
              </a:r>
            </a:p>
          </p:txBody>
        </p:sp>
        <p:pic>
          <p:nvPicPr>
            <p:cNvPr id="862" name="Icon FaRocket" descr="FaRocket_lim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163055" y="3236976"/>
              <a:ext cx="137160" cy="137160"/>
            </a:xfrm>
            <a:prstGeom prst="rect">
              <a:avLst/>
            </a:prstGeom>
          </p:spPr>
        </p:pic>
        <p:sp>
          <p:nvSpPr>
            <p:cNvPr id="863" name="Option 3 point 5"/>
            <p:cNvSpPr txBox="1"/>
            <p:nvPr/>
          </p:nvSpPr>
          <p:spPr>
            <a:xfrm>
              <a:off x="6382512" y="3200400"/>
              <a:ext cx="2212848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CCFF00"/>
                  </a:solidFill>
                  <a:latin typeface="Calibri"/>
                </a:rPr>
                <a:t>No rip-and-replace: </a:t>
              </a:r>
              <a:r>
                <a:rPr sz="800" b="0" i="0">
                  <a:solidFill>
                    <a:srgbClr val="FFFFFF"/>
                  </a:solidFill>
                  <a:latin typeface="Calibri"/>
                </a:rPr>
                <a:t>start with AI traffic beside today’s gateway.</a:t>
              </a:r>
            </a:p>
          </p:txBody>
        </p:sp>
        <p:sp>
          <p:nvSpPr>
            <p:cNvPr id="864" name="Option 3 verdict"/>
            <p:cNvSpPr/>
            <p:nvPr/>
          </p:nvSpPr>
          <p:spPr>
            <a:xfrm>
              <a:off x="6126479" y="3566160"/>
              <a:ext cx="2468879" cy="329184"/>
            </a:xfrm>
            <a:prstGeom prst="roundRect">
              <a:avLst>
                <a:gd name="adj" fmla="val 12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square" lIns="73152" tIns="0" rIns="73152" bIns="0" rtlCol="0" anchor="ctr"/>
            <a:lstStyle/>
            <a:p>
              <a:pPr algn="ctr"/>
              <a:r>
                <a:rPr sz="700" b="1" i="0">
                  <a:solidFill>
                    <a:srgbClr val="001408"/>
                  </a:solidFill>
                  <a:latin typeface="Calibri"/>
                </a:rPr>
                <a:t>Frictionless: each pillar gets its own layer, governed as one platform.</a:t>
              </a:r>
            </a:p>
          </p:txBody>
        </p:sp>
      </p:grpSp>
      <p:grpSp>
        <p:nvGrpSpPr>
          <p:cNvPr id="5" name="References"/>
          <p:cNvGrpSpPr/>
          <p:nvPr/>
        </p:nvGrpSpPr>
        <p:grpSpPr>
          <a:xfrm>
            <a:off x="457200" y="4059936"/>
            <a:ext cx="8229600" cy="530352"/>
            <a:chOff x="457200" y="4059936"/>
            <a:chExt cx="8229600" cy="530352"/>
          </a:xfrm>
        </p:grpSpPr>
        <p:sp>
          <p:nvSpPr>
            <p:cNvPr id="865" name="References band"/>
            <p:cNvSpPr/>
            <p:nvPr/>
          </p:nvSpPr>
          <p:spPr>
            <a:xfrm>
              <a:off x="457200" y="4059936"/>
              <a:ext cx="8229600" cy="53035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6" name="References label"/>
            <p:cNvSpPr txBox="1"/>
            <p:nvPr/>
          </p:nvSpPr>
          <p:spPr>
            <a:xfrm>
              <a:off x="566928" y="4059936"/>
              <a:ext cx="100584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4A8500"/>
                  </a:solidFill>
                  <a:latin typeface="Calibri"/>
                </a:rPr>
                <a:t>CHOSEN BY</a:t>
              </a:r>
            </a:p>
            <a:p>
              <a:pPr algn="l"/>
              <a:r>
                <a:rPr sz="800" b="1" i="0">
                  <a:solidFill>
                    <a:srgbClr val="4A8500"/>
                  </a:solidFill>
                  <a:latin typeface="Calibri"/>
                </a:rPr>
                <a:t>BANKS AND INSURERS</a:t>
              </a:r>
            </a:p>
          </p:txBody>
        </p:sp>
        <p:sp>
          <p:nvSpPr>
            <p:cNvPr id="867" name="Reference 1 name"/>
            <p:cNvSpPr txBox="1"/>
            <p:nvPr/>
          </p:nvSpPr>
          <p:spPr>
            <a:xfrm>
              <a:off x="1664208" y="4114800"/>
              <a:ext cx="16459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First Abu Dhabi Bank</a:t>
              </a:r>
            </a:p>
          </p:txBody>
        </p:sp>
        <p:sp>
          <p:nvSpPr>
            <p:cNvPr id="868" name="Reference 1 fact"/>
            <p:cNvSpPr txBox="1"/>
            <p:nvPr/>
          </p:nvSpPr>
          <p:spPr>
            <a:xfrm>
              <a:off x="1664208" y="4297680"/>
              <a:ext cx="164592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UAE’s largest bank: 57% lower API operational costs</a:t>
              </a:r>
            </a:p>
          </p:txBody>
        </p:sp>
        <p:cxnSp>
          <p:nvCxnSpPr>
            <p:cNvPr id="869" name="Reference divider"/>
            <p:cNvCxnSpPr/>
            <p:nvPr/>
          </p:nvCxnSpPr>
          <p:spPr>
            <a:xfrm>
              <a:off x="3346704" y="4151376"/>
              <a:ext cx="0" cy="347472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70" name="Reference 2 name"/>
            <p:cNvSpPr txBox="1"/>
            <p:nvPr/>
          </p:nvSpPr>
          <p:spPr>
            <a:xfrm>
              <a:off x="3419856" y="4114800"/>
              <a:ext cx="16459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Goldman Sachs</a:t>
              </a:r>
            </a:p>
          </p:txBody>
        </p:sp>
        <p:sp>
          <p:nvSpPr>
            <p:cNvPr id="871" name="Reference 2 fact"/>
            <p:cNvSpPr txBox="1"/>
            <p:nvPr/>
          </p:nvSpPr>
          <p:spPr>
            <a:xfrm>
              <a:off x="3419856" y="4297680"/>
              <a:ext cx="164592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customer since 2018: 30× service deployment capability</a:t>
              </a:r>
            </a:p>
          </p:txBody>
        </p:sp>
        <p:cxnSp>
          <p:nvCxnSpPr>
            <p:cNvPr id="872" name="Reference divider"/>
            <p:cNvCxnSpPr/>
            <p:nvPr/>
          </p:nvCxnSpPr>
          <p:spPr>
            <a:xfrm>
              <a:off x="5102352" y="4151376"/>
              <a:ext cx="0" cy="347472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73" name="Reference 3 name"/>
            <p:cNvSpPr txBox="1"/>
            <p:nvPr/>
          </p:nvSpPr>
          <p:spPr>
            <a:xfrm>
              <a:off x="5175504" y="4114800"/>
              <a:ext cx="16459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Standard Chartered</a:t>
              </a:r>
            </a:p>
          </p:txBody>
        </p:sp>
        <p:sp>
          <p:nvSpPr>
            <p:cNvPr id="874" name="Reference 3 fact"/>
            <p:cNvSpPr txBox="1"/>
            <p:nvPr/>
          </p:nvSpPr>
          <p:spPr>
            <a:xfrm>
              <a:off x="5175504" y="4297680"/>
              <a:ext cx="164592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>
                  <a:solidFill>
                    <a:srgbClr val="4B5650"/>
                  </a:solidFill>
                  <a:latin typeface="Calibri"/>
                </a:rPr>
                <a:t>Kong across 50 markets and 400+ applications</a:t>
              </a:r>
            </a:p>
          </p:txBody>
        </p:sp>
        <p:cxnSp>
          <p:nvCxnSpPr>
            <p:cNvPr id="875" name="Reference divider"/>
            <p:cNvCxnSpPr/>
            <p:nvPr/>
          </p:nvCxnSpPr>
          <p:spPr>
            <a:xfrm>
              <a:off x="6858000" y="4151376"/>
              <a:ext cx="0" cy="347472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76" name="Reference 4 name"/>
            <p:cNvSpPr txBox="1"/>
            <p:nvPr/>
          </p:nvSpPr>
          <p:spPr>
            <a:xfrm>
              <a:off x="6931152" y="4114800"/>
              <a:ext cx="16459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Prudential</a:t>
              </a:r>
            </a:p>
          </p:txBody>
        </p:sp>
        <p:sp>
          <p:nvSpPr>
            <p:cNvPr id="877" name="Reference 4 fact"/>
            <p:cNvSpPr txBox="1"/>
            <p:nvPr/>
          </p:nvSpPr>
          <p:spPr>
            <a:xfrm>
              <a:off x="6931152" y="4297680"/>
              <a:ext cx="16459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0" i="0" dirty="0">
                  <a:solidFill>
                    <a:srgbClr val="4B5650"/>
                  </a:solidFill>
                  <a:latin typeface="Calibri"/>
                </a:rPr>
                <a:t>Kong AI Gateway in its AI-led </a:t>
              </a:r>
              <a:br>
                <a:rPr lang="en-US" sz="700" b="0" i="0" dirty="0">
                  <a:solidFill>
                    <a:srgbClr val="4B5650"/>
                  </a:solidFill>
                  <a:latin typeface="Calibri"/>
                </a:rPr>
              </a:br>
              <a:r>
                <a:rPr sz="700" b="0" i="0" dirty="0" err="1">
                  <a:solidFill>
                    <a:srgbClr val="4B5650"/>
                  </a:solidFill>
                  <a:latin typeface="Calibri"/>
                </a:rPr>
                <a:t>modernisation</a:t>
              </a:r>
              <a:endParaRPr sz="700" b="0" i="0" dirty="0">
                <a:solidFill>
                  <a:srgbClr val="4B5650"/>
                </a:solidFill>
                <a:latin typeface="Calibri"/>
              </a:endParaRPr>
            </a:p>
          </p:txBody>
        </p:sp>
      </p:grpSp>
      <p:sp>
        <p:nvSpPr>
          <p:cNvPr id="878" name="Source"/>
          <p:cNvSpPr txBox="1"/>
          <p:nvPr/>
        </p:nvSpPr>
        <p:spPr>
          <a:xfrm>
            <a:off x="502920" y="4654296"/>
            <a:ext cx="8138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6B7069"/>
                </a:solidFill>
                <a:latin typeface="Calibri"/>
              </a:rPr>
              <a:t>Source: Kong press release, First Abu Dhabi Bank (Oct 2021); Kong customer stories: Goldman Sachs, Prudential (API Summit); Kong Summit 2021 awards: Standard Chartered</a:t>
            </a:r>
          </a:p>
        </p:txBody>
      </p:sp>
    </p:spTree>
    <p:extLst>
      <p:ext uri="{BB962C8B-B14F-4D97-AF65-F5344CB8AC3E}">
        <p14:creationId xmlns:p14="http://schemas.microsoft.com/office/powerpoint/2010/main" val="34466850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ONE PLATFORM  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One platform for APIs, events and AI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3  PROOF</a:t>
            </a:r>
          </a:p>
        </p:txBody>
      </p:sp>
      <p:sp>
        <p:nvSpPr>
          <p:cNvPr id="816" name="Subtitle"/>
          <p:cNvSpPr txBox="1"/>
          <p:nvPr/>
        </p:nvSpPr>
        <p:spPr>
          <a:xfrm>
            <a:off x="466344" y="886968"/>
            <a:ext cx="81838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650"/>
                </a:solidFill>
                <a:latin typeface="Calibri"/>
              </a:rPr>
              <a:t>AI Gateway is one runtime on Konnect. The same platform runs GNB’s APIs and event streams, and agents’ tools are those same APIs.</a:t>
            </a:r>
          </a:p>
        </p:txBody>
      </p:sp>
      <p:sp>
        <p:nvSpPr>
          <p:cNvPr id="817" name="Konnect band"/>
          <p:cNvSpPr/>
          <p:nvPr/>
        </p:nvSpPr>
        <p:spPr>
          <a:xfrm>
            <a:off x="457200" y="1133856"/>
            <a:ext cx="8229600" cy="402336"/>
          </a:xfrm>
          <a:prstGeom prst="roundRect">
            <a:avLst>
              <a:gd name="adj" fmla="val 10000"/>
            </a:avLst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18" name="Konnect label"/>
          <p:cNvSpPr txBox="1"/>
          <p:nvPr/>
        </p:nvSpPr>
        <p:spPr>
          <a:xfrm>
            <a:off x="566928" y="1133856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Calibri"/>
              </a:rPr>
              <a:t>KONNECT  ·  ONE</a:t>
            </a:r>
          </a:p>
          <a:p>
            <a:pPr algn="l"/>
            <a:r>
              <a:rPr sz="900" b="1" i="0">
                <a:solidFill>
                  <a:srgbClr val="CCFF00"/>
                </a:solidFill>
                <a:latin typeface="Calibri"/>
              </a:rPr>
              <a:t>CONTROL PLANE · ME</a:t>
            </a:r>
          </a:p>
        </p:txBody>
      </p:sp>
      <p:sp>
        <p:nvSpPr>
          <p:cNvPr id="819" name="Service Gateway Manager"/>
          <p:cNvSpPr/>
          <p:nvPr/>
        </p:nvSpPr>
        <p:spPr>
          <a:xfrm>
            <a:off x="1920240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0" name="Icon FaServ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266444"/>
            <a:ext cx="137160" cy="137160"/>
          </a:xfrm>
          <a:prstGeom prst="rect">
            <a:avLst/>
          </a:prstGeom>
        </p:spPr>
      </p:pic>
      <p:sp>
        <p:nvSpPr>
          <p:cNvPr id="821" name="Service Gateway Manager label"/>
          <p:cNvSpPr txBox="1"/>
          <p:nvPr/>
        </p:nvSpPr>
        <p:spPr>
          <a:xfrm>
            <a:off x="2139696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Gateway Manager</a:t>
            </a:r>
          </a:p>
        </p:txBody>
      </p:sp>
      <p:sp>
        <p:nvSpPr>
          <p:cNvPr id="822" name="Service AI Gateway"/>
          <p:cNvSpPr/>
          <p:nvPr/>
        </p:nvSpPr>
        <p:spPr>
          <a:xfrm>
            <a:off x="2761488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3" name="Icon FaBrain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266444"/>
            <a:ext cx="137160" cy="137160"/>
          </a:xfrm>
          <a:prstGeom prst="rect">
            <a:avLst/>
          </a:prstGeom>
        </p:spPr>
      </p:pic>
      <p:sp>
        <p:nvSpPr>
          <p:cNvPr id="824" name="Service AI Gateway label"/>
          <p:cNvSpPr txBox="1"/>
          <p:nvPr/>
        </p:nvSpPr>
        <p:spPr>
          <a:xfrm>
            <a:off x="2980944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AI Gateway</a:t>
            </a:r>
          </a:p>
        </p:txBody>
      </p:sp>
      <p:sp>
        <p:nvSpPr>
          <p:cNvPr id="825" name="Service Dev Portal"/>
          <p:cNvSpPr/>
          <p:nvPr/>
        </p:nvSpPr>
        <p:spPr>
          <a:xfrm>
            <a:off x="3602736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6" name="Icon FaBoo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266444"/>
            <a:ext cx="137160" cy="137160"/>
          </a:xfrm>
          <a:prstGeom prst="rect">
            <a:avLst/>
          </a:prstGeom>
        </p:spPr>
      </p:pic>
      <p:sp>
        <p:nvSpPr>
          <p:cNvPr id="827" name="Service Dev Portal label"/>
          <p:cNvSpPr txBox="1"/>
          <p:nvPr/>
        </p:nvSpPr>
        <p:spPr>
          <a:xfrm>
            <a:off x="3822192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Dev Portal</a:t>
            </a:r>
          </a:p>
        </p:txBody>
      </p:sp>
      <p:sp>
        <p:nvSpPr>
          <p:cNvPr id="828" name="Service Catalog"/>
          <p:cNvSpPr/>
          <p:nvPr/>
        </p:nvSpPr>
        <p:spPr>
          <a:xfrm>
            <a:off x="4443984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9" name="Icon FaTab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1266444"/>
            <a:ext cx="137160" cy="137160"/>
          </a:xfrm>
          <a:prstGeom prst="rect">
            <a:avLst/>
          </a:prstGeom>
        </p:spPr>
      </p:pic>
      <p:sp>
        <p:nvSpPr>
          <p:cNvPr id="830" name="Service Catalog label"/>
          <p:cNvSpPr txBox="1"/>
          <p:nvPr/>
        </p:nvSpPr>
        <p:spPr>
          <a:xfrm>
            <a:off x="4663440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831" name="Service Analytics"/>
          <p:cNvSpPr/>
          <p:nvPr/>
        </p:nvSpPr>
        <p:spPr>
          <a:xfrm>
            <a:off x="5285232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2" name="Icon FaChartLin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1266444"/>
            <a:ext cx="137160" cy="137160"/>
          </a:xfrm>
          <a:prstGeom prst="rect">
            <a:avLst/>
          </a:prstGeom>
        </p:spPr>
      </p:pic>
      <p:sp>
        <p:nvSpPr>
          <p:cNvPr id="833" name="Service Analytics label"/>
          <p:cNvSpPr txBox="1"/>
          <p:nvPr/>
        </p:nvSpPr>
        <p:spPr>
          <a:xfrm>
            <a:off x="5504688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834" name="Service Kong Identity"/>
          <p:cNvSpPr/>
          <p:nvPr/>
        </p:nvSpPr>
        <p:spPr>
          <a:xfrm>
            <a:off x="6126480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5" name="Icon FaKey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1266444"/>
            <a:ext cx="137160" cy="137160"/>
          </a:xfrm>
          <a:prstGeom prst="rect">
            <a:avLst/>
          </a:prstGeom>
        </p:spPr>
      </p:pic>
      <p:sp>
        <p:nvSpPr>
          <p:cNvPr id="836" name="Service Kong Identity label"/>
          <p:cNvSpPr txBox="1"/>
          <p:nvPr/>
        </p:nvSpPr>
        <p:spPr>
          <a:xfrm>
            <a:off x="6345936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Kong Identity</a:t>
            </a:r>
          </a:p>
        </p:txBody>
      </p:sp>
      <p:sp>
        <p:nvSpPr>
          <p:cNvPr id="837" name="Service Metering &amp; Billing"/>
          <p:cNvSpPr/>
          <p:nvPr/>
        </p:nvSpPr>
        <p:spPr>
          <a:xfrm>
            <a:off x="6967728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8" name="Icon FaCoin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2592" y="1266444"/>
            <a:ext cx="137160" cy="137160"/>
          </a:xfrm>
          <a:prstGeom prst="rect">
            <a:avLst/>
          </a:prstGeom>
        </p:spPr>
      </p:pic>
      <p:sp>
        <p:nvSpPr>
          <p:cNvPr id="839" name="Service Metering &amp; Billing label"/>
          <p:cNvSpPr txBox="1"/>
          <p:nvPr/>
        </p:nvSpPr>
        <p:spPr>
          <a:xfrm>
            <a:off x="7187184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Metering &amp; Billing</a:t>
            </a:r>
          </a:p>
        </p:txBody>
      </p:sp>
      <p:sp>
        <p:nvSpPr>
          <p:cNvPr id="840" name="Service Event Gateway"/>
          <p:cNvSpPr/>
          <p:nvPr/>
        </p:nvSpPr>
        <p:spPr>
          <a:xfrm>
            <a:off x="7808976" y="1197864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1" name="Icon FaBol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266444"/>
            <a:ext cx="137160" cy="137160"/>
          </a:xfrm>
          <a:prstGeom prst="rect">
            <a:avLst/>
          </a:prstGeom>
        </p:spPr>
      </p:pic>
      <p:sp>
        <p:nvSpPr>
          <p:cNvPr id="842" name="Service Event Gateway label"/>
          <p:cNvSpPr txBox="1"/>
          <p:nvPr/>
        </p:nvSpPr>
        <p:spPr>
          <a:xfrm>
            <a:off x="8028432" y="119786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FFFFFF"/>
                </a:solidFill>
                <a:latin typeface="Calibri"/>
              </a:rPr>
              <a:t>Event Gateway</a:t>
            </a:r>
          </a:p>
        </p:txBody>
      </p:sp>
      <p:sp>
        <p:nvSpPr>
          <p:cNvPr id="843" name="Data centre"/>
          <p:cNvSpPr/>
          <p:nvPr/>
        </p:nvSpPr>
        <p:spPr>
          <a:xfrm>
            <a:off x="457200" y="1664208"/>
            <a:ext cx="8229600" cy="2249424"/>
          </a:xfrm>
          <a:prstGeom prst="roundRect">
            <a:avLst>
              <a:gd name="adj" fmla="val 3000"/>
            </a:avLst>
          </a:prstGeom>
          <a:solidFill>
            <a:srgbClr val="F7F9F4"/>
          </a:solidFill>
          <a:ln w="12700">
            <a:solidFill>
              <a:srgbClr val="4A8500"/>
            </a:solidFill>
            <a:prstDash val="dash"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4" name="Label GNB DATA CENTRE  ·  RUNTIMES ON KUBERNETES / OPENSHIFT  ·  ONE POLICY MODEL, ONE IDENTITY, ONE ANALYTICS"/>
          <p:cNvSpPr txBox="1"/>
          <p:nvPr/>
        </p:nvSpPr>
        <p:spPr>
          <a:xfrm>
            <a:off x="566928" y="1700784"/>
            <a:ext cx="6400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GNB DATA CENTRE  ·  RUNTIMES ON KUBERNETES / OPENSHIFT  ·  ONE POLICY MODEL, ONE IDENTITY, ONE ANALYTICS</a:t>
            </a:r>
          </a:p>
        </p:txBody>
      </p:sp>
      <p:grpSp>
        <p:nvGrpSpPr>
          <p:cNvPr id="2" name="Runtimes"/>
          <p:cNvGrpSpPr/>
          <p:nvPr/>
        </p:nvGrpSpPr>
        <p:grpSpPr>
          <a:xfrm>
            <a:off x="566928" y="1920240"/>
            <a:ext cx="8010144" cy="1371600"/>
            <a:chOff x="566928" y="1920240"/>
            <a:chExt cx="8010144" cy="1371600"/>
          </a:xfrm>
        </p:grpSpPr>
        <p:sp>
          <p:nvSpPr>
            <p:cNvPr id="845" name="Runtime Kong Gateway"/>
            <p:cNvSpPr/>
            <p:nvPr/>
          </p:nvSpPr>
          <p:spPr>
            <a:xfrm>
              <a:off x="566928" y="1920240"/>
              <a:ext cx="1920240" cy="1371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6" name="Runtime Kong Gateway badge badge"/>
            <p:cNvSpPr/>
            <p:nvPr/>
          </p:nvSpPr>
          <p:spPr>
            <a:xfrm>
              <a:off x="658368" y="2011680"/>
              <a:ext cx="329184" cy="329184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7" name="Runtime Kong Gateway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372" y="2090684"/>
              <a:ext cx="171175" cy="171175"/>
            </a:xfrm>
            <a:prstGeom prst="rect">
              <a:avLst/>
            </a:prstGeom>
          </p:spPr>
        </p:pic>
        <p:sp>
          <p:nvSpPr>
            <p:cNvPr id="848" name="Runtime Kong Gateway name"/>
            <p:cNvSpPr txBox="1"/>
            <p:nvPr/>
          </p:nvSpPr>
          <p:spPr>
            <a:xfrm>
              <a:off x="1060704" y="2011680"/>
              <a:ext cx="135331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Kong Gateway</a:t>
              </a:r>
            </a:p>
          </p:txBody>
        </p:sp>
        <p:sp>
          <p:nvSpPr>
            <p:cNvPr id="849" name="Runtime Kong Gateway sub"/>
            <p:cNvSpPr txBox="1"/>
            <p:nvPr/>
          </p:nvSpPr>
          <p:spPr>
            <a:xfrm>
              <a:off x="1060704" y="2194560"/>
              <a:ext cx="135331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6B7069"/>
                  </a:solidFill>
                  <a:latin typeface="Calibri"/>
                </a:rPr>
                <a:t>APIs</a:t>
              </a:r>
            </a:p>
          </p:txBody>
        </p:sp>
        <p:sp>
          <p:nvSpPr>
            <p:cNvPr id="850" name="Runtime Kong Gateway at"/>
            <p:cNvSpPr txBox="1"/>
            <p:nvPr/>
          </p:nvSpPr>
          <p:spPr>
            <a:xfrm>
              <a:off x="658368" y="2414016"/>
              <a:ext cx="17373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1" i="0">
                  <a:solidFill>
                    <a:srgbClr val="4A8500"/>
                  </a:solidFill>
                  <a:latin typeface="Calibri"/>
                </a:rPr>
                <a:t>AT GNB  </a:t>
              </a:r>
              <a:r>
                <a:rPr sz="850" b="0" i="0">
                  <a:solidFill>
                    <a:srgbClr val="4B5650"/>
                  </a:solidFill>
                  <a:latin typeface="Calibri"/>
                </a:rPr>
                <a:t>Core banking, Open Finance and partner APIs</a:t>
              </a:r>
            </a:p>
          </p:txBody>
        </p:sp>
        <p:sp>
          <p:nvSpPr>
            <p:cNvPr id="851" name="Pill OIDC · mTLS"/>
            <p:cNvSpPr/>
            <p:nvPr/>
          </p:nvSpPr>
          <p:spPr>
            <a:xfrm>
              <a:off x="658368" y="272491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OIDC · mTLS</a:t>
              </a:r>
            </a:p>
          </p:txBody>
        </p:sp>
        <p:sp>
          <p:nvSpPr>
            <p:cNvPr id="852" name="Pill rate limiting"/>
            <p:cNvSpPr/>
            <p:nvPr/>
          </p:nvSpPr>
          <p:spPr>
            <a:xfrm>
              <a:off x="658368" y="290779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rate limiting</a:t>
              </a:r>
            </a:p>
          </p:txBody>
        </p:sp>
        <p:sp>
          <p:nvSpPr>
            <p:cNvPr id="853" name="Pill request validation"/>
            <p:cNvSpPr/>
            <p:nvPr/>
          </p:nvSpPr>
          <p:spPr>
            <a:xfrm>
              <a:off x="658368" y="309067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request validation</a:t>
              </a:r>
            </a:p>
          </p:txBody>
        </p:sp>
        <p:sp>
          <p:nvSpPr>
            <p:cNvPr id="854" name="Runtime Kong AI Gateway"/>
            <p:cNvSpPr/>
            <p:nvPr/>
          </p:nvSpPr>
          <p:spPr>
            <a:xfrm>
              <a:off x="2596896" y="1920240"/>
              <a:ext cx="1920240" cy="1371600"/>
            </a:xfrm>
            <a:prstGeom prst="roundRect">
              <a:avLst>
                <a:gd name="adj" fmla="val 7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Runtime Kong AI Gateway badge badge"/>
            <p:cNvSpPr/>
            <p:nvPr/>
          </p:nvSpPr>
          <p:spPr>
            <a:xfrm>
              <a:off x="2688336" y="2011680"/>
              <a:ext cx="329184" cy="32918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56" name="Runtime Kong AI Gateway badge icon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67340" y="2090684"/>
              <a:ext cx="171175" cy="171175"/>
            </a:xfrm>
            <a:prstGeom prst="rect">
              <a:avLst/>
            </a:prstGeom>
          </p:spPr>
        </p:pic>
        <p:sp>
          <p:nvSpPr>
            <p:cNvPr id="857" name="Runtime Kong AI Gateway name"/>
            <p:cNvSpPr txBox="1"/>
            <p:nvPr/>
          </p:nvSpPr>
          <p:spPr>
            <a:xfrm>
              <a:off x="3090672" y="2011680"/>
              <a:ext cx="135331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Kong AI Gateway</a:t>
              </a:r>
            </a:p>
          </p:txBody>
        </p:sp>
        <p:sp>
          <p:nvSpPr>
            <p:cNvPr id="858" name="Runtime Kong AI Gateway sub"/>
            <p:cNvSpPr txBox="1"/>
            <p:nvPr/>
          </p:nvSpPr>
          <p:spPr>
            <a:xfrm>
              <a:off x="3090672" y="2194560"/>
              <a:ext cx="135331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FFFFFF"/>
                  </a:solidFill>
                  <a:latin typeface="Calibri"/>
                </a:rPr>
                <a:t>models · tools · agents</a:t>
              </a:r>
            </a:p>
          </p:txBody>
        </p:sp>
        <p:sp>
          <p:nvSpPr>
            <p:cNvPr id="859" name="Runtime Kong AI Gateway at"/>
            <p:cNvSpPr txBox="1"/>
            <p:nvPr/>
          </p:nvSpPr>
          <p:spPr>
            <a:xfrm>
              <a:off x="2688336" y="2414016"/>
              <a:ext cx="126187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1" i="0">
                  <a:solidFill>
                    <a:srgbClr val="CCFF00"/>
                  </a:solidFill>
                  <a:latin typeface="Calibri"/>
                </a:rPr>
                <a:t>AT GNB  </a:t>
              </a:r>
              <a:r>
                <a:rPr sz="850" b="0" i="0">
                  <a:solidFill>
                    <a:srgbClr val="FFFFFF"/>
                  </a:solidFill>
                  <a:latin typeface="Calibri"/>
                </a:rPr>
                <a:t>LLMs on vLLM, MCP tools, A2A agents</a:t>
              </a:r>
            </a:p>
          </p:txBody>
        </p:sp>
        <p:sp>
          <p:nvSpPr>
            <p:cNvPr id="860" name="Pill AI security"/>
            <p:cNvSpPr/>
            <p:nvPr/>
          </p:nvSpPr>
          <p:spPr>
            <a:xfrm>
              <a:off x="2688336" y="272491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FFFFFF"/>
                  </a:solidFill>
                  <a:latin typeface="Calibri"/>
                </a:rPr>
                <a:t>AI security</a:t>
              </a:r>
            </a:p>
          </p:txBody>
        </p:sp>
        <p:sp>
          <p:nvSpPr>
            <p:cNvPr id="861" name="Pill AI governance"/>
            <p:cNvSpPr/>
            <p:nvPr/>
          </p:nvSpPr>
          <p:spPr>
            <a:xfrm>
              <a:off x="2688336" y="290779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FFFFFF"/>
                  </a:solidFill>
                  <a:latin typeface="Calibri"/>
                </a:rPr>
                <a:t>AI governance</a:t>
              </a:r>
            </a:p>
          </p:txBody>
        </p:sp>
        <p:sp>
          <p:nvSpPr>
            <p:cNvPr id="862" name="Pill AI tokenomics"/>
            <p:cNvSpPr/>
            <p:nvPr/>
          </p:nvSpPr>
          <p:spPr>
            <a:xfrm>
              <a:off x="2688336" y="309067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1E3A27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FFFFFF"/>
                  </a:solidFill>
                  <a:latin typeface="Calibri"/>
                </a:rPr>
                <a:t>AI tokenomics</a:t>
              </a:r>
            </a:p>
          </p:txBody>
        </p:sp>
        <p:sp>
          <p:nvSpPr>
            <p:cNvPr id="863" name="Today tag"/>
            <p:cNvSpPr/>
            <p:nvPr/>
          </p:nvSpPr>
          <p:spPr>
            <a:xfrm>
              <a:off x="4041648" y="2432304"/>
              <a:ext cx="384048" cy="146304"/>
            </a:xfrm>
            <a:prstGeom prst="roundRect">
              <a:avLst>
                <a:gd name="adj" fmla="val 50000"/>
              </a:avLst>
            </a:prstGeom>
            <a:solidFill>
              <a:srgbClr val="CCFF00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850" b="1" i="0">
                  <a:solidFill>
                    <a:srgbClr val="001408"/>
                  </a:solidFill>
                  <a:latin typeface="Calibri"/>
                </a:rPr>
                <a:t>TODAY</a:t>
              </a:r>
            </a:p>
          </p:txBody>
        </p:sp>
        <p:sp>
          <p:nvSpPr>
            <p:cNvPr id="864" name="Runtime Kong Event Gateway"/>
            <p:cNvSpPr/>
            <p:nvPr/>
          </p:nvSpPr>
          <p:spPr>
            <a:xfrm>
              <a:off x="4626864" y="1920240"/>
              <a:ext cx="1920240" cy="1371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5" name="Runtime Kong Event Gateway badge badge"/>
            <p:cNvSpPr/>
            <p:nvPr/>
          </p:nvSpPr>
          <p:spPr>
            <a:xfrm>
              <a:off x="4718304" y="2011680"/>
              <a:ext cx="329184" cy="329184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6" name="Runtime Kong Event Gateway badge icon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97308" y="2090684"/>
              <a:ext cx="171175" cy="171175"/>
            </a:xfrm>
            <a:prstGeom prst="rect">
              <a:avLst/>
            </a:prstGeom>
          </p:spPr>
        </p:pic>
        <p:sp>
          <p:nvSpPr>
            <p:cNvPr id="867" name="Runtime Kong Event Gateway name"/>
            <p:cNvSpPr txBox="1"/>
            <p:nvPr/>
          </p:nvSpPr>
          <p:spPr>
            <a:xfrm>
              <a:off x="5120640" y="2011680"/>
              <a:ext cx="135331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Kong Event Gateway</a:t>
              </a:r>
            </a:p>
          </p:txBody>
        </p:sp>
        <p:sp>
          <p:nvSpPr>
            <p:cNvPr id="868" name="Runtime Kong Event Gateway sub"/>
            <p:cNvSpPr txBox="1"/>
            <p:nvPr/>
          </p:nvSpPr>
          <p:spPr>
            <a:xfrm>
              <a:off x="5120640" y="2194560"/>
              <a:ext cx="135331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6B7069"/>
                  </a:solidFill>
                  <a:latin typeface="Calibri"/>
                </a:rPr>
                <a:t>Kafka streams</a:t>
              </a:r>
            </a:p>
          </p:txBody>
        </p:sp>
        <p:sp>
          <p:nvSpPr>
            <p:cNvPr id="869" name="Runtime Kong Event Gateway at"/>
            <p:cNvSpPr txBox="1"/>
            <p:nvPr/>
          </p:nvSpPr>
          <p:spPr>
            <a:xfrm>
              <a:off x="4718304" y="2414016"/>
              <a:ext cx="17373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1" i="0">
                  <a:solidFill>
                    <a:srgbClr val="4A8500"/>
                  </a:solidFill>
                  <a:latin typeface="Calibri"/>
                </a:rPr>
                <a:t>AT GNB  </a:t>
              </a:r>
              <a:r>
                <a:rPr sz="850" b="0" i="0">
                  <a:solidFill>
                    <a:srgbClr val="4B5650"/>
                  </a:solidFill>
                  <a:latin typeface="Calibri"/>
                </a:rPr>
                <a:t>Transaction and fraud event streams</a:t>
              </a:r>
            </a:p>
          </p:txBody>
        </p:sp>
        <p:sp>
          <p:nvSpPr>
            <p:cNvPr id="870" name="Pill topic ACLs"/>
            <p:cNvSpPr/>
            <p:nvPr/>
          </p:nvSpPr>
          <p:spPr>
            <a:xfrm>
              <a:off x="4718304" y="272491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topic ACLs</a:t>
              </a:r>
            </a:p>
          </p:txBody>
        </p:sp>
        <p:sp>
          <p:nvSpPr>
            <p:cNvPr id="871" name="Pill schema validation"/>
            <p:cNvSpPr/>
            <p:nvPr/>
          </p:nvSpPr>
          <p:spPr>
            <a:xfrm>
              <a:off x="4718304" y="290779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schema validation</a:t>
              </a:r>
            </a:p>
          </p:txBody>
        </p:sp>
        <p:sp>
          <p:nvSpPr>
            <p:cNvPr id="872" name="Pill field encryption"/>
            <p:cNvSpPr/>
            <p:nvPr/>
          </p:nvSpPr>
          <p:spPr>
            <a:xfrm>
              <a:off x="4718304" y="309067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field encryption</a:t>
              </a:r>
            </a:p>
          </p:txBody>
        </p:sp>
        <p:sp>
          <p:nvSpPr>
            <p:cNvPr id="873" name="Runtime Kong Mesh"/>
            <p:cNvSpPr/>
            <p:nvPr/>
          </p:nvSpPr>
          <p:spPr>
            <a:xfrm>
              <a:off x="6656832" y="1920240"/>
              <a:ext cx="1920240" cy="1371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4" name="Runtime Kong Mesh badge badge"/>
            <p:cNvSpPr/>
            <p:nvPr/>
          </p:nvSpPr>
          <p:spPr>
            <a:xfrm>
              <a:off x="6748272" y="2011680"/>
              <a:ext cx="329184" cy="329184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5" name="Runtime Kong Mesh badge icon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27276" y="2090684"/>
              <a:ext cx="171175" cy="171175"/>
            </a:xfrm>
            <a:prstGeom prst="rect">
              <a:avLst/>
            </a:prstGeom>
          </p:spPr>
        </p:pic>
        <p:sp>
          <p:nvSpPr>
            <p:cNvPr id="876" name="Runtime Kong Mesh name"/>
            <p:cNvSpPr txBox="1"/>
            <p:nvPr/>
          </p:nvSpPr>
          <p:spPr>
            <a:xfrm>
              <a:off x="7150608" y="2011680"/>
              <a:ext cx="135331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Kong Mesh</a:t>
              </a:r>
            </a:p>
          </p:txBody>
        </p:sp>
        <p:sp>
          <p:nvSpPr>
            <p:cNvPr id="877" name="Runtime Kong Mesh sub"/>
            <p:cNvSpPr txBox="1"/>
            <p:nvPr/>
          </p:nvSpPr>
          <p:spPr>
            <a:xfrm>
              <a:off x="7150608" y="2194560"/>
              <a:ext cx="135331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6B7069"/>
                  </a:solidFill>
                  <a:latin typeface="Calibri"/>
                </a:rPr>
                <a:t>service to service</a:t>
              </a:r>
            </a:p>
          </p:txBody>
        </p:sp>
        <p:sp>
          <p:nvSpPr>
            <p:cNvPr id="878" name="Runtime Kong Mesh at"/>
            <p:cNvSpPr txBox="1"/>
            <p:nvPr/>
          </p:nvSpPr>
          <p:spPr>
            <a:xfrm>
              <a:off x="6748272" y="2414016"/>
              <a:ext cx="17373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00" b="1" i="0">
                  <a:solidFill>
                    <a:srgbClr val="4A8500"/>
                  </a:solidFill>
                  <a:latin typeface="Calibri"/>
                </a:rPr>
                <a:t>AT GNB  </a:t>
              </a:r>
              <a:r>
                <a:rPr sz="850" b="0" i="0">
                  <a:solidFill>
                    <a:srgbClr val="4B5650"/>
                  </a:solidFill>
                  <a:latin typeface="Calibri"/>
                </a:rPr>
                <a:t>Microservices behind the APIs</a:t>
              </a:r>
            </a:p>
          </p:txBody>
        </p:sp>
        <p:sp>
          <p:nvSpPr>
            <p:cNvPr id="879" name="Pill mTLS everywhere"/>
            <p:cNvSpPr/>
            <p:nvPr/>
          </p:nvSpPr>
          <p:spPr>
            <a:xfrm>
              <a:off x="6748272" y="272491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mTLS everywhere</a:t>
              </a:r>
            </a:p>
          </p:txBody>
        </p:sp>
        <p:sp>
          <p:nvSpPr>
            <p:cNvPr id="880" name="Pill traffic permissions"/>
            <p:cNvSpPr/>
            <p:nvPr/>
          </p:nvSpPr>
          <p:spPr>
            <a:xfrm>
              <a:off x="6748272" y="290779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traffic permissions</a:t>
              </a:r>
            </a:p>
          </p:txBody>
        </p:sp>
        <p:sp>
          <p:nvSpPr>
            <p:cNvPr id="881" name="Pill zero-trust policies"/>
            <p:cNvSpPr/>
            <p:nvPr/>
          </p:nvSpPr>
          <p:spPr>
            <a:xfrm>
              <a:off x="6748272" y="3090672"/>
              <a:ext cx="1737360" cy="155448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D3D9CC"/>
              </a:solidFill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sz="900" b="0" i="0">
                  <a:solidFill>
                    <a:srgbClr val="001408"/>
                  </a:solidFill>
                  <a:latin typeface="Calibri"/>
                </a:rPr>
                <a:t>zero-trust policies</a:t>
              </a:r>
            </a:p>
          </p:txBody>
        </p:sp>
      </p:grpSp>
      <p:grpSp>
        <p:nvGrpSpPr>
          <p:cNvPr id="3" name="Bridge"/>
          <p:cNvGrpSpPr/>
          <p:nvPr/>
        </p:nvGrpSpPr>
        <p:grpSpPr>
          <a:xfrm>
            <a:off x="566928" y="3383280"/>
            <a:ext cx="8010144" cy="438912"/>
            <a:chOff x="566928" y="3383280"/>
            <a:chExt cx="8010144" cy="438912"/>
          </a:xfrm>
        </p:grpSpPr>
        <p:sp>
          <p:nvSpPr>
            <p:cNvPr id="882" name="Bridge band"/>
            <p:cNvSpPr/>
            <p:nvPr/>
          </p:nvSpPr>
          <p:spPr>
            <a:xfrm>
              <a:off x="566928" y="3383280"/>
              <a:ext cx="8010144" cy="4389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3" name="Icon FaLink" descr="FaLink_acc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6656" y="3529584"/>
              <a:ext cx="146304" cy="146304"/>
            </a:xfrm>
            <a:prstGeom prst="rect">
              <a:avLst/>
            </a:prstGeom>
          </p:spPr>
        </p:pic>
        <p:sp>
          <p:nvSpPr>
            <p:cNvPr id="884" name="Bridge left"/>
            <p:cNvSpPr txBox="1"/>
            <p:nvPr/>
          </p:nvSpPr>
          <p:spPr>
            <a:xfrm>
              <a:off x="896112" y="3383280"/>
              <a:ext cx="365760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1" i="0">
                  <a:solidFill>
                    <a:srgbClr val="001408"/>
                  </a:solidFill>
                  <a:latin typeface="Calibri"/>
                </a:rPr>
                <a:t>APIs become agent tools. </a:t>
              </a:r>
              <a:r>
                <a:rPr sz="950" b="0" i="0">
                  <a:solidFill>
                    <a:srgbClr val="4B5650"/>
                  </a:solidFill>
                  <a:latin typeface="Calibri"/>
                </a:rPr>
                <a:t>A bank API is exposed as an MCP tool with the same identity and policies (Act 4).</a:t>
              </a:r>
            </a:p>
          </p:txBody>
        </p:sp>
        <p:pic>
          <p:nvPicPr>
            <p:cNvPr id="885" name="Icon FaGitAlt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81728" y="3529584"/>
              <a:ext cx="146304" cy="146304"/>
            </a:xfrm>
            <a:prstGeom prst="rect">
              <a:avLst/>
            </a:prstGeom>
          </p:spPr>
        </p:pic>
        <p:sp>
          <p:nvSpPr>
            <p:cNvPr id="886" name="Bridge right"/>
            <p:cNvSpPr txBox="1"/>
            <p:nvPr/>
          </p:nvSpPr>
          <p:spPr>
            <a:xfrm>
              <a:off x="4901184" y="3383280"/>
              <a:ext cx="3611880" cy="4389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50" b="1" i="0">
                  <a:solidFill>
                    <a:srgbClr val="001408"/>
                  </a:solidFill>
                  <a:latin typeface="Calibri"/>
                </a:rPr>
                <a:t>One way to run it. </a:t>
              </a:r>
              <a:r>
                <a:rPr sz="950" b="0" i="0">
                  <a:solidFill>
                    <a:srgbClr val="4B5650"/>
                  </a:solidFill>
                  <a:latin typeface="Calibri"/>
                </a:rPr>
                <a:t>Config as code (kongctl · decK · Terraform · Operator), one analytics and billing view for APIs and tokens.</a:t>
              </a:r>
            </a:p>
          </p:txBody>
        </p:sp>
      </p:grpSp>
      <p:grpSp>
        <p:nvGrpSpPr>
          <p:cNvPr id="4" name="Takeaway"/>
          <p:cNvGrpSpPr/>
          <p:nvPr/>
        </p:nvGrpSpPr>
        <p:grpSpPr>
          <a:xfrm>
            <a:off x="457200" y="4023360"/>
            <a:ext cx="8229600" cy="402336"/>
            <a:chOff x="457200" y="4023360"/>
            <a:chExt cx="8229600" cy="402336"/>
          </a:xfrm>
        </p:grpSpPr>
        <p:sp>
          <p:nvSpPr>
            <p:cNvPr id="887" name="Platform takeaway"/>
            <p:cNvSpPr/>
            <p:nvPr/>
          </p:nvSpPr>
          <p:spPr>
            <a:xfrm>
              <a:off x="457200" y="4023360"/>
              <a:ext cx="8229600" cy="402336"/>
            </a:xfrm>
            <a:prstGeom prst="roundRect">
              <a:avLst>
                <a:gd name="adj" fmla="val 1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8" name="Platform takeaway text"/>
            <p:cNvSpPr txBox="1"/>
            <p:nvPr/>
          </p:nvSpPr>
          <p:spPr>
            <a:xfrm>
              <a:off x="640080" y="4023360"/>
              <a:ext cx="7863840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CCFF00"/>
                  </a:solidFill>
                  <a:latin typeface="Calibri"/>
                </a:rPr>
                <a:t>Every AI call is an API call.  </a:t>
              </a:r>
              <a:r>
                <a:rPr sz="1100" b="1" i="0">
                  <a:solidFill>
                    <a:srgbClr val="FFFFFF"/>
                  </a:solidFill>
                  <a:latin typeface="Calibri"/>
                </a:rPr>
                <a:t>The controls you’ll see today are the controls GNB puts on any API, extended to models and agents.</a:t>
              </a:r>
            </a:p>
          </p:txBody>
        </p:sp>
      </p:grpSp>
      <p:sp>
        <p:nvSpPr>
          <p:cNvPr id="889" name="Source"/>
          <p:cNvSpPr txBox="1"/>
          <p:nvPr/>
        </p:nvSpPr>
        <p:spPr>
          <a:xfrm>
            <a:off x="502920" y="4654296"/>
            <a:ext cx="8138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6B7069"/>
                </a:solidFill>
                <a:latin typeface="Calibri"/>
              </a:rPr>
              <a:t>Source: Kong docs · Konnect platform, Kong Gateway, AI Gateway, Event Gateway, Kong Mesh, Dev Portal, Catalog, Metering &amp; Billing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6172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A8500"/>
                </a:solidFill>
                <a:latin typeface="Calibri"/>
              </a:rPr>
              <a:t>NEXT STEPS  </a:t>
            </a:r>
            <a:r>
              <a:rPr sz="1750" b="1" i="0">
                <a:solidFill>
                  <a:srgbClr val="001408"/>
                </a:solidFill>
                <a:latin typeface="Calibri"/>
              </a:rPr>
              <a:t>Has Kong met what production means for you?</a:t>
            </a:r>
          </a:p>
        </p:txBody>
      </p:sp>
      <p:sp>
        <p:nvSpPr>
          <p:cNvPr id="813" name="Chapter 1  STORY"/>
          <p:cNvSpPr/>
          <p:nvPr/>
        </p:nvSpPr>
        <p:spPr>
          <a:xfrm>
            <a:off x="6711696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1  STORY</a:t>
            </a:r>
          </a:p>
        </p:txBody>
      </p:sp>
      <p:sp>
        <p:nvSpPr>
          <p:cNvPr id="814" name="Chapter 2  HOW"/>
          <p:cNvSpPr/>
          <p:nvPr/>
        </p:nvSpPr>
        <p:spPr>
          <a:xfrm>
            <a:off x="7379208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>
            <a:noFill/>
          </a:ln>
        </p:spPr>
        <p:txBody>
          <a:bodyPr wrap="square" lIns="36576" tIns="0" rIns="36576" bIns="0" rtlCol="0" anchor="ctr"/>
          <a:lstStyle/>
          <a:p>
            <a:pPr algn="ctr"/>
            <a:r>
              <a:rPr sz="950" b="1" i="0">
                <a:solidFill>
                  <a:srgbClr val="6B7069"/>
                </a:solidFill>
                <a:latin typeface="Calibri"/>
              </a:rPr>
              <a:t>2  HOW</a:t>
            </a:r>
          </a:p>
        </p:txBody>
      </p:sp>
      <p:sp>
        <p:nvSpPr>
          <p:cNvPr id="815" name="Chapter 3  PROOF"/>
          <p:cNvSpPr/>
          <p:nvPr/>
        </p:nvSpPr>
        <p:spPr>
          <a:xfrm>
            <a:off x="8046720" y="475488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1" i="0">
                <a:solidFill>
                  <a:srgbClr val="001408"/>
                </a:solidFill>
                <a:latin typeface="Calibri"/>
              </a:rPr>
              <a:t>3  PROOF</a:t>
            </a:r>
          </a:p>
        </p:txBody>
      </p:sp>
      <p:grpSp>
        <p:nvGrpSpPr>
          <p:cNvPr id="2" name="Persona CIO"/>
          <p:cNvGrpSpPr/>
          <p:nvPr/>
        </p:nvGrpSpPr>
        <p:grpSpPr>
          <a:xfrm>
            <a:off x="457200" y="950976"/>
            <a:ext cx="2651760" cy="3054096"/>
            <a:chOff x="457200" y="950976"/>
            <a:chExt cx="2651760" cy="3054096"/>
          </a:xfrm>
        </p:grpSpPr>
        <p:sp>
          <p:nvSpPr>
            <p:cNvPr id="816" name="CIO card"/>
            <p:cNvSpPr/>
            <p:nvPr/>
          </p:nvSpPr>
          <p:spPr>
            <a:xfrm>
              <a:off x="457200" y="950976"/>
              <a:ext cx="2651760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CIO header"/>
            <p:cNvSpPr/>
            <p:nvPr/>
          </p:nvSpPr>
          <p:spPr>
            <a:xfrm>
              <a:off x="45720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CIO badge badge"/>
            <p:cNvSpPr/>
            <p:nvPr/>
          </p:nvSpPr>
          <p:spPr>
            <a:xfrm>
              <a:off x="56692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9" name="CIO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321" y="1134953"/>
              <a:ext cx="180685" cy="180685"/>
            </a:xfrm>
            <a:prstGeom prst="rect">
              <a:avLst/>
            </a:prstGeom>
          </p:spPr>
        </p:pic>
        <p:sp>
          <p:nvSpPr>
            <p:cNvPr id="820" name="CIO role"/>
            <p:cNvSpPr txBox="1"/>
            <p:nvPr/>
          </p:nvSpPr>
          <p:spPr>
            <a:xfrm>
              <a:off x="1005840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CIO</a:t>
              </a:r>
            </a:p>
          </p:txBody>
        </p:sp>
        <p:sp>
          <p:nvSpPr>
            <p:cNvPr id="821" name="CIO tag"/>
            <p:cNvSpPr txBox="1"/>
            <p:nvPr/>
          </p:nvSpPr>
          <p:spPr>
            <a:xfrm>
              <a:off x="1005840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SECURITY · RISK · ROI</a:t>
              </a:r>
            </a:p>
          </p:txBody>
        </p:sp>
        <p:sp>
          <p:nvSpPr>
            <p:cNvPr id="822" name="CIO quote"/>
            <p:cNvSpPr txBox="1"/>
            <p:nvPr/>
          </p:nvSpPr>
          <p:spPr>
            <a:xfrm>
              <a:off x="585216" y="1572768"/>
              <a:ext cx="2395728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“We’ve proven AI works. Now it must be secure, auditable and pay back.”</a:t>
              </a:r>
            </a:p>
          </p:txBody>
        </p:sp>
        <p:sp>
          <p:nvSpPr>
            <p:cNvPr id="823" name="Label MUST BE TRUE FOR PRODUCTION"/>
            <p:cNvSpPr txBox="1"/>
            <p:nvPr/>
          </p:nvSpPr>
          <p:spPr>
            <a:xfrm>
              <a:off x="585216" y="2048256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REQUIREMENT  ·  PROVEN IN</a:t>
              </a:r>
            </a:p>
          </p:txBody>
        </p:sp>
        <p:pic>
          <p:nvPicPr>
            <p:cNvPr id="824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240280"/>
              <a:ext cx="146304" cy="146304"/>
            </a:xfrm>
            <a:prstGeom prst="rect">
              <a:avLst/>
            </a:prstGeom>
          </p:spPr>
        </p:pic>
        <p:sp>
          <p:nvSpPr>
            <p:cNvPr id="825" name="CIO req 1"/>
            <p:cNvSpPr txBox="1"/>
            <p:nvPr/>
          </p:nvSpPr>
          <p:spPr>
            <a:xfrm>
              <a:off x="804672" y="2212848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No customer data exposed to any model</a:t>
              </a:r>
            </a:p>
          </p:txBody>
        </p:sp>
        <p:pic>
          <p:nvPicPr>
            <p:cNvPr id="826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532888"/>
              <a:ext cx="146304" cy="146304"/>
            </a:xfrm>
            <a:prstGeom prst="rect">
              <a:avLst/>
            </a:prstGeom>
          </p:spPr>
        </p:pic>
        <p:sp>
          <p:nvSpPr>
            <p:cNvPr id="827" name="CIO req 2"/>
            <p:cNvSpPr txBox="1"/>
            <p:nvPr/>
          </p:nvSpPr>
          <p:spPr>
            <a:xfrm>
              <a:off x="804672" y="2505456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Every AI call audited and visible to the SOC</a:t>
              </a:r>
            </a:p>
          </p:txBody>
        </p:sp>
        <p:pic>
          <p:nvPicPr>
            <p:cNvPr id="828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216" y="2825496"/>
              <a:ext cx="146304" cy="146304"/>
            </a:xfrm>
            <a:prstGeom prst="rect">
              <a:avLst/>
            </a:prstGeom>
          </p:spPr>
        </p:pic>
        <p:sp>
          <p:nvSpPr>
            <p:cNvPr id="829" name="CIO req 3"/>
            <p:cNvSpPr txBox="1"/>
            <p:nvPr/>
          </p:nvSpPr>
          <p:spPr>
            <a:xfrm>
              <a:off x="804672" y="2798064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TCO, ROI and use-case KPIs measurable</a:t>
              </a:r>
            </a:p>
          </p:txBody>
        </p:sp>
        <p:cxnSp>
          <p:nvCxnSpPr>
            <p:cNvPr id="830" name="CIO divider"/>
            <p:cNvCxnSpPr/>
            <p:nvPr/>
          </p:nvCxnSpPr>
          <p:spPr>
            <a:xfrm>
              <a:off x="585216" y="3127248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31" name="Label MEASURED BY  ·  TARGET"/>
            <p:cNvSpPr txBox="1"/>
            <p:nvPr/>
          </p:nvSpPr>
          <p:spPr>
            <a:xfrm>
              <a:off x="585216" y="3182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SIGN-OFF</a:t>
              </a:r>
            </a:p>
          </p:txBody>
        </p:sp>
        <p:sp>
          <p:nvSpPr>
            <p:cNvPr id="832" name="CIO kpi 1"/>
            <p:cNvSpPr txBox="1"/>
            <p:nvPr/>
          </p:nvSpPr>
          <p:spPr>
            <a:xfrm>
              <a:off x="585216" y="3328416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My requirements are met</a:t>
              </a:r>
            </a:p>
          </p:txBody>
        </p:sp>
        <p:sp>
          <p:nvSpPr>
            <p:cNvPr id="834" name="CIO kpi 2"/>
            <p:cNvSpPr txBox="1"/>
            <p:nvPr/>
          </p:nvSpPr>
          <p:spPr>
            <a:xfrm>
              <a:off x="585216" y="3529584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Kong fits our platform and needs</a:t>
              </a:r>
            </a:p>
          </p:txBody>
        </p:sp>
        <p:sp>
          <p:nvSpPr>
            <p:cNvPr id="836" name="CIO kpi 3"/>
            <p:cNvSpPr txBox="1"/>
            <p:nvPr/>
          </p:nvSpPr>
          <p:spPr>
            <a:xfrm>
              <a:off x="585216" y="3730752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Ready to go to production with Kong</a:t>
              </a:r>
            </a:p>
          </p:txBody>
        </p:sp>
        <p:sp>
          <p:nvSpPr>
            <p:cNvPr id="900" name="CIO proof 1"/>
            <p:cNvSpPr/>
            <p:nvPr/>
          </p:nvSpPr>
          <p:spPr>
            <a:xfrm>
              <a:off x="2450592" y="2258568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2</a:t>
              </a:r>
            </a:p>
          </p:txBody>
        </p:sp>
        <p:sp>
          <p:nvSpPr>
            <p:cNvPr id="901" name="CIO proof 2"/>
            <p:cNvSpPr/>
            <p:nvPr/>
          </p:nvSpPr>
          <p:spPr>
            <a:xfrm>
              <a:off x="2450592" y="2551176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2</a:t>
              </a:r>
            </a:p>
          </p:txBody>
        </p:sp>
        <p:sp>
          <p:nvSpPr>
            <p:cNvPr id="902" name="CIO proof 3"/>
            <p:cNvSpPr/>
            <p:nvPr/>
          </p:nvSpPr>
          <p:spPr>
            <a:xfrm>
              <a:off x="2450592" y="2843784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3</a:t>
              </a:r>
            </a:p>
          </p:txBody>
        </p:sp>
        <p:sp>
          <p:nvSpPr>
            <p:cNvPr id="903" name="CIO sign-off box 1"/>
            <p:cNvSpPr/>
            <p:nvPr/>
          </p:nvSpPr>
          <p:spPr>
            <a:xfrm>
              <a:off x="2834640" y="3346704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CIO sign-off box 2"/>
            <p:cNvSpPr/>
            <p:nvPr/>
          </p:nvSpPr>
          <p:spPr>
            <a:xfrm>
              <a:off x="2834640" y="3547872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CIO sign-off box 3"/>
            <p:cNvSpPr/>
            <p:nvPr/>
          </p:nvSpPr>
          <p:spPr>
            <a:xfrm>
              <a:off x="2834640" y="3749040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Persona AI Platform Owner"/>
          <p:cNvGrpSpPr/>
          <p:nvPr/>
        </p:nvGrpSpPr>
        <p:grpSpPr>
          <a:xfrm>
            <a:off x="3246120" y="950976"/>
            <a:ext cx="2651760" cy="3054096"/>
            <a:chOff x="3246120" y="950976"/>
            <a:chExt cx="2651760" cy="3054096"/>
          </a:xfrm>
        </p:grpSpPr>
        <p:sp>
          <p:nvSpPr>
            <p:cNvPr id="841" name="AI Platform Owner card"/>
            <p:cNvSpPr/>
            <p:nvPr/>
          </p:nvSpPr>
          <p:spPr>
            <a:xfrm>
              <a:off x="3246120" y="950976"/>
              <a:ext cx="2651760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2" name="AI Platform Owner header"/>
            <p:cNvSpPr/>
            <p:nvPr/>
          </p:nvSpPr>
          <p:spPr>
            <a:xfrm>
              <a:off x="324612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3" name="AI Platform Owner badge badge"/>
            <p:cNvSpPr/>
            <p:nvPr/>
          </p:nvSpPr>
          <p:spPr>
            <a:xfrm>
              <a:off x="335584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44" name="AI Platform Owner badge icon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9241" y="1134953"/>
              <a:ext cx="180685" cy="180685"/>
            </a:xfrm>
            <a:prstGeom prst="rect">
              <a:avLst/>
            </a:prstGeom>
          </p:spPr>
        </p:pic>
        <p:sp>
          <p:nvSpPr>
            <p:cNvPr id="845" name="AI Platform Owner role"/>
            <p:cNvSpPr txBox="1"/>
            <p:nvPr/>
          </p:nvSpPr>
          <p:spPr>
            <a:xfrm>
              <a:off x="3794759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AI Platform Owner</a:t>
              </a:r>
            </a:p>
          </p:txBody>
        </p:sp>
        <p:sp>
          <p:nvSpPr>
            <p:cNvPr id="846" name="AI Platform Owner tag"/>
            <p:cNvSpPr txBox="1"/>
            <p:nvPr/>
          </p:nvSpPr>
          <p:spPr>
            <a:xfrm>
              <a:off x="3794759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MODELS · TRAFFIC · TOKENOMICS</a:t>
              </a:r>
            </a:p>
          </p:txBody>
        </p:sp>
        <p:sp>
          <p:nvSpPr>
            <p:cNvPr id="847" name="AI Platform Owner quote"/>
            <p:cNvSpPr txBox="1"/>
            <p:nvPr/>
          </p:nvSpPr>
          <p:spPr>
            <a:xfrm>
              <a:off x="3374136" y="1572768"/>
              <a:ext cx="2395728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“Every team wires models differently, and tokens are a cost nobody owns.”</a:t>
              </a:r>
            </a:p>
          </p:txBody>
        </p:sp>
        <p:sp>
          <p:nvSpPr>
            <p:cNvPr id="848" name="Label MUST BE TRUE FOR PRODUCTION"/>
            <p:cNvSpPr txBox="1"/>
            <p:nvPr/>
          </p:nvSpPr>
          <p:spPr>
            <a:xfrm>
              <a:off x="3374136" y="2048256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REQUIREMENT  ·  PROVEN IN</a:t>
              </a:r>
            </a:p>
          </p:txBody>
        </p:sp>
        <p:pic>
          <p:nvPicPr>
            <p:cNvPr id="849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240280"/>
              <a:ext cx="146304" cy="146304"/>
            </a:xfrm>
            <a:prstGeom prst="rect">
              <a:avLst/>
            </a:prstGeom>
          </p:spPr>
        </p:pic>
        <p:sp>
          <p:nvSpPr>
            <p:cNvPr id="850" name="AI Platform Owner req 1"/>
            <p:cNvSpPr txBox="1"/>
            <p:nvPr/>
          </p:nvSpPr>
          <p:spPr>
            <a:xfrm>
              <a:off x="3593591" y="2212848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Every model behind one governed endpoint</a:t>
              </a:r>
            </a:p>
          </p:txBody>
        </p:sp>
        <p:pic>
          <p:nvPicPr>
            <p:cNvPr id="851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532888"/>
              <a:ext cx="146304" cy="146304"/>
            </a:xfrm>
            <a:prstGeom prst="rect">
              <a:avLst/>
            </a:prstGeom>
          </p:spPr>
        </p:pic>
        <p:sp>
          <p:nvSpPr>
            <p:cNvPr id="852" name="AI Platform Owner req 2"/>
            <p:cNvSpPr txBox="1"/>
            <p:nvPr/>
          </p:nvSpPr>
          <p:spPr>
            <a:xfrm>
              <a:off x="3593591" y="2505456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Traffic routed by load, cost and meaning</a:t>
              </a:r>
            </a:p>
          </p:txBody>
        </p:sp>
        <p:pic>
          <p:nvPicPr>
            <p:cNvPr id="853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4136" y="2825496"/>
              <a:ext cx="146304" cy="146304"/>
            </a:xfrm>
            <a:prstGeom prst="rect">
              <a:avLst/>
            </a:prstGeom>
          </p:spPr>
        </p:pic>
        <p:sp>
          <p:nvSpPr>
            <p:cNvPr id="854" name="AI Platform Owner req 3"/>
            <p:cNvSpPr txBox="1"/>
            <p:nvPr/>
          </p:nvSpPr>
          <p:spPr>
            <a:xfrm>
              <a:off x="3593591" y="2798064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Token budgets per team; repeats from cache</a:t>
              </a:r>
            </a:p>
          </p:txBody>
        </p:sp>
        <p:cxnSp>
          <p:nvCxnSpPr>
            <p:cNvPr id="855" name="AI Platform Owner divider"/>
            <p:cNvCxnSpPr/>
            <p:nvPr/>
          </p:nvCxnSpPr>
          <p:spPr>
            <a:xfrm>
              <a:off x="3374136" y="3127248"/>
              <a:ext cx="239572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56" name="Label MEASURED BY  ·  TARGET"/>
            <p:cNvSpPr txBox="1"/>
            <p:nvPr/>
          </p:nvSpPr>
          <p:spPr>
            <a:xfrm>
              <a:off x="3374136" y="3182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SIGN-OFF</a:t>
              </a:r>
            </a:p>
          </p:txBody>
        </p:sp>
        <p:sp>
          <p:nvSpPr>
            <p:cNvPr id="857" name="AI Platform Owner kpi 1"/>
            <p:cNvSpPr txBox="1"/>
            <p:nvPr/>
          </p:nvSpPr>
          <p:spPr>
            <a:xfrm>
              <a:off x="3374136" y="3328416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My requirements are met</a:t>
              </a:r>
            </a:p>
          </p:txBody>
        </p:sp>
        <p:sp>
          <p:nvSpPr>
            <p:cNvPr id="859" name="AI Platform Owner kpi 2"/>
            <p:cNvSpPr txBox="1"/>
            <p:nvPr/>
          </p:nvSpPr>
          <p:spPr>
            <a:xfrm>
              <a:off x="3374136" y="3529584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Kong fits our platform and needs</a:t>
              </a:r>
            </a:p>
          </p:txBody>
        </p:sp>
        <p:sp>
          <p:nvSpPr>
            <p:cNvPr id="861" name="AI Platform Owner kpi 3"/>
            <p:cNvSpPr txBox="1"/>
            <p:nvPr/>
          </p:nvSpPr>
          <p:spPr>
            <a:xfrm>
              <a:off x="3374136" y="3730752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Ready to go to production with Kong</a:t>
              </a:r>
            </a:p>
          </p:txBody>
        </p:sp>
        <p:sp>
          <p:nvSpPr>
            <p:cNvPr id="906" name="AI Platform Owner proof 1"/>
            <p:cNvSpPr/>
            <p:nvPr/>
          </p:nvSpPr>
          <p:spPr>
            <a:xfrm>
              <a:off x="5239512" y="2258568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1</a:t>
              </a:r>
            </a:p>
          </p:txBody>
        </p:sp>
        <p:sp>
          <p:nvSpPr>
            <p:cNvPr id="907" name="AI Platform Owner proof 2"/>
            <p:cNvSpPr/>
            <p:nvPr/>
          </p:nvSpPr>
          <p:spPr>
            <a:xfrm>
              <a:off x="5239512" y="2551176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3</a:t>
              </a:r>
            </a:p>
          </p:txBody>
        </p:sp>
        <p:sp>
          <p:nvSpPr>
            <p:cNvPr id="908" name="AI Platform Owner proof 3"/>
            <p:cNvSpPr/>
            <p:nvPr/>
          </p:nvSpPr>
          <p:spPr>
            <a:xfrm>
              <a:off x="5239512" y="2843784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3</a:t>
              </a:r>
            </a:p>
          </p:txBody>
        </p:sp>
        <p:sp>
          <p:nvSpPr>
            <p:cNvPr id="909" name="AI Platform Owner sign-off box 1"/>
            <p:cNvSpPr/>
            <p:nvPr/>
          </p:nvSpPr>
          <p:spPr>
            <a:xfrm>
              <a:off x="5623560" y="3346704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AI Platform Owner sign-off box 2"/>
            <p:cNvSpPr/>
            <p:nvPr/>
          </p:nvSpPr>
          <p:spPr>
            <a:xfrm>
              <a:off x="5623560" y="3547872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AI Platform Owner sign-off box 3"/>
            <p:cNvSpPr/>
            <p:nvPr/>
          </p:nvSpPr>
          <p:spPr>
            <a:xfrm>
              <a:off x="5623560" y="3749040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Persona Lead Architect"/>
          <p:cNvGrpSpPr/>
          <p:nvPr/>
        </p:nvGrpSpPr>
        <p:grpSpPr>
          <a:xfrm>
            <a:off x="6035040" y="950976"/>
            <a:ext cx="2651760" cy="3054096"/>
            <a:chOff x="6035040" y="950976"/>
            <a:chExt cx="2651760" cy="3054096"/>
          </a:xfrm>
        </p:grpSpPr>
        <p:sp>
          <p:nvSpPr>
            <p:cNvPr id="866" name="Lead Architect card"/>
            <p:cNvSpPr/>
            <p:nvPr/>
          </p:nvSpPr>
          <p:spPr>
            <a:xfrm>
              <a:off x="6035040" y="950976"/>
              <a:ext cx="2651760" cy="305409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7" name="Lead Architect header"/>
            <p:cNvSpPr/>
            <p:nvPr/>
          </p:nvSpPr>
          <p:spPr>
            <a:xfrm>
              <a:off x="6035040" y="950976"/>
              <a:ext cx="2651760" cy="548640"/>
            </a:xfrm>
            <a:prstGeom prst="roundRect">
              <a:avLst>
                <a:gd name="adj" fmla="val 12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8" name="Lead Architect badge badge"/>
            <p:cNvSpPr/>
            <p:nvPr/>
          </p:nvSpPr>
          <p:spPr>
            <a:xfrm>
              <a:off x="6144768" y="1051560"/>
              <a:ext cx="347472" cy="347472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9" name="Lead Architect badge icon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8161" y="1134953"/>
              <a:ext cx="180685" cy="180685"/>
            </a:xfrm>
            <a:prstGeom prst="rect">
              <a:avLst/>
            </a:prstGeom>
          </p:spPr>
        </p:pic>
        <p:sp>
          <p:nvSpPr>
            <p:cNvPr id="870" name="Lead Architect role"/>
            <p:cNvSpPr txBox="1"/>
            <p:nvPr/>
          </p:nvSpPr>
          <p:spPr>
            <a:xfrm>
              <a:off x="6583679" y="1033272"/>
              <a:ext cx="20116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Lead Architect</a:t>
              </a:r>
            </a:p>
          </p:txBody>
        </p:sp>
        <p:sp>
          <p:nvSpPr>
            <p:cNvPr id="871" name="Lead Architect tag"/>
            <p:cNvSpPr txBox="1"/>
            <p:nvPr/>
          </p:nvSpPr>
          <p:spPr>
            <a:xfrm>
              <a:off x="6583679" y="1261872"/>
              <a:ext cx="201168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CCFF00"/>
                  </a:solidFill>
                  <a:latin typeface="Calibri"/>
                </a:rPr>
                <a:t>INTEGRATION · SCALE · CONTINUITY</a:t>
              </a:r>
            </a:p>
          </p:txBody>
        </p:sp>
        <p:sp>
          <p:nvSpPr>
            <p:cNvPr id="872" name="Lead Architect quote"/>
            <p:cNvSpPr txBox="1"/>
            <p:nvPr/>
          </p:nvSpPr>
          <p:spPr>
            <a:xfrm>
              <a:off x="6163055" y="1572768"/>
              <a:ext cx="2395728" cy="4206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50" b="0" i="1">
                  <a:solidFill>
                    <a:srgbClr val="001408"/>
                  </a:solidFill>
                  <a:latin typeface="Calibri"/>
                </a:rPr>
                <a:t>“It has to run on our platform, scale with demand and never be a single point of failure.”</a:t>
              </a:r>
            </a:p>
          </p:txBody>
        </p:sp>
        <p:sp>
          <p:nvSpPr>
            <p:cNvPr id="873" name="Label MUST BE TRUE FOR PRODUCTION"/>
            <p:cNvSpPr txBox="1"/>
            <p:nvPr/>
          </p:nvSpPr>
          <p:spPr>
            <a:xfrm>
              <a:off x="6163055" y="2048256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REQUIREMENT  ·  PROVEN IN</a:t>
              </a:r>
            </a:p>
          </p:txBody>
        </p:sp>
        <p:pic>
          <p:nvPicPr>
            <p:cNvPr id="874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240280"/>
              <a:ext cx="146304" cy="146304"/>
            </a:xfrm>
            <a:prstGeom prst="rect">
              <a:avLst/>
            </a:prstGeom>
          </p:spPr>
        </p:pic>
        <p:sp>
          <p:nvSpPr>
            <p:cNvPr id="875" name="Lead Architect req 1"/>
            <p:cNvSpPr txBox="1"/>
            <p:nvPr/>
          </p:nvSpPr>
          <p:spPr>
            <a:xfrm>
              <a:off x="6382512" y="2212848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Native fit: Kubernetes, IdP, secrets, SIEM</a:t>
              </a:r>
            </a:p>
          </p:txBody>
        </p:sp>
        <p:pic>
          <p:nvPicPr>
            <p:cNvPr id="876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532888"/>
              <a:ext cx="146304" cy="146304"/>
            </a:xfrm>
            <a:prstGeom prst="rect">
              <a:avLst/>
            </a:prstGeom>
          </p:spPr>
        </p:pic>
        <p:sp>
          <p:nvSpPr>
            <p:cNvPr id="877" name="Lead Architect req 2"/>
            <p:cNvSpPr txBox="1"/>
            <p:nvPr/>
          </p:nvSpPr>
          <p:spPr>
            <a:xfrm>
              <a:off x="6382512" y="2505456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Stateless, sized to scale out with demand</a:t>
              </a:r>
            </a:p>
          </p:txBody>
        </p:sp>
        <p:pic>
          <p:nvPicPr>
            <p:cNvPr id="878" name="Icon FaClipboardChe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3055" y="2825496"/>
              <a:ext cx="146304" cy="146304"/>
            </a:xfrm>
            <a:prstGeom prst="rect">
              <a:avLst/>
            </a:prstGeom>
          </p:spPr>
        </p:pic>
        <p:sp>
          <p:nvSpPr>
            <p:cNvPr id="879" name="Lead Architect req 3"/>
            <p:cNvSpPr txBox="1"/>
            <p:nvPr/>
          </p:nvSpPr>
          <p:spPr>
            <a:xfrm>
              <a:off x="6382512" y="2798064"/>
              <a:ext cx="1591056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001408"/>
                  </a:solidFill>
                  <a:latin typeface="Calibri"/>
                </a:rPr>
                <a:t>HA and DR with no single point of failure</a:t>
              </a:r>
            </a:p>
          </p:txBody>
        </p:sp>
        <p:cxnSp>
          <p:nvCxnSpPr>
            <p:cNvPr id="880" name="Lead Architect divider"/>
            <p:cNvCxnSpPr/>
            <p:nvPr/>
          </p:nvCxnSpPr>
          <p:spPr>
            <a:xfrm>
              <a:off x="6163055" y="3127248"/>
              <a:ext cx="2395729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81" name="Label MEASURED BY  ·  TARGET"/>
            <p:cNvSpPr txBox="1"/>
            <p:nvPr/>
          </p:nvSpPr>
          <p:spPr>
            <a:xfrm>
              <a:off x="6163055" y="3182112"/>
              <a:ext cx="239572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>
                  <a:solidFill>
                    <a:srgbClr val="4A8500"/>
                  </a:solidFill>
                  <a:latin typeface="Calibri"/>
                </a:rPr>
                <a:t>YOUR SIGN-OFF</a:t>
              </a:r>
            </a:p>
          </p:txBody>
        </p:sp>
        <p:sp>
          <p:nvSpPr>
            <p:cNvPr id="882" name="Lead Architect kpi 1"/>
            <p:cNvSpPr txBox="1"/>
            <p:nvPr/>
          </p:nvSpPr>
          <p:spPr>
            <a:xfrm>
              <a:off x="6163055" y="3328416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My requirements are met</a:t>
              </a:r>
            </a:p>
          </p:txBody>
        </p:sp>
        <p:sp>
          <p:nvSpPr>
            <p:cNvPr id="884" name="Lead Architect kpi 2"/>
            <p:cNvSpPr txBox="1"/>
            <p:nvPr/>
          </p:nvSpPr>
          <p:spPr>
            <a:xfrm>
              <a:off x="6163055" y="3529584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Kong fits our platform and needs</a:t>
              </a:r>
            </a:p>
          </p:txBody>
        </p:sp>
        <p:sp>
          <p:nvSpPr>
            <p:cNvPr id="886" name="Lead Architect kpi 3"/>
            <p:cNvSpPr txBox="1"/>
            <p:nvPr/>
          </p:nvSpPr>
          <p:spPr>
            <a:xfrm>
              <a:off x="6163055" y="3730752"/>
              <a:ext cx="21031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Ready to go to production with Kong</a:t>
              </a:r>
            </a:p>
          </p:txBody>
        </p:sp>
        <p:sp>
          <p:nvSpPr>
            <p:cNvPr id="912" name="Lead Architect proof 1"/>
            <p:cNvSpPr/>
            <p:nvPr/>
          </p:nvSpPr>
          <p:spPr>
            <a:xfrm>
              <a:off x="8028432" y="2258568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ARCH</a:t>
              </a:r>
            </a:p>
          </p:txBody>
        </p:sp>
        <p:sp>
          <p:nvSpPr>
            <p:cNvPr id="913" name="Lead Architect proof 2"/>
            <p:cNvSpPr/>
            <p:nvPr/>
          </p:nvSpPr>
          <p:spPr>
            <a:xfrm>
              <a:off x="8028432" y="2551176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ARCH</a:t>
              </a:r>
            </a:p>
          </p:txBody>
        </p:sp>
        <p:sp>
          <p:nvSpPr>
            <p:cNvPr id="914" name="Lead Architect proof 3"/>
            <p:cNvSpPr/>
            <p:nvPr/>
          </p:nvSpPr>
          <p:spPr>
            <a:xfrm>
              <a:off x="8028432" y="2843784"/>
              <a:ext cx="530352" cy="182880"/>
            </a:xfrm>
            <a:prstGeom prst="roundRect">
              <a:avLst>
                <a:gd name="adj" fmla="val 50000"/>
              </a:avLst>
            </a:prstGeom>
            <a:solidFill>
              <a:srgbClr val="001408"/>
            </a:solidFill>
            <a:ln>
              <a:noFill/>
            </a:ln>
          </p:spPr>
          <p:txBody>
            <a:bodyPr wrap="none" lIns="18288" tIns="0" rIns="18288" bIns="0" rtlCol="0" anchor="ctr"/>
            <a:lstStyle/>
            <a:p>
              <a:pPr algn="ctr"/>
              <a:r>
                <a:rPr lang="en-US" sz="900" b="1" i="0">
                  <a:solidFill>
                    <a:srgbClr val="CCFF00"/>
                  </a:solidFill>
                  <a:latin typeface="Calibri"/>
                </a:rPr>
                <a:t>► </a:t>
              </a:r>
              <a:r>
                <a:rPr lang="en-US" sz="900" b="1" i="0">
                  <a:solidFill>
                    <a:srgbClr val="FFFFFF"/>
                  </a:solidFill>
                  <a:latin typeface="Calibri"/>
                </a:rPr>
                <a:t>ACT 1</a:t>
              </a:r>
            </a:p>
          </p:txBody>
        </p:sp>
        <p:sp>
          <p:nvSpPr>
            <p:cNvPr id="915" name="Lead Architect sign-off box 1"/>
            <p:cNvSpPr/>
            <p:nvPr/>
          </p:nvSpPr>
          <p:spPr>
            <a:xfrm>
              <a:off x="8412480" y="3346704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Lead Architect sign-off box 2"/>
            <p:cNvSpPr/>
            <p:nvPr/>
          </p:nvSpPr>
          <p:spPr>
            <a:xfrm>
              <a:off x="8412480" y="3547872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Lead Architect sign-off box 3"/>
            <p:cNvSpPr/>
            <p:nvPr/>
          </p:nvSpPr>
          <p:spPr>
            <a:xfrm>
              <a:off x="8412480" y="3749040"/>
              <a:ext cx="146304" cy="146304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587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28" name="Next steps band"/>
          <p:cNvGrpSpPr/>
          <p:nvPr/>
        </p:nvGrpSpPr>
        <p:grpSpPr>
          <a:xfrm>
            <a:off x="457200" y="4096512"/>
            <a:ext cx="8229600" cy="566928"/>
            <a:chOff x="457200" y="4096512"/>
            <a:chExt cx="8229600" cy="566928"/>
          </a:xfrm>
        </p:grpSpPr>
        <p:sp>
          <p:nvSpPr>
            <p:cNvPr id="918" name="Next band"/>
            <p:cNvSpPr/>
            <p:nvPr/>
          </p:nvSpPr>
          <p:spPr>
            <a:xfrm>
              <a:off x="457200" y="4096512"/>
              <a:ext cx="8229600" cy="566928"/>
            </a:xfrm>
            <a:prstGeom prst="roundRect">
              <a:avLst>
                <a:gd name="adj" fmla="val 8000"/>
              </a:avLst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Next label"/>
            <p:cNvSpPr txBox="1"/>
            <p:nvPr/>
          </p:nvSpPr>
          <p:spPr>
            <a:xfrm>
              <a:off x="603504" y="4096512"/>
              <a:ext cx="114300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/>
              <a:r>
                <a:rPr lang="en-US" sz="1100" b="1" i="0">
                  <a:solidFill>
                    <a:srgbClr val="CCFF00"/>
                  </a:solidFill>
                  <a:latin typeface="Calibri"/>
                </a:rPr>
                <a:t>NEXT STEPS</a:t>
              </a:r>
            </a:p>
            <a:p>
              <a:pPr algn="l"/>
              <a:r>
                <a:rPr lang="en-US" sz="1100" b="1" i="0">
                  <a:solidFill>
                    <a:srgbClr val="CCFF00"/>
                  </a:solidFill>
                  <a:latin typeface="Calibri"/>
                </a:rPr>
                <a:t>TO PRODUCTION</a:t>
              </a:r>
            </a:p>
          </p:txBody>
        </p:sp>
        <p:sp>
          <p:nvSpPr>
            <p:cNvPr id="920" name="Next 1"/>
            <p:cNvSpPr/>
            <p:nvPr/>
          </p:nvSpPr>
          <p:spPr>
            <a:xfrm>
              <a:off x="1783080" y="42428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i="0">
                  <a:solidFill>
                    <a:srgbClr val="001408"/>
                  </a:solidFill>
                  <a:latin typeface="Calibri"/>
                </a:rPr>
                <a:t>1</a:t>
              </a:r>
            </a:p>
          </p:txBody>
        </p:sp>
        <p:sp>
          <p:nvSpPr>
            <p:cNvPr id="921" name="Next 1 text"/>
            <p:cNvSpPr txBox="1"/>
            <p:nvPr/>
          </p:nvSpPr>
          <p:spPr>
            <a:xfrm>
              <a:off x="2130552" y="4133088"/>
              <a:ext cx="128016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/>
              <a:r>
                <a:rPr lang="en-US" sz="800" b="1" i="0">
                  <a:solidFill>
                    <a:srgbClr val="CCFF00"/>
                  </a:solidFill>
                  <a:latin typeface="Calibri"/>
                </a:rPr>
                <a:t>TODAY</a:t>
              </a:r>
            </a:p>
            <a:p>
              <a:pPr algn="l"/>
              <a:r>
                <a:rPr lang="en-US" sz="1000" b="1" i="0">
                  <a:solidFill>
                    <a:srgbClr val="FFFFFF"/>
                  </a:solidFill>
                  <a:latin typeface="Calibri"/>
                </a:rPr>
                <a:t>Your sign-off on each requirement</a:t>
              </a:r>
            </a:p>
          </p:txBody>
        </p:sp>
        <p:sp>
          <p:nvSpPr>
            <p:cNvPr id="922" name="Next 2"/>
            <p:cNvSpPr/>
            <p:nvPr/>
          </p:nvSpPr>
          <p:spPr>
            <a:xfrm>
              <a:off x="3483864" y="42428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i="0">
                  <a:solidFill>
                    <a:srgbClr val="001408"/>
                  </a:solidFill>
                  <a:latin typeface="Calibri"/>
                </a:rPr>
                <a:t>2</a:t>
              </a:r>
            </a:p>
          </p:txBody>
        </p:sp>
        <p:sp>
          <p:nvSpPr>
            <p:cNvPr id="923" name="Next 2 text"/>
            <p:cNvSpPr txBox="1"/>
            <p:nvPr/>
          </p:nvSpPr>
          <p:spPr>
            <a:xfrm>
              <a:off x="3831336" y="4133088"/>
              <a:ext cx="128016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/>
              <a:r>
                <a:rPr lang="en-US" sz="800" b="1" i="0">
                  <a:solidFill>
                    <a:srgbClr val="CCFF00"/>
                  </a:solidFill>
                  <a:latin typeface="Calibri"/>
                </a:rPr>
                <a:t>THIS WEEK</a:t>
              </a:r>
            </a:p>
            <a:p>
              <a:pPr algn="l"/>
              <a:r>
                <a:rPr lang="en-US" sz="1000" b="1" i="0">
                  <a:solidFill>
                    <a:srgbClr val="FFFFFF"/>
                  </a:solidFill>
                  <a:latin typeface="Calibri"/>
                </a:rPr>
                <a:t>Proposal from your account manager</a:t>
              </a:r>
            </a:p>
          </p:txBody>
        </p:sp>
        <p:sp>
          <p:nvSpPr>
            <p:cNvPr id="924" name="Next 3"/>
            <p:cNvSpPr/>
            <p:nvPr/>
          </p:nvSpPr>
          <p:spPr>
            <a:xfrm>
              <a:off x="5184648" y="42428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i="0">
                  <a:solidFill>
                    <a:srgbClr val="001408"/>
                  </a:solidFill>
                  <a:latin typeface="Calibri"/>
                </a:rPr>
                <a:t>3</a:t>
              </a:r>
            </a:p>
          </p:txBody>
        </p:sp>
        <p:sp>
          <p:nvSpPr>
            <p:cNvPr id="925" name="Next 3 text"/>
            <p:cNvSpPr txBox="1"/>
            <p:nvPr/>
          </p:nvSpPr>
          <p:spPr>
            <a:xfrm>
              <a:off x="5532120" y="4133088"/>
              <a:ext cx="128016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/>
              <a:r>
                <a:rPr lang="en-US" sz="800" b="1" i="0">
                  <a:solidFill>
                    <a:srgbClr val="CCFF00"/>
                  </a:solidFill>
                  <a:latin typeface="Calibri"/>
                </a:rPr>
                <a:t>WEEK 1</a:t>
              </a:r>
            </a:p>
            <a:p>
              <a:pPr algn="l"/>
              <a:r>
                <a:rPr lang="en-US" sz="1000" b="1" i="0">
                  <a:solidFill>
                    <a:srgbClr val="FFFFFF"/>
                  </a:solidFill>
                  <a:latin typeface="Calibri"/>
                </a:rPr>
                <a:t>Kong running on your platform</a:t>
              </a:r>
            </a:p>
          </p:txBody>
        </p:sp>
        <p:sp>
          <p:nvSpPr>
            <p:cNvPr id="926" name="Next 4"/>
            <p:cNvSpPr/>
            <p:nvPr/>
          </p:nvSpPr>
          <p:spPr>
            <a:xfrm>
              <a:off x="6885432" y="4242816"/>
              <a:ext cx="274320" cy="274320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i="0">
                  <a:solidFill>
                    <a:srgbClr val="001408"/>
                  </a:solidFill>
                  <a:latin typeface="Calibri"/>
                </a:rPr>
                <a:t>4</a:t>
              </a:r>
            </a:p>
          </p:txBody>
        </p:sp>
        <p:sp>
          <p:nvSpPr>
            <p:cNvPr id="927" name="Next 4 text"/>
            <p:cNvSpPr txBox="1"/>
            <p:nvPr/>
          </p:nvSpPr>
          <p:spPr>
            <a:xfrm>
              <a:off x="7232904" y="4133088"/>
              <a:ext cx="1280160" cy="4937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/>
              <a:r>
                <a:rPr lang="en-US" sz="800" b="1" i="0">
                  <a:solidFill>
                    <a:srgbClr val="CCFF00"/>
                  </a:solidFill>
                  <a:latin typeface="Calibri"/>
                </a:rPr>
                <a:t>WEEK 2</a:t>
              </a:r>
            </a:p>
            <a:p>
              <a:pPr algn="l"/>
              <a:r>
                <a:rPr lang="en-US" sz="1000" b="1" i="0">
                  <a:solidFill>
                    <a:srgbClr val="FFFFFF"/>
                  </a:solidFill>
                  <a:latin typeface="Calibri"/>
                </a:rPr>
                <a:t>Your first use cases in production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3180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4"/>
          <p:cNvSpPr txBox="1"/>
          <p:nvPr/>
        </p:nvSpPr>
        <p:spPr>
          <a:xfrm>
            <a:off x="627325" y="1710725"/>
            <a:ext cx="7893900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 b="1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Your AI factory is built. Your Use Cases are developed. </a:t>
            </a:r>
            <a:r>
              <a:rPr lang="en" sz="355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Kong AI Gateway </a:t>
            </a:r>
            <a:r>
              <a:rPr lang="en" sz="3550" b="1" dirty="0">
                <a:solidFill>
                  <a:srgbClr val="001408"/>
                </a:solidFill>
                <a:latin typeface="Calibri"/>
                <a:ea typeface="Calibri"/>
                <a:cs typeface="Calibri"/>
                <a:sym typeface="Calibri"/>
              </a:rPr>
              <a:t>takes </a:t>
            </a:r>
            <a:r>
              <a:rPr lang="en" sz="3550" b="1" dirty="0">
                <a:solidFill>
                  <a:srgbClr val="4A8500"/>
                </a:solidFill>
                <a:latin typeface="Calibri"/>
                <a:ea typeface="Calibri"/>
                <a:cs typeface="Calibri"/>
                <a:sym typeface="Calibri"/>
              </a:rPr>
              <a:t>every use case into production.</a:t>
            </a:r>
          </a:p>
        </p:txBody>
      </p:sp>
      <p:sp>
        <p:nvSpPr>
          <p:cNvPr id="806" name="Google Shape;806;p54"/>
          <p:cNvSpPr txBox="1">
            <a:spLocks noGrp="1"/>
          </p:cNvSpPr>
          <p:nvPr>
            <p:ph type="sldNum" idx="12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4A8500"/>
                </a:solidFill>
                <a:latin typeface="Calibri"/>
              </a:rPr>
              <a:t>APPENDIX · CAPABILITIES  </a:t>
            </a:r>
            <a:r>
              <a:rPr sz="1850" b="1" i="0">
                <a:solidFill>
                  <a:srgbClr val="001408"/>
                </a:solidFill>
                <a:latin typeface="Calibri"/>
              </a:rPr>
              <a:t>Every capability, mapped to an outcome</a:t>
            </a:r>
          </a:p>
        </p:txBody>
      </p:sp>
      <p:sp>
        <p:nvSpPr>
          <p:cNvPr id="813" name="Card Secure prompts"/>
          <p:cNvSpPr/>
          <p:nvPr/>
        </p:nvSpPr>
        <p:spPr>
          <a:xfrm>
            <a:off x="457200" y="950976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4" name="Secure prompts badge badge"/>
          <p:cNvSpPr/>
          <p:nvPr/>
        </p:nvSpPr>
        <p:spPr>
          <a:xfrm>
            <a:off x="548640" y="1042416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15" name="Secure prompts badge ic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1121420"/>
            <a:ext cx="171175" cy="171175"/>
          </a:xfrm>
          <a:prstGeom prst="rect">
            <a:avLst/>
          </a:prstGeom>
        </p:spPr>
      </p:pic>
      <p:sp>
        <p:nvSpPr>
          <p:cNvPr id="816" name="Secure prompts title"/>
          <p:cNvSpPr txBox="1"/>
          <p:nvPr/>
        </p:nvSpPr>
        <p:spPr>
          <a:xfrm>
            <a:off x="950976" y="102412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Secure prompts</a:t>
            </a:r>
          </a:p>
        </p:txBody>
      </p:sp>
      <p:sp>
        <p:nvSpPr>
          <p:cNvPr id="817" name="ACT 2 tag"/>
          <p:cNvSpPr/>
          <p:nvPr/>
        </p:nvSpPr>
        <p:spPr>
          <a:xfrm>
            <a:off x="2487168" y="1051560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818" name="Secure prompts outcome"/>
          <p:cNvSpPr txBox="1"/>
          <p:nvPr/>
        </p:nvSpPr>
        <p:spPr>
          <a:xfrm>
            <a:off x="950976" y="12344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No sensitive data to a model in clear</a:t>
            </a:r>
          </a:p>
        </p:txBody>
      </p:sp>
      <p:sp>
        <p:nvSpPr>
          <p:cNvPr id="819" name="Secure prompts capability 1"/>
          <p:cNvSpPr/>
          <p:nvPr/>
        </p:nvSpPr>
        <p:spPr>
          <a:xfrm>
            <a:off x="566928" y="148132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ai-sanitizer · on-prem PII anonymizer</a:t>
            </a:r>
          </a:p>
        </p:txBody>
      </p:sp>
      <p:sp>
        <p:nvSpPr>
          <p:cNvPr id="820" name="Secure prompts capability 2"/>
          <p:cNvSpPr/>
          <p:nvPr/>
        </p:nvSpPr>
        <p:spPr>
          <a:xfrm>
            <a:off x="566928" y="172364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ai-prompt-guard · ai-semantic-prompt-guard</a:t>
            </a:r>
          </a:p>
        </p:txBody>
      </p:sp>
      <p:sp>
        <p:nvSpPr>
          <p:cNvPr id="821" name="Secure prompts capability 3"/>
          <p:cNvSpPr/>
          <p:nvPr/>
        </p:nvSpPr>
        <p:spPr>
          <a:xfrm>
            <a:off x="566928" y="196596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ai-semantic-response-guard</a:t>
            </a:r>
          </a:p>
        </p:txBody>
      </p:sp>
      <p:sp>
        <p:nvSpPr>
          <p:cNvPr id="822" name="Secure prompts capability 4"/>
          <p:cNvSpPr/>
          <p:nvPr/>
        </p:nvSpPr>
        <p:spPr>
          <a:xfrm>
            <a:off x="566928" y="2208276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NeMo · Lakera · Azure · AWS · Model Armor</a:t>
            </a:r>
          </a:p>
        </p:txBody>
      </p:sp>
      <p:sp>
        <p:nvSpPr>
          <p:cNvPr id="823" name="Card Govern access"/>
          <p:cNvSpPr/>
          <p:nvPr/>
        </p:nvSpPr>
        <p:spPr>
          <a:xfrm>
            <a:off x="3246120" y="950976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4" name="Govern access badge badge"/>
          <p:cNvSpPr/>
          <p:nvPr/>
        </p:nvSpPr>
        <p:spPr>
          <a:xfrm>
            <a:off x="3337560" y="1042416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25" name="Govern access badge icon" descr="FaKey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564" y="1121420"/>
            <a:ext cx="171175" cy="171175"/>
          </a:xfrm>
          <a:prstGeom prst="rect">
            <a:avLst/>
          </a:prstGeom>
        </p:spPr>
      </p:pic>
      <p:sp>
        <p:nvSpPr>
          <p:cNvPr id="826" name="Govern access title"/>
          <p:cNvSpPr txBox="1"/>
          <p:nvPr/>
        </p:nvSpPr>
        <p:spPr>
          <a:xfrm>
            <a:off x="3739896" y="102412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Govern access</a:t>
            </a:r>
          </a:p>
        </p:txBody>
      </p:sp>
      <p:sp>
        <p:nvSpPr>
          <p:cNvPr id="827" name="ACT 2 tag"/>
          <p:cNvSpPr/>
          <p:nvPr/>
        </p:nvSpPr>
        <p:spPr>
          <a:xfrm>
            <a:off x="5276088" y="1051560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828" name="Govern access outcome"/>
          <p:cNvSpPr txBox="1"/>
          <p:nvPr/>
        </p:nvSpPr>
        <p:spPr>
          <a:xfrm>
            <a:off x="3739896" y="12344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Every AI call has an accountable owner</a:t>
            </a:r>
          </a:p>
        </p:txBody>
      </p:sp>
      <p:sp>
        <p:nvSpPr>
          <p:cNvPr id="829" name="Govern access capability 1"/>
          <p:cNvSpPr/>
          <p:nvPr/>
        </p:nvSpPr>
        <p:spPr>
          <a:xfrm>
            <a:off x="3355848" y="148132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Auth Strategy: key-auth · OIDC</a:t>
            </a:r>
          </a:p>
        </p:txBody>
      </p:sp>
      <p:sp>
        <p:nvSpPr>
          <p:cNvPr id="830" name="Govern access capability 2"/>
          <p:cNvSpPr/>
          <p:nvPr/>
        </p:nvSpPr>
        <p:spPr>
          <a:xfrm>
            <a:off x="3355848" y="172364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Consumers · Consumer Groups · ACLs</a:t>
            </a:r>
          </a:p>
        </p:txBody>
      </p:sp>
      <p:sp>
        <p:nvSpPr>
          <p:cNvPr id="831" name="Govern access capability 3"/>
          <p:cNvSpPr/>
          <p:nvPr/>
        </p:nvSpPr>
        <p:spPr>
          <a:xfrm>
            <a:off x="3355848" y="196596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opa · CEL policy conditions</a:t>
            </a:r>
          </a:p>
        </p:txBody>
      </p:sp>
      <p:sp>
        <p:nvSpPr>
          <p:cNvPr id="832" name="Govern access capability 4"/>
          <p:cNvSpPr/>
          <p:nvPr/>
        </p:nvSpPr>
        <p:spPr>
          <a:xfrm>
            <a:off x="3355848" y="2208276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Vault: HashiCorp · AWS · Azure · GCP</a:t>
            </a:r>
          </a:p>
        </p:txBody>
      </p:sp>
      <p:sp>
        <p:nvSpPr>
          <p:cNvPr id="833" name="Card Control cost"/>
          <p:cNvSpPr/>
          <p:nvPr/>
        </p:nvSpPr>
        <p:spPr>
          <a:xfrm>
            <a:off x="6035040" y="950976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4" name="Control cost badge badge"/>
          <p:cNvSpPr/>
          <p:nvPr/>
        </p:nvSpPr>
        <p:spPr>
          <a:xfrm>
            <a:off x="6126479" y="1042416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5" name="Control cost badge icon" descr="FaCoins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484" y="1121420"/>
            <a:ext cx="171175" cy="171175"/>
          </a:xfrm>
          <a:prstGeom prst="rect">
            <a:avLst/>
          </a:prstGeom>
        </p:spPr>
      </p:pic>
      <p:sp>
        <p:nvSpPr>
          <p:cNvPr id="836" name="Control cost title"/>
          <p:cNvSpPr txBox="1"/>
          <p:nvPr/>
        </p:nvSpPr>
        <p:spPr>
          <a:xfrm>
            <a:off x="6528816" y="102412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Control cost</a:t>
            </a:r>
          </a:p>
        </p:txBody>
      </p:sp>
      <p:sp>
        <p:nvSpPr>
          <p:cNvPr id="837" name="ACT 3 tag"/>
          <p:cNvSpPr/>
          <p:nvPr/>
        </p:nvSpPr>
        <p:spPr>
          <a:xfrm>
            <a:off x="8065008" y="1051560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3</a:t>
            </a:r>
          </a:p>
        </p:txBody>
      </p:sp>
      <p:sp>
        <p:nvSpPr>
          <p:cNvPr id="838" name="Control cost outcome"/>
          <p:cNvSpPr txBox="1"/>
          <p:nvPr/>
        </p:nvSpPr>
        <p:spPr>
          <a:xfrm>
            <a:off x="6528816" y="12344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Predictable token and GPU spend per team</a:t>
            </a:r>
          </a:p>
        </p:txBody>
      </p:sp>
      <p:sp>
        <p:nvSpPr>
          <p:cNvPr id="839" name="Control cost capability 1"/>
          <p:cNvSpPr/>
          <p:nvPr/>
        </p:nvSpPr>
        <p:spPr>
          <a:xfrm>
            <a:off x="6144768" y="148132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ai-rate-limiting-advanced (tokens, cost)</a:t>
            </a:r>
          </a:p>
        </p:txBody>
      </p:sp>
      <p:sp>
        <p:nvSpPr>
          <p:cNvPr id="840" name="Control cost capability 2"/>
          <p:cNvSpPr/>
          <p:nvPr/>
        </p:nvSpPr>
        <p:spPr>
          <a:xfrm>
            <a:off x="6144768" y="172364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ai-semantic-cache</a:t>
            </a:r>
          </a:p>
        </p:txBody>
      </p:sp>
      <p:sp>
        <p:nvSpPr>
          <p:cNvPr id="841" name="Control cost capability 3"/>
          <p:cNvSpPr/>
          <p:nvPr/>
        </p:nvSpPr>
        <p:spPr>
          <a:xfrm>
            <a:off x="6144768" y="196596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ai-prompt-compressor</a:t>
            </a:r>
          </a:p>
        </p:txBody>
      </p:sp>
      <p:sp>
        <p:nvSpPr>
          <p:cNvPr id="842" name="Control cost capability 4"/>
          <p:cNvSpPr/>
          <p:nvPr/>
        </p:nvSpPr>
        <p:spPr>
          <a:xfrm>
            <a:off x="6144768" y="2208276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cost per model · Metering &amp; Billing</a:t>
            </a:r>
          </a:p>
        </p:txBody>
      </p:sp>
      <p:sp>
        <p:nvSpPr>
          <p:cNvPr id="843" name="Card Route &amp; resilience"/>
          <p:cNvSpPr/>
          <p:nvPr/>
        </p:nvSpPr>
        <p:spPr>
          <a:xfrm>
            <a:off x="457200" y="2560320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44" name="Route &amp; resilience badge badge"/>
          <p:cNvSpPr/>
          <p:nvPr/>
        </p:nvSpPr>
        <p:spPr>
          <a:xfrm>
            <a:off x="548640" y="2651760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5" name="Route &amp; resilience badge icon" descr="FaRoute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44" y="2730764"/>
            <a:ext cx="171175" cy="171175"/>
          </a:xfrm>
          <a:prstGeom prst="rect">
            <a:avLst/>
          </a:prstGeom>
        </p:spPr>
      </p:pic>
      <p:sp>
        <p:nvSpPr>
          <p:cNvPr id="846" name="Route &amp; resilience title"/>
          <p:cNvSpPr txBox="1"/>
          <p:nvPr/>
        </p:nvSpPr>
        <p:spPr>
          <a:xfrm>
            <a:off x="950976" y="2633472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Route &amp; resilience</a:t>
            </a:r>
          </a:p>
        </p:txBody>
      </p:sp>
      <p:sp>
        <p:nvSpPr>
          <p:cNvPr id="847" name="ACT 1 tag"/>
          <p:cNvSpPr/>
          <p:nvPr/>
        </p:nvSpPr>
        <p:spPr>
          <a:xfrm>
            <a:off x="2487168" y="2660903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1</a:t>
            </a:r>
          </a:p>
        </p:txBody>
      </p:sp>
      <p:sp>
        <p:nvSpPr>
          <p:cNvPr id="848" name="Route &amp; resilience outcome"/>
          <p:cNvSpPr txBox="1"/>
          <p:nvPr/>
        </p:nvSpPr>
        <p:spPr>
          <a:xfrm>
            <a:off x="950976" y="2843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Swap or add models, zero app changes</a:t>
            </a:r>
          </a:p>
        </p:txBody>
      </p:sp>
      <p:sp>
        <p:nvSpPr>
          <p:cNvPr id="849" name="Route &amp; resilience capability 1"/>
          <p:cNvSpPr/>
          <p:nvPr/>
        </p:nvSpPr>
        <p:spPr>
          <a:xfrm>
            <a:off x="566928" y="3090672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Model: one OpenAI-compatible endpoint</a:t>
            </a:r>
          </a:p>
        </p:txBody>
      </p:sp>
      <p:sp>
        <p:nvSpPr>
          <p:cNvPr id="850" name="Route &amp; resilience capability 2"/>
          <p:cNvSpPr/>
          <p:nvPr/>
        </p:nvSpPr>
        <p:spPr>
          <a:xfrm>
            <a:off x="566928" y="333298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20 providers incl. vLLM, Ollama, Bedrock</a:t>
            </a:r>
          </a:p>
        </p:txBody>
      </p:sp>
      <p:sp>
        <p:nvSpPr>
          <p:cNvPr id="851" name="Route &amp; resilience capability 3"/>
          <p:cNvSpPr/>
          <p:nvPr/>
        </p:nvSpPr>
        <p:spPr>
          <a:xfrm>
            <a:off x="566928" y="357530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priority · lowest-latency · semantic</a:t>
            </a:r>
          </a:p>
        </p:txBody>
      </p:sp>
      <p:sp>
        <p:nvSpPr>
          <p:cNvPr id="852" name="Route &amp; resilience capability 4"/>
          <p:cNvSpPr/>
          <p:nvPr/>
        </p:nvSpPr>
        <p:spPr>
          <a:xfrm>
            <a:off x="566928" y="381762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retries · failover · circuit breaker</a:t>
            </a:r>
          </a:p>
        </p:txBody>
      </p:sp>
      <p:sp>
        <p:nvSpPr>
          <p:cNvPr id="853" name="Card Ship as config"/>
          <p:cNvSpPr/>
          <p:nvPr/>
        </p:nvSpPr>
        <p:spPr>
          <a:xfrm>
            <a:off x="3246120" y="2560320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54" name="Ship as config badge badge"/>
          <p:cNvSpPr/>
          <p:nvPr/>
        </p:nvSpPr>
        <p:spPr>
          <a:xfrm>
            <a:off x="3337560" y="2651760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55" name="Ship as config badge ico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6564" y="2730764"/>
            <a:ext cx="171175" cy="171175"/>
          </a:xfrm>
          <a:prstGeom prst="rect">
            <a:avLst/>
          </a:prstGeom>
        </p:spPr>
      </p:pic>
      <p:sp>
        <p:nvSpPr>
          <p:cNvPr id="856" name="Ship as config title"/>
          <p:cNvSpPr txBox="1"/>
          <p:nvPr/>
        </p:nvSpPr>
        <p:spPr>
          <a:xfrm>
            <a:off x="3739896" y="2633472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Ship as config</a:t>
            </a:r>
          </a:p>
        </p:txBody>
      </p:sp>
      <p:sp>
        <p:nvSpPr>
          <p:cNvPr id="857" name="Tag USE CASES"/>
          <p:cNvSpPr/>
          <p:nvPr/>
        </p:nvSpPr>
        <p:spPr>
          <a:xfrm>
            <a:off x="5148071" y="2660903"/>
            <a:ext cx="800100" cy="18288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4A8500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4A8500"/>
                </a:solidFill>
                <a:latin typeface="Calibri"/>
              </a:rPr>
              <a:t>USE CASES</a:t>
            </a:r>
          </a:p>
        </p:txBody>
      </p:sp>
      <p:sp>
        <p:nvSpPr>
          <p:cNvPr id="858" name="Ship as config outcome"/>
          <p:cNvSpPr txBox="1"/>
          <p:nvPr/>
        </p:nvSpPr>
        <p:spPr>
          <a:xfrm>
            <a:off x="3739896" y="2843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Use cases ship as config, not code</a:t>
            </a:r>
          </a:p>
        </p:txBody>
      </p:sp>
      <p:sp>
        <p:nvSpPr>
          <p:cNvPr id="859" name="Ship as config capability 1"/>
          <p:cNvSpPr/>
          <p:nvPr/>
        </p:nvSpPr>
        <p:spPr>
          <a:xfrm>
            <a:off x="3355848" y="3090672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ai-prompt-template · ai-prompt-decorator</a:t>
            </a:r>
          </a:p>
        </p:txBody>
      </p:sp>
      <p:sp>
        <p:nvSpPr>
          <p:cNvPr id="860" name="Ship as config capability 2"/>
          <p:cNvSpPr/>
          <p:nvPr/>
        </p:nvSpPr>
        <p:spPr>
          <a:xfrm>
            <a:off x="3355848" y="333298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ai-rag-injector (vector DB)</a:t>
            </a:r>
          </a:p>
        </p:txBody>
      </p:sp>
      <p:sp>
        <p:nvSpPr>
          <p:cNvPr id="861" name="Ship as config capability 3"/>
          <p:cNvSpPr/>
          <p:nvPr/>
        </p:nvSpPr>
        <p:spPr>
          <a:xfrm>
            <a:off x="3355848" y="357530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ai-request / ai-response-transformer</a:t>
            </a:r>
          </a:p>
        </p:txBody>
      </p:sp>
      <p:sp>
        <p:nvSpPr>
          <p:cNvPr id="862" name="Ship as config capability 4"/>
          <p:cNvSpPr/>
          <p:nvPr/>
        </p:nvSpPr>
        <p:spPr>
          <a:xfrm>
            <a:off x="3355848" y="381762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ai-llm-as-judge · mocking</a:t>
            </a:r>
          </a:p>
        </p:txBody>
      </p:sp>
      <p:sp>
        <p:nvSpPr>
          <p:cNvPr id="863" name="Card Agents &amp; tools"/>
          <p:cNvSpPr/>
          <p:nvPr/>
        </p:nvSpPr>
        <p:spPr>
          <a:xfrm>
            <a:off x="6035040" y="2560320"/>
            <a:ext cx="26517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4" name="Agents &amp; tools badge badge"/>
          <p:cNvSpPr/>
          <p:nvPr/>
        </p:nvSpPr>
        <p:spPr>
          <a:xfrm>
            <a:off x="6126479" y="2651760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65" name="Agents &amp; tools badge icon" descr="FaRobot_li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484" y="2730764"/>
            <a:ext cx="171175" cy="171175"/>
          </a:xfrm>
          <a:prstGeom prst="rect">
            <a:avLst/>
          </a:prstGeom>
        </p:spPr>
      </p:pic>
      <p:sp>
        <p:nvSpPr>
          <p:cNvPr id="866" name="Agents &amp; tools title"/>
          <p:cNvSpPr txBox="1"/>
          <p:nvPr/>
        </p:nvSpPr>
        <p:spPr>
          <a:xfrm>
            <a:off x="6528816" y="2633472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1408"/>
                </a:solidFill>
                <a:latin typeface="Calibri"/>
              </a:rPr>
              <a:t>Agents &amp; tools</a:t>
            </a:r>
          </a:p>
        </p:txBody>
      </p:sp>
      <p:sp>
        <p:nvSpPr>
          <p:cNvPr id="867" name="ACT 4 tag"/>
          <p:cNvSpPr/>
          <p:nvPr/>
        </p:nvSpPr>
        <p:spPr>
          <a:xfrm>
            <a:off x="8065008" y="2660903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4</a:t>
            </a:r>
          </a:p>
        </p:txBody>
      </p:sp>
      <p:sp>
        <p:nvSpPr>
          <p:cNvPr id="868" name="Agents &amp; tools outcome"/>
          <p:cNvSpPr txBox="1"/>
          <p:nvPr/>
        </p:nvSpPr>
        <p:spPr>
          <a:xfrm>
            <a:off x="6528816" y="284378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A8500"/>
                </a:solidFill>
                <a:latin typeface="Calibri"/>
              </a:rPr>
              <a:t>Agents act only through governed tools</a:t>
            </a:r>
          </a:p>
        </p:txBody>
      </p:sp>
      <p:sp>
        <p:nvSpPr>
          <p:cNvPr id="869" name="Agents &amp; tools capability 1"/>
          <p:cNvSpPr/>
          <p:nvPr/>
        </p:nvSpPr>
        <p:spPr>
          <a:xfrm>
            <a:off x="6144768" y="3090672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MCP Server: REST APIs → MCP tools</a:t>
            </a:r>
          </a:p>
        </p:txBody>
      </p:sp>
      <p:sp>
        <p:nvSpPr>
          <p:cNvPr id="870" name="Agents &amp; tools capability 2"/>
          <p:cNvSpPr/>
          <p:nvPr/>
        </p:nvSpPr>
        <p:spPr>
          <a:xfrm>
            <a:off x="6144768" y="3332988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proxy or aggregate MCP servers</a:t>
            </a:r>
          </a:p>
        </p:txBody>
      </p:sp>
      <p:sp>
        <p:nvSpPr>
          <p:cNvPr id="871" name="Agents &amp; tools capability 3"/>
          <p:cNvSpPr/>
          <p:nvPr/>
        </p:nvSpPr>
        <p:spPr>
          <a:xfrm>
            <a:off x="6144768" y="3575304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tool-level access control</a:t>
            </a:r>
          </a:p>
        </p:txBody>
      </p:sp>
      <p:sp>
        <p:nvSpPr>
          <p:cNvPr id="872" name="Agents &amp; tools capability 4"/>
          <p:cNvSpPr/>
          <p:nvPr/>
        </p:nvSpPr>
        <p:spPr>
          <a:xfrm>
            <a:off x="6144768" y="3817620"/>
            <a:ext cx="2432304" cy="192024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001408"/>
                </a:solidFill>
                <a:latin typeface="Calibri"/>
              </a:rPr>
              <a:t>AI Agent: A2A proxy + telemetry</a:t>
            </a:r>
          </a:p>
        </p:txBody>
      </p:sp>
      <p:sp>
        <p:nvSpPr>
          <p:cNvPr id="873" name="Observe band"/>
          <p:cNvSpPr/>
          <p:nvPr/>
        </p:nvSpPr>
        <p:spPr>
          <a:xfrm>
            <a:off x="457200" y="418795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74" name="Observe label"/>
          <p:cNvSpPr txBox="1"/>
          <p:nvPr/>
        </p:nvSpPr>
        <p:spPr>
          <a:xfrm>
            <a:off x="585216" y="418795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CCFF00"/>
                </a:solidFill>
                <a:latin typeface="Calibri"/>
              </a:rPr>
              <a:t>OBSERVE &amp; AUDIT</a:t>
            </a:r>
          </a:p>
          <a:p>
            <a:pPr algn="l"/>
            <a:r>
              <a:rPr sz="1000" b="1" i="0">
                <a:solidFill>
                  <a:srgbClr val="CCFF00"/>
                </a:solidFill>
                <a:latin typeface="Calibri"/>
              </a:rPr>
              <a:t>every pillar</a:t>
            </a:r>
          </a:p>
        </p:txBody>
      </p:sp>
      <p:sp>
        <p:nvSpPr>
          <p:cNvPr id="875" name="Observe Analytics: tokens · cost · latency"/>
          <p:cNvSpPr/>
          <p:nvPr/>
        </p:nvSpPr>
        <p:spPr>
          <a:xfrm>
            <a:off x="1847088" y="4306824"/>
            <a:ext cx="1836115" cy="219456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Analytics: tokens · cost · latency</a:t>
            </a:r>
          </a:p>
        </p:txBody>
      </p:sp>
      <p:sp>
        <p:nvSpPr>
          <p:cNvPr id="876" name="Observe OpenTelemetry · Prometheus · Datadog"/>
          <p:cNvSpPr/>
          <p:nvPr/>
        </p:nvSpPr>
        <p:spPr>
          <a:xfrm>
            <a:off x="3756355" y="4306824"/>
            <a:ext cx="1931212" cy="219456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OpenTelemetry · Prometheus · Datadog</a:t>
            </a:r>
          </a:p>
        </p:txBody>
      </p:sp>
      <p:sp>
        <p:nvSpPr>
          <p:cNvPr id="877" name="Observe Kafka · HTTP · Syslog → SIEM"/>
          <p:cNvSpPr/>
          <p:nvPr/>
        </p:nvSpPr>
        <p:spPr>
          <a:xfrm>
            <a:off x="5760720" y="4306824"/>
            <a:ext cx="1550822" cy="219456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Kafka · HTTP · Syslog → SIEM</a:t>
            </a:r>
          </a:p>
        </p:txBody>
      </p:sp>
      <p:sp>
        <p:nvSpPr>
          <p:cNvPr id="878" name="Observe Payloads: opt-in"/>
          <p:cNvSpPr/>
          <p:nvPr/>
        </p:nvSpPr>
        <p:spPr>
          <a:xfrm>
            <a:off x="7384694" y="4306824"/>
            <a:ext cx="980236" cy="219456"/>
          </a:xfrm>
          <a:prstGeom prst="roundRect">
            <a:avLst>
              <a:gd name="adj" fmla="val 50000"/>
            </a:avLst>
          </a:prstGeom>
          <a:solidFill>
            <a:srgbClr val="1E3A27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Payloads: opt-in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4A8500"/>
                </a:solidFill>
                <a:latin typeface="Calibri"/>
              </a:rPr>
              <a:t>APPENDIX · USE CASES  </a:t>
            </a:r>
            <a:r>
              <a:rPr sz="1850" b="1" i="0">
                <a:solidFill>
                  <a:srgbClr val="001408"/>
                </a:solidFill>
                <a:latin typeface="Calibri"/>
              </a:rPr>
              <a:t>Four GNB use cases, one governed path</a:t>
            </a:r>
          </a:p>
        </p:txBody>
      </p:sp>
      <p:sp>
        <p:nvSpPr>
          <p:cNvPr id="813" name="Label USE CASE"/>
          <p:cNvSpPr txBox="1"/>
          <p:nvPr/>
        </p:nvSpPr>
        <p:spPr>
          <a:xfrm>
            <a:off x="566928" y="969264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USE CASE</a:t>
            </a:r>
          </a:p>
        </p:txBody>
      </p:sp>
      <p:sp>
        <p:nvSpPr>
          <p:cNvPr id="814" name="Label MODEL ROUTE"/>
          <p:cNvSpPr txBox="1"/>
          <p:nvPr/>
        </p:nvSpPr>
        <p:spPr>
          <a:xfrm>
            <a:off x="2450592" y="969264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MODEL ROUTE</a:t>
            </a:r>
          </a:p>
        </p:txBody>
      </p:sp>
      <p:sp>
        <p:nvSpPr>
          <p:cNvPr id="815" name="Label REUSABLE POLICY BUNDLE"/>
          <p:cNvSpPr txBox="1"/>
          <p:nvPr/>
        </p:nvSpPr>
        <p:spPr>
          <a:xfrm>
            <a:off x="4261104" y="969264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REUSABLE POLICY BUNDLE</a:t>
            </a:r>
          </a:p>
        </p:txBody>
      </p:sp>
      <p:sp>
        <p:nvSpPr>
          <p:cNvPr id="816" name="Label OUTCOME"/>
          <p:cNvSpPr txBox="1"/>
          <p:nvPr/>
        </p:nvSpPr>
        <p:spPr>
          <a:xfrm>
            <a:off x="6784848" y="969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OUTCOME</a:t>
            </a:r>
          </a:p>
        </p:txBody>
      </p:sp>
      <p:sp>
        <p:nvSpPr>
          <p:cNvPr id="817" name="Use case Arabic customer-service copilot"/>
          <p:cNvSpPr/>
          <p:nvPr/>
        </p:nvSpPr>
        <p:spPr>
          <a:xfrm>
            <a:off x="457200" y="1170432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8" name="Arabic customer-service copilot badge badge"/>
          <p:cNvSpPr/>
          <p:nvPr/>
        </p:nvSpPr>
        <p:spPr>
          <a:xfrm>
            <a:off x="566928" y="1380744"/>
            <a:ext cx="365760" cy="365760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19" name="Arabic customer-service copilot badge icon" descr="FaUsers_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1468526"/>
            <a:ext cx="190195" cy="190195"/>
          </a:xfrm>
          <a:prstGeom prst="rect">
            <a:avLst/>
          </a:prstGeom>
        </p:spPr>
      </p:pic>
      <p:sp>
        <p:nvSpPr>
          <p:cNvPr id="820" name="Arabic customer-service copilot title"/>
          <p:cNvSpPr txBox="1"/>
          <p:nvPr/>
        </p:nvSpPr>
        <p:spPr>
          <a:xfrm>
            <a:off x="1005840" y="1170432"/>
            <a:ext cx="12801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Arabic customer-service copilot</a:t>
            </a:r>
          </a:p>
        </p:txBody>
      </p:sp>
      <p:sp>
        <p:nvSpPr>
          <p:cNvPr id="821" name="Arabic customer-service copilot route"/>
          <p:cNvSpPr txBox="1"/>
          <p:nvPr/>
        </p:nvSpPr>
        <p:spPr>
          <a:xfrm>
            <a:off x="2450592" y="1170432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In-country Arabic LLM on vLLM; cloud fallback off</a:t>
            </a:r>
          </a:p>
        </p:txBody>
      </p:sp>
      <p:sp>
        <p:nvSpPr>
          <p:cNvPr id="822" name="Arabic customer-service copilot policy 1"/>
          <p:cNvSpPr/>
          <p:nvPr/>
        </p:nvSpPr>
        <p:spPr>
          <a:xfrm>
            <a:off x="4261104" y="1243584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ai-sanitizer</a:t>
            </a:r>
          </a:p>
        </p:txBody>
      </p:sp>
      <p:sp>
        <p:nvSpPr>
          <p:cNvPr id="823" name="Arabic customer-service copilot policy 2"/>
          <p:cNvSpPr/>
          <p:nvPr/>
        </p:nvSpPr>
        <p:spPr>
          <a:xfrm>
            <a:off x="4261104" y="1467612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ai-semantic-prompt-guard</a:t>
            </a:r>
          </a:p>
        </p:txBody>
      </p:sp>
      <p:sp>
        <p:nvSpPr>
          <p:cNvPr id="824" name="Arabic customer-service copilot policy 3"/>
          <p:cNvSpPr/>
          <p:nvPr/>
        </p:nvSpPr>
        <p:spPr>
          <a:xfrm>
            <a:off x="4261104" y="1691640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ai-semantic-cache</a:t>
            </a:r>
          </a:p>
        </p:txBody>
      </p:sp>
      <p:sp>
        <p:nvSpPr>
          <p:cNvPr id="825" name="ACT 2 tag"/>
          <p:cNvSpPr/>
          <p:nvPr/>
        </p:nvSpPr>
        <p:spPr>
          <a:xfrm>
            <a:off x="6784848" y="1298448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826" name="Arabic customer-service copilot outcome"/>
          <p:cNvSpPr txBox="1"/>
          <p:nvPr/>
        </p:nvSpPr>
        <p:spPr>
          <a:xfrm>
            <a:off x="6784848" y="1554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Customer PII never reaches the model in clear</a:t>
            </a:r>
          </a:p>
        </p:txBody>
      </p:sp>
      <p:sp>
        <p:nvSpPr>
          <p:cNvPr id="827" name="Arabic customer-service copilot flow"/>
          <p:cNvSpPr/>
          <p:nvPr/>
        </p:nvSpPr>
        <p:spPr>
          <a:xfrm>
            <a:off x="2340864" y="149961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8" name="Arabic customer-service copilot flow"/>
          <p:cNvSpPr/>
          <p:nvPr/>
        </p:nvSpPr>
        <p:spPr>
          <a:xfrm>
            <a:off x="4160520" y="149961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9" name="Arabic customer-service copilot flow"/>
          <p:cNvSpPr/>
          <p:nvPr/>
        </p:nvSpPr>
        <p:spPr>
          <a:xfrm>
            <a:off x="6675120" y="149961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30" name="Use case Credit memo drafting"/>
          <p:cNvSpPr/>
          <p:nvPr/>
        </p:nvSpPr>
        <p:spPr>
          <a:xfrm>
            <a:off x="457200" y="2020824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1" name="Credit memo drafting badge badge"/>
          <p:cNvSpPr/>
          <p:nvPr/>
        </p:nvSpPr>
        <p:spPr>
          <a:xfrm>
            <a:off x="566928" y="2231136"/>
            <a:ext cx="365760" cy="365760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2" name="Credit memo drafting badge icon" descr="FaBook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2318918"/>
            <a:ext cx="190195" cy="190195"/>
          </a:xfrm>
          <a:prstGeom prst="rect">
            <a:avLst/>
          </a:prstGeom>
        </p:spPr>
      </p:pic>
      <p:sp>
        <p:nvSpPr>
          <p:cNvPr id="833" name="Credit memo drafting title"/>
          <p:cNvSpPr txBox="1"/>
          <p:nvPr/>
        </p:nvSpPr>
        <p:spPr>
          <a:xfrm>
            <a:off x="1005840" y="2020824"/>
            <a:ext cx="12801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Credit memo drafting</a:t>
            </a:r>
          </a:p>
        </p:txBody>
      </p:sp>
      <p:sp>
        <p:nvSpPr>
          <p:cNvPr id="834" name="Credit memo drafting route"/>
          <p:cNvSpPr txBox="1"/>
          <p:nvPr/>
        </p:nvSpPr>
        <p:spPr>
          <a:xfrm>
            <a:off x="2450592" y="2020824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In-country LLM with RAG over credit policy (pgvector)</a:t>
            </a:r>
          </a:p>
        </p:txBody>
      </p:sp>
      <p:sp>
        <p:nvSpPr>
          <p:cNvPr id="835" name="Credit memo drafting policy 1"/>
          <p:cNvSpPr/>
          <p:nvPr/>
        </p:nvSpPr>
        <p:spPr>
          <a:xfrm>
            <a:off x="4261104" y="2093976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ai-rag-injector</a:t>
            </a:r>
          </a:p>
        </p:txBody>
      </p:sp>
      <p:sp>
        <p:nvSpPr>
          <p:cNvPr id="836" name="Credit memo drafting policy 2"/>
          <p:cNvSpPr/>
          <p:nvPr/>
        </p:nvSpPr>
        <p:spPr>
          <a:xfrm>
            <a:off x="4261104" y="2318004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ai-prompt-template</a:t>
            </a:r>
          </a:p>
        </p:txBody>
      </p:sp>
      <p:sp>
        <p:nvSpPr>
          <p:cNvPr id="837" name="Credit memo drafting policy 3"/>
          <p:cNvSpPr/>
          <p:nvPr/>
        </p:nvSpPr>
        <p:spPr>
          <a:xfrm>
            <a:off x="4261104" y="2542032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ai-llm-as-judge</a:t>
            </a:r>
          </a:p>
        </p:txBody>
      </p:sp>
      <p:sp>
        <p:nvSpPr>
          <p:cNvPr id="838" name="Tag POV WEEK 2"/>
          <p:cNvSpPr/>
          <p:nvPr/>
        </p:nvSpPr>
        <p:spPr>
          <a:xfrm>
            <a:off x="6784848" y="2148840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4A8500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800" b="1" i="0">
                <a:solidFill>
                  <a:srgbClr val="4A8500"/>
                </a:solidFill>
                <a:latin typeface="Calibri"/>
              </a:rPr>
              <a:t>SAME PATTERN</a:t>
            </a:r>
          </a:p>
        </p:txBody>
      </p:sp>
      <p:sp>
        <p:nvSpPr>
          <p:cNvPr id="839" name="Credit memo drafting outcome"/>
          <p:cNvSpPr txBox="1"/>
          <p:nvPr/>
        </p:nvSpPr>
        <p:spPr>
          <a:xfrm>
            <a:off x="6784848" y="240487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Every draft grounded in policy and quality-scored</a:t>
            </a:r>
          </a:p>
        </p:txBody>
      </p:sp>
      <p:sp>
        <p:nvSpPr>
          <p:cNvPr id="840" name="Credit memo drafting flow"/>
          <p:cNvSpPr/>
          <p:nvPr/>
        </p:nvSpPr>
        <p:spPr>
          <a:xfrm>
            <a:off x="2340864" y="235000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1" name="Credit memo drafting flow"/>
          <p:cNvSpPr/>
          <p:nvPr/>
        </p:nvSpPr>
        <p:spPr>
          <a:xfrm>
            <a:off x="4160520" y="235000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2" name="Credit memo drafting flow"/>
          <p:cNvSpPr/>
          <p:nvPr/>
        </p:nvSpPr>
        <p:spPr>
          <a:xfrm>
            <a:off x="6675120" y="235000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3" name="Use case AML alert summarisation"/>
          <p:cNvSpPr/>
          <p:nvPr/>
        </p:nvSpPr>
        <p:spPr>
          <a:xfrm>
            <a:off x="457200" y="2871215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44" name="AML alert summarisation badge badge"/>
          <p:cNvSpPr/>
          <p:nvPr/>
        </p:nvSpPr>
        <p:spPr>
          <a:xfrm>
            <a:off x="566928" y="3081527"/>
            <a:ext cx="365760" cy="365760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5" name="AML alert summarisation badge icon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3169310"/>
            <a:ext cx="190195" cy="190195"/>
          </a:xfrm>
          <a:prstGeom prst="rect">
            <a:avLst/>
          </a:prstGeom>
        </p:spPr>
      </p:pic>
      <p:sp>
        <p:nvSpPr>
          <p:cNvPr id="846" name="AML alert summarisation title"/>
          <p:cNvSpPr txBox="1"/>
          <p:nvPr/>
        </p:nvSpPr>
        <p:spPr>
          <a:xfrm>
            <a:off x="1005840" y="2871215"/>
            <a:ext cx="12801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AML alert summarisation</a:t>
            </a:r>
          </a:p>
        </p:txBody>
      </p:sp>
      <p:sp>
        <p:nvSpPr>
          <p:cNvPr id="847" name="AML alert summarisation route"/>
          <p:cNvSpPr txBox="1"/>
          <p:nvPr/>
        </p:nvSpPr>
        <p:spPr>
          <a:xfrm>
            <a:off x="2450592" y="2871215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In-country only; model version pinned in the AI Model</a:t>
            </a:r>
          </a:p>
        </p:txBody>
      </p:sp>
      <p:sp>
        <p:nvSpPr>
          <p:cNvPr id="848" name="AML alert summarisation policy 1"/>
          <p:cNvSpPr/>
          <p:nvPr/>
        </p:nvSpPr>
        <p:spPr>
          <a:xfrm>
            <a:off x="4261104" y="2944368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ai-prompt-guard</a:t>
            </a:r>
          </a:p>
        </p:txBody>
      </p:sp>
      <p:sp>
        <p:nvSpPr>
          <p:cNvPr id="849" name="AML alert summarisation policy 2"/>
          <p:cNvSpPr/>
          <p:nvPr/>
        </p:nvSpPr>
        <p:spPr>
          <a:xfrm>
            <a:off x="4261104" y="3168396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kafka-log → SIEM</a:t>
            </a:r>
          </a:p>
        </p:txBody>
      </p:sp>
      <p:sp>
        <p:nvSpPr>
          <p:cNvPr id="850" name="AML alert summarisation policy 3"/>
          <p:cNvSpPr/>
          <p:nvPr/>
        </p:nvSpPr>
        <p:spPr>
          <a:xfrm>
            <a:off x="4261104" y="3392424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ai-rate-limiting-advanced</a:t>
            </a:r>
          </a:p>
        </p:txBody>
      </p:sp>
      <p:sp>
        <p:nvSpPr>
          <p:cNvPr id="851" name="Tag POV WEEK 2"/>
          <p:cNvSpPr/>
          <p:nvPr/>
        </p:nvSpPr>
        <p:spPr>
          <a:xfrm>
            <a:off x="6784848" y="299923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4A8500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800" b="1" i="0">
                <a:solidFill>
                  <a:srgbClr val="4A8500"/>
                </a:solidFill>
                <a:latin typeface="Calibri"/>
              </a:rPr>
              <a:t>SAME PATTERN</a:t>
            </a:r>
          </a:p>
        </p:txBody>
      </p:sp>
      <p:sp>
        <p:nvSpPr>
          <p:cNvPr id="852" name="AML alert summarisation outcome"/>
          <p:cNvSpPr txBox="1"/>
          <p:nvPr/>
        </p:nvSpPr>
        <p:spPr>
          <a:xfrm>
            <a:off x="6784848" y="3255263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Model-risk audit trail on every call</a:t>
            </a:r>
          </a:p>
        </p:txBody>
      </p:sp>
      <p:sp>
        <p:nvSpPr>
          <p:cNvPr id="853" name="AML alert summarisation flow"/>
          <p:cNvSpPr/>
          <p:nvPr/>
        </p:nvSpPr>
        <p:spPr>
          <a:xfrm>
            <a:off x="2340864" y="32004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4" name="AML alert summarisation flow"/>
          <p:cNvSpPr/>
          <p:nvPr/>
        </p:nvSpPr>
        <p:spPr>
          <a:xfrm>
            <a:off x="4160520" y="32004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5" name="AML alert summarisation flow"/>
          <p:cNvSpPr/>
          <p:nvPr/>
        </p:nvSpPr>
        <p:spPr>
          <a:xfrm>
            <a:off x="6675120" y="32004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6" name="Use case Card-ops agent"/>
          <p:cNvSpPr/>
          <p:nvPr/>
        </p:nvSpPr>
        <p:spPr>
          <a:xfrm>
            <a:off x="457200" y="3721608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57" name="Card-ops agent badge badge"/>
          <p:cNvSpPr/>
          <p:nvPr/>
        </p:nvSpPr>
        <p:spPr>
          <a:xfrm>
            <a:off x="566928" y="3931920"/>
            <a:ext cx="365760" cy="365760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58" name="Card-ops agent badge icon" descr="FaRobot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" y="4019702"/>
            <a:ext cx="190195" cy="190195"/>
          </a:xfrm>
          <a:prstGeom prst="rect">
            <a:avLst/>
          </a:prstGeom>
        </p:spPr>
      </p:pic>
      <p:sp>
        <p:nvSpPr>
          <p:cNvPr id="859" name="Card-ops agent title"/>
          <p:cNvSpPr txBox="1"/>
          <p:nvPr/>
        </p:nvSpPr>
        <p:spPr>
          <a:xfrm>
            <a:off x="1005840" y="3721608"/>
            <a:ext cx="12801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Card-ops agent</a:t>
            </a:r>
          </a:p>
        </p:txBody>
      </p:sp>
      <p:sp>
        <p:nvSpPr>
          <p:cNvPr id="860" name="Card-ops agent route"/>
          <p:cNvSpPr txBox="1"/>
          <p:nvPr/>
        </p:nvSpPr>
        <p:spPr>
          <a:xfrm>
            <a:off x="2450592" y="372160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AI MCP Server generated from card-services APIs</a:t>
            </a:r>
          </a:p>
        </p:txBody>
      </p:sp>
      <p:sp>
        <p:nvSpPr>
          <p:cNvPr id="861" name="Card-ops agent policy 1"/>
          <p:cNvSpPr/>
          <p:nvPr/>
        </p:nvSpPr>
        <p:spPr>
          <a:xfrm>
            <a:off x="4261104" y="3794760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 MCP Server</a:t>
            </a:r>
          </a:p>
        </p:txBody>
      </p:sp>
      <p:sp>
        <p:nvSpPr>
          <p:cNvPr id="862" name="Card-ops agent policy 2"/>
          <p:cNvSpPr/>
          <p:nvPr/>
        </p:nvSpPr>
        <p:spPr>
          <a:xfrm>
            <a:off x="4261104" y="4018788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tool-level ACL</a:t>
            </a:r>
          </a:p>
        </p:txBody>
      </p:sp>
      <p:sp>
        <p:nvSpPr>
          <p:cNvPr id="863" name="Card-ops agent policy 3"/>
          <p:cNvSpPr/>
          <p:nvPr/>
        </p:nvSpPr>
        <p:spPr>
          <a:xfrm>
            <a:off x="4261104" y="4242816"/>
            <a:ext cx="2331720" cy="187452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 Auth Strategy (OIDC)</a:t>
            </a:r>
          </a:p>
        </p:txBody>
      </p:sp>
      <p:sp>
        <p:nvSpPr>
          <p:cNvPr id="864" name="ACT 4 tag"/>
          <p:cNvSpPr/>
          <p:nvPr/>
        </p:nvSpPr>
        <p:spPr>
          <a:xfrm>
            <a:off x="6784848" y="3849624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4</a:t>
            </a:r>
          </a:p>
        </p:txBody>
      </p:sp>
      <p:sp>
        <p:nvSpPr>
          <p:cNvPr id="865" name="Card-ops agent outcome"/>
          <p:cNvSpPr txBox="1"/>
          <p:nvPr/>
        </p:nvSpPr>
        <p:spPr>
          <a:xfrm>
            <a:off x="6784848" y="410565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1408"/>
                </a:solidFill>
                <a:latin typeface="Calibri"/>
              </a:rPr>
              <a:t>The agent acts only through approved tools</a:t>
            </a:r>
          </a:p>
        </p:txBody>
      </p:sp>
      <p:sp>
        <p:nvSpPr>
          <p:cNvPr id="866" name="Card-ops agent flow"/>
          <p:cNvSpPr/>
          <p:nvPr/>
        </p:nvSpPr>
        <p:spPr>
          <a:xfrm>
            <a:off x="2340864" y="4050791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7" name="Card-ops agent flow"/>
          <p:cNvSpPr/>
          <p:nvPr/>
        </p:nvSpPr>
        <p:spPr>
          <a:xfrm>
            <a:off x="4160520" y="4050791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8" name="Card-ops agent flow"/>
          <p:cNvSpPr/>
          <p:nvPr/>
        </p:nvSpPr>
        <p:spPr>
          <a:xfrm>
            <a:off x="6675120" y="4050791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9" name="Footnote"/>
          <p:cNvSpPr txBox="1"/>
          <p:nvPr/>
        </p:nvSpPr>
        <p:spPr>
          <a:xfrm>
            <a:off x="502920" y="4599432"/>
            <a:ext cx="8138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B7069"/>
                </a:solidFill>
                <a:latin typeface="Calibri"/>
              </a:rPr>
              <a:t>Each new use case attaches a reviewed policy bundle to an AI Model or consumer group; controls are built once and reused.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4A8500"/>
                </a:solidFill>
                <a:latin typeface="Calibri"/>
              </a:rPr>
              <a:t>APPENDIX · GOVERNANCE  </a:t>
            </a:r>
            <a:r>
              <a:rPr sz="1850" b="1" i="0">
                <a:solidFill>
                  <a:srgbClr val="001408"/>
                </a:solidFill>
                <a:latin typeface="Calibri"/>
              </a:rPr>
              <a:t>Mapped to UAE and GCC expectations for AI</a:t>
            </a:r>
          </a:p>
        </p:txBody>
      </p:sp>
      <p:sp>
        <p:nvSpPr>
          <p:cNvPr id="813" name="Label REQUIREMENT"/>
          <p:cNvSpPr txBox="1"/>
          <p:nvPr/>
        </p:nvSpPr>
        <p:spPr>
          <a:xfrm>
            <a:off x="566928" y="969264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REQUIREMENT</a:t>
            </a:r>
          </a:p>
        </p:txBody>
      </p:sp>
      <p:sp>
        <p:nvSpPr>
          <p:cNvPr id="814" name="Label TYPICAL DRIVERS"/>
          <p:cNvSpPr txBox="1"/>
          <p:nvPr/>
        </p:nvSpPr>
        <p:spPr>
          <a:xfrm>
            <a:off x="2414016" y="969264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TYPICAL DRIVERS</a:t>
            </a:r>
          </a:p>
        </p:txBody>
      </p:sp>
      <p:sp>
        <p:nvSpPr>
          <p:cNvPr id="815" name="Label AI GATEWAY CONSTRUCT"/>
          <p:cNvSpPr txBox="1"/>
          <p:nvPr/>
        </p:nvSpPr>
        <p:spPr>
          <a:xfrm>
            <a:off x="4297680" y="969264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AI GATEWAY CONSTRUCT</a:t>
            </a:r>
          </a:p>
        </p:txBody>
      </p:sp>
      <p:sp>
        <p:nvSpPr>
          <p:cNvPr id="816" name="Label PROOF"/>
          <p:cNvSpPr txBox="1"/>
          <p:nvPr/>
        </p:nvSpPr>
        <p:spPr>
          <a:xfrm>
            <a:off x="7178040" y="96926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PROOF</a:t>
            </a:r>
          </a:p>
        </p:txBody>
      </p:sp>
      <p:sp>
        <p:nvSpPr>
          <p:cNvPr id="817" name="Row Data residency &amp; privacy"/>
          <p:cNvSpPr/>
          <p:nvPr/>
        </p:nvSpPr>
        <p:spPr>
          <a:xfrm>
            <a:off x="457200" y="1170432"/>
            <a:ext cx="8229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8" name="Data residency &amp; privacy badge badge"/>
          <p:cNvSpPr/>
          <p:nvPr/>
        </p:nvSpPr>
        <p:spPr>
          <a:xfrm>
            <a:off x="566928" y="1307592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19" name="Data residency &amp; privacy badge ic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2" y="1386596"/>
            <a:ext cx="171175" cy="171175"/>
          </a:xfrm>
          <a:prstGeom prst="rect">
            <a:avLst/>
          </a:prstGeom>
        </p:spPr>
      </p:pic>
      <p:sp>
        <p:nvSpPr>
          <p:cNvPr id="820" name="Data residency &amp; privacy name"/>
          <p:cNvSpPr txBox="1"/>
          <p:nvPr/>
        </p:nvSpPr>
        <p:spPr>
          <a:xfrm>
            <a:off x="969264" y="1170432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Data residency &amp; privacy</a:t>
            </a:r>
          </a:p>
        </p:txBody>
      </p:sp>
      <p:sp>
        <p:nvSpPr>
          <p:cNvPr id="821" name="Data residency &amp; privacy drivers"/>
          <p:cNvSpPr txBox="1"/>
          <p:nvPr/>
        </p:nvSpPr>
        <p:spPr>
          <a:xfrm>
            <a:off x="2414016" y="117043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UAE PDPL · KSA PDPL · sector data rules</a:t>
            </a:r>
          </a:p>
        </p:txBody>
      </p:sp>
      <p:sp>
        <p:nvSpPr>
          <p:cNvPr id="822" name="Data residency &amp; privacy construct 1"/>
          <p:cNvSpPr/>
          <p:nvPr/>
        </p:nvSpPr>
        <p:spPr>
          <a:xfrm>
            <a:off x="4297680" y="1243584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self-managed data planes on-prem</a:t>
            </a:r>
          </a:p>
        </p:txBody>
      </p:sp>
      <p:sp>
        <p:nvSpPr>
          <p:cNvPr id="823" name="Data residency &amp; privacy construct 2"/>
          <p:cNvSpPr/>
          <p:nvPr/>
        </p:nvSpPr>
        <p:spPr>
          <a:xfrm>
            <a:off x="4297680" y="1490472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payload logging off by default</a:t>
            </a:r>
          </a:p>
        </p:txBody>
      </p:sp>
      <p:sp>
        <p:nvSpPr>
          <p:cNvPr id="824" name="ACT 1 tag"/>
          <p:cNvSpPr/>
          <p:nvPr/>
        </p:nvSpPr>
        <p:spPr>
          <a:xfrm>
            <a:off x="7178040" y="1261872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1</a:t>
            </a:r>
          </a:p>
        </p:txBody>
      </p:sp>
      <p:sp>
        <p:nvSpPr>
          <p:cNvPr id="825" name="Data residency &amp; privacy proof label"/>
          <p:cNvSpPr txBox="1"/>
          <p:nvPr/>
        </p:nvSpPr>
        <p:spPr>
          <a:xfrm>
            <a:off x="7178040" y="1499616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4B5650"/>
                </a:solidFill>
                <a:latin typeface="Calibri"/>
              </a:rPr>
              <a:t>prompts and responses stay in GNB</a:t>
            </a:r>
          </a:p>
        </p:txBody>
      </p:sp>
      <p:sp>
        <p:nvSpPr>
          <p:cNvPr id="826" name="Data residency &amp; privacy flow"/>
          <p:cNvSpPr/>
          <p:nvPr/>
        </p:nvSpPr>
        <p:spPr>
          <a:xfrm>
            <a:off x="2304288" y="140817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7" name="Data residency &amp; privacy flow"/>
          <p:cNvSpPr/>
          <p:nvPr/>
        </p:nvSpPr>
        <p:spPr>
          <a:xfrm>
            <a:off x="4206240" y="140817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8" name="Data residency &amp; privacy flow"/>
          <p:cNvSpPr/>
          <p:nvPr/>
        </p:nvSpPr>
        <p:spPr>
          <a:xfrm>
            <a:off x="7077456" y="1408176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9" name="Row AI safety &amp; ethics"/>
          <p:cNvSpPr/>
          <p:nvPr/>
        </p:nvSpPr>
        <p:spPr>
          <a:xfrm>
            <a:off x="457200" y="1837943"/>
            <a:ext cx="8229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0" name="AI safety &amp; ethics badge badge"/>
          <p:cNvSpPr/>
          <p:nvPr/>
        </p:nvSpPr>
        <p:spPr>
          <a:xfrm>
            <a:off x="566928" y="1975103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31" name="AI safety &amp; ethics badge icon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32" y="2054108"/>
            <a:ext cx="171175" cy="171175"/>
          </a:xfrm>
          <a:prstGeom prst="rect">
            <a:avLst/>
          </a:prstGeom>
        </p:spPr>
      </p:pic>
      <p:sp>
        <p:nvSpPr>
          <p:cNvPr id="832" name="AI safety &amp; ethics name"/>
          <p:cNvSpPr txBox="1"/>
          <p:nvPr/>
        </p:nvSpPr>
        <p:spPr>
          <a:xfrm>
            <a:off x="969264" y="1837943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AI safety &amp; ethics</a:t>
            </a:r>
          </a:p>
        </p:txBody>
      </p:sp>
      <p:sp>
        <p:nvSpPr>
          <p:cNvPr id="833" name="AI safety &amp; ethics drivers"/>
          <p:cNvSpPr txBox="1"/>
          <p:nvPr/>
        </p:nvSpPr>
        <p:spPr>
          <a:xfrm>
            <a:off x="2414016" y="1837943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UAE AI Charter · SDAIA AI Ethics · ISO/IEC 42001</a:t>
            </a:r>
          </a:p>
        </p:txBody>
      </p:sp>
      <p:sp>
        <p:nvSpPr>
          <p:cNvPr id="834" name="AI safety &amp; ethics construct 1"/>
          <p:cNvSpPr/>
          <p:nvPr/>
        </p:nvSpPr>
        <p:spPr>
          <a:xfrm>
            <a:off x="4297680" y="1911095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semantic prompt + response guards</a:t>
            </a:r>
          </a:p>
        </p:txBody>
      </p:sp>
      <p:sp>
        <p:nvSpPr>
          <p:cNvPr id="835" name="AI safety &amp; ethics construct 2"/>
          <p:cNvSpPr/>
          <p:nvPr/>
        </p:nvSpPr>
        <p:spPr>
          <a:xfrm>
            <a:off x="4297680" y="2157984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ai-llm-as-judge quality scoring</a:t>
            </a:r>
          </a:p>
        </p:txBody>
      </p:sp>
      <p:sp>
        <p:nvSpPr>
          <p:cNvPr id="836" name="ACT 2 tag"/>
          <p:cNvSpPr/>
          <p:nvPr/>
        </p:nvSpPr>
        <p:spPr>
          <a:xfrm>
            <a:off x="7178040" y="1929384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837" name="AI safety &amp; ethics proof label"/>
          <p:cNvSpPr txBox="1"/>
          <p:nvPr/>
        </p:nvSpPr>
        <p:spPr>
          <a:xfrm>
            <a:off x="7178040" y="2167127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4B5650"/>
                </a:solidFill>
                <a:latin typeface="Calibri"/>
              </a:rPr>
              <a:t>off-policy use blocked and scored</a:t>
            </a:r>
          </a:p>
        </p:txBody>
      </p:sp>
      <p:sp>
        <p:nvSpPr>
          <p:cNvPr id="838" name="AI safety &amp; ethics flow"/>
          <p:cNvSpPr/>
          <p:nvPr/>
        </p:nvSpPr>
        <p:spPr>
          <a:xfrm>
            <a:off x="2304288" y="207568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39" name="AI safety &amp; ethics flow"/>
          <p:cNvSpPr/>
          <p:nvPr/>
        </p:nvSpPr>
        <p:spPr>
          <a:xfrm>
            <a:off x="4206240" y="207568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0" name="AI safety &amp; ethics flow"/>
          <p:cNvSpPr/>
          <p:nvPr/>
        </p:nvSpPr>
        <p:spPr>
          <a:xfrm>
            <a:off x="7077456" y="2075688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41" name="Row Model risk &amp; audit"/>
          <p:cNvSpPr/>
          <p:nvPr/>
        </p:nvSpPr>
        <p:spPr>
          <a:xfrm>
            <a:off x="457200" y="2505456"/>
            <a:ext cx="8229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42" name="Model risk &amp; audit badge badge"/>
          <p:cNvSpPr/>
          <p:nvPr/>
        </p:nvSpPr>
        <p:spPr>
          <a:xfrm>
            <a:off x="566928" y="2642616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43" name="Model risk &amp; audit badge icon" descr="FaChartBar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32" y="2721620"/>
            <a:ext cx="171175" cy="171175"/>
          </a:xfrm>
          <a:prstGeom prst="rect">
            <a:avLst/>
          </a:prstGeom>
        </p:spPr>
      </p:pic>
      <p:sp>
        <p:nvSpPr>
          <p:cNvPr id="844" name="Model risk &amp; audit name"/>
          <p:cNvSpPr txBox="1"/>
          <p:nvPr/>
        </p:nvSpPr>
        <p:spPr>
          <a:xfrm>
            <a:off x="969264" y="2505456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Model risk &amp; audit</a:t>
            </a:r>
          </a:p>
        </p:txBody>
      </p:sp>
      <p:sp>
        <p:nvSpPr>
          <p:cNvPr id="845" name="Model risk &amp; audit drivers"/>
          <p:cNvSpPr txBox="1"/>
          <p:nvPr/>
        </p:nvSpPr>
        <p:spPr>
          <a:xfrm>
            <a:off x="2414016" y="2505456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Model-risk policy · CBUAE technology guidance</a:t>
            </a:r>
          </a:p>
        </p:txBody>
      </p:sp>
      <p:sp>
        <p:nvSpPr>
          <p:cNvPr id="846" name="Model risk &amp; audit construct 1"/>
          <p:cNvSpPr/>
          <p:nvPr/>
        </p:nvSpPr>
        <p:spPr>
          <a:xfrm>
            <a:off x="4297680" y="2578608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per-call consumer, model, tokens, cost</a:t>
            </a:r>
          </a:p>
        </p:txBody>
      </p:sp>
      <p:sp>
        <p:nvSpPr>
          <p:cNvPr id="847" name="Model risk &amp; audit construct 2"/>
          <p:cNvSpPr/>
          <p:nvPr/>
        </p:nvSpPr>
        <p:spPr>
          <a:xfrm>
            <a:off x="4297680" y="2825496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opentelemetry · kafka-log to SIEM</a:t>
            </a:r>
          </a:p>
        </p:txBody>
      </p:sp>
      <p:sp>
        <p:nvSpPr>
          <p:cNvPr id="848" name="ACT 3 tag"/>
          <p:cNvSpPr/>
          <p:nvPr/>
        </p:nvSpPr>
        <p:spPr>
          <a:xfrm>
            <a:off x="7178040" y="2596896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3</a:t>
            </a:r>
          </a:p>
        </p:txBody>
      </p:sp>
      <p:sp>
        <p:nvSpPr>
          <p:cNvPr id="849" name="Model risk &amp; audit proof label"/>
          <p:cNvSpPr txBox="1"/>
          <p:nvPr/>
        </p:nvSpPr>
        <p:spPr>
          <a:xfrm>
            <a:off x="7178040" y="283464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4B5650"/>
                </a:solidFill>
                <a:latin typeface="Calibri"/>
              </a:rPr>
              <a:t>every AI call traceable</a:t>
            </a:r>
          </a:p>
        </p:txBody>
      </p:sp>
      <p:sp>
        <p:nvSpPr>
          <p:cNvPr id="850" name="Model risk &amp; audit flow"/>
          <p:cNvSpPr/>
          <p:nvPr/>
        </p:nvSpPr>
        <p:spPr>
          <a:xfrm>
            <a:off x="2304288" y="27432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1" name="Model risk &amp; audit flow"/>
          <p:cNvSpPr/>
          <p:nvPr/>
        </p:nvSpPr>
        <p:spPr>
          <a:xfrm>
            <a:off x="4206240" y="27432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2" name="Model risk &amp; audit flow"/>
          <p:cNvSpPr/>
          <p:nvPr/>
        </p:nvSpPr>
        <p:spPr>
          <a:xfrm>
            <a:off x="7077456" y="2743200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3" name="Row Cyber security"/>
          <p:cNvSpPr/>
          <p:nvPr/>
        </p:nvSpPr>
        <p:spPr>
          <a:xfrm>
            <a:off x="457200" y="3172968"/>
            <a:ext cx="8229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54" name="Cyber security badge badge"/>
          <p:cNvSpPr/>
          <p:nvPr/>
        </p:nvSpPr>
        <p:spPr>
          <a:xfrm>
            <a:off x="566928" y="3310127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55" name="Cyber security badge icon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32" y="3389132"/>
            <a:ext cx="171175" cy="171175"/>
          </a:xfrm>
          <a:prstGeom prst="rect">
            <a:avLst/>
          </a:prstGeom>
        </p:spPr>
      </p:pic>
      <p:sp>
        <p:nvSpPr>
          <p:cNvPr id="856" name="Cyber security name"/>
          <p:cNvSpPr txBox="1"/>
          <p:nvPr/>
        </p:nvSpPr>
        <p:spPr>
          <a:xfrm>
            <a:off x="969264" y="3172968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Cyber security</a:t>
            </a:r>
          </a:p>
        </p:txBody>
      </p:sp>
      <p:sp>
        <p:nvSpPr>
          <p:cNvPr id="857" name="Cyber security drivers"/>
          <p:cNvSpPr txBox="1"/>
          <p:nvPr/>
        </p:nvSpPr>
        <p:spPr>
          <a:xfrm>
            <a:off x="2414016" y="3172968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UAE IAS · NCA ECC · SAMA CSF</a:t>
            </a:r>
          </a:p>
        </p:txBody>
      </p:sp>
      <p:sp>
        <p:nvSpPr>
          <p:cNvPr id="858" name="Cyber security construct 1"/>
          <p:cNvSpPr/>
          <p:nvPr/>
        </p:nvSpPr>
        <p:spPr>
          <a:xfrm>
            <a:off x="4297680" y="3246120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mTLS data plane certificates · OIDC · opa</a:t>
            </a:r>
          </a:p>
        </p:txBody>
      </p:sp>
      <p:sp>
        <p:nvSpPr>
          <p:cNvPr id="859" name="Cyber security construct 2"/>
          <p:cNvSpPr/>
          <p:nvPr/>
        </p:nvSpPr>
        <p:spPr>
          <a:xfrm>
            <a:off x="4297680" y="3493008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injection-protection · AI Vault</a:t>
            </a:r>
          </a:p>
        </p:txBody>
      </p:sp>
      <p:sp>
        <p:nvSpPr>
          <p:cNvPr id="860" name="Tag POV REVIEW"/>
          <p:cNvSpPr/>
          <p:nvPr/>
        </p:nvSpPr>
        <p:spPr>
          <a:xfrm>
            <a:off x="7178040" y="3264408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4A8500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800" b="1" i="0">
                <a:solidFill>
                  <a:srgbClr val="4A8500"/>
                </a:solidFill>
                <a:latin typeface="Calibri"/>
              </a:rPr>
              <a:t>ARCH. SESSION</a:t>
            </a:r>
          </a:p>
        </p:txBody>
      </p:sp>
      <p:sp>
        <p:nvSpPr>
          <p:cNvPr id="861" name="Cyber security proof label"/>
          <p:cNvSpPr txBox="1"/>
          <p:nvPr/>
        </p:nvSpPr>
        <p:spPr>
          <a:xfrm>
            <a:off x="7178040" y="3502151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4B5650"/>
                </a:solidFill>
                <a:latin typeface="Calibri"/>
              </a:rPr>
              <a:t>validated by GNB security</a:t>
            </a:r>
          </a:p>
        </p:txBody>
      </p:sp>
      <p:sp>
        <p:nvSpPr>
          <p:cNvPr id="862" name="Cyber security flow"/>
          <p:cNvSpPr/>
          <p:nvPr/>
        </p:nvSpPr>
        <p:spPr>
          <a:xfrm>
            <a:off x="2304288" y="3410712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3" name="Cyber security flow"/>
          <p:cNvSpPr/>
          <p:nvPr/>
        </p:nvSpPr>
        <p:spPr>
          <a:xfrm>
            <a:off x="4206240" y="3410712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4" name="Cyber security flow"/>
          <p:cNvSpPr/>
          <p:nvPr/>
        </p:nvSpPr>
        <p:spPr>
          <a:xfrm>
            <a:off x="7077456" y="3410712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65" name="Row SaaS &amp; outsourcing risk"/>
          <p:cNvSpPr/>
          <p:nvPr/>
        </p:nvSpPr>
        <p:spPr>
          <a:xfrm>
            <a:off x="457200" y="3840480"/>
            <a:ext cx="8229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6" name="SaaS &amp; outsourcing risk badge badge"/>
          <p:cNvSpPr/>
          <p:nvPr/>
        </p:nvSpPr>
        <p:spPr>
          <a:xfrm>
            <a:off x="566928" y="3977640"/>
            <a:ext cx="329184" cy="329184"/>
          </a:xfrm>
          <a:prstGeom prst="ellipse">
            <a:avLst/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867" name="SaaS &amp; outsourcing risk badge ico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2" y="4056644"/>
            <a:ext cx="171175" cy="171175"/>
          </a:xfrm>
          <a:prstGeom prst="rect">
            <a:avLst/>
          </a:prstGeom>
        </p:spPr>
      </p:pic>
      <p:sp>
        <p:nvSpPr>
          <p:cNvPr id="868" name="SaaS &amp; outsourcing risk name"/>
          <p:cNvSpPr txBox="1"/>
          <p:nvPr/>
        </p:nvSpPr>
        <p:spPr>
          <a:xfrm>
            <a:off x="969264" y="3840480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1408"/>
                </a:solidFill>
                <a:latin typeface="Calibri"/>
              </a:rPr>
              <a:t>SaaS &amp; outsourcing risk</a:t>
            </a:r>
          </a:p>
        </p:txBody>
      </p:sp>
      <p:sp>
        <p:nvSpPr>
          <p:cNvPr id="869" name="SaaS &amp; outsourcing risk drivers"/>
          <p:cNvSpPr txBox="1"/>
          <p:nvPr/>
        </p:nvSpPr>
        <p:spPr>
          <a:xfrm>
            <a:off x="2414016" y="3840480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4B5650"/>
                </a:solidFill>
                <a:latin typeface="Calibri"/>
              </a:rPr>
              <a:t>Outsourcing and cloud rules (CBUAE, SAMA)</a:t>
            </a:r>
          </a:p>
        </p:txBody>
      </p:sp>
      <p:sp>
        <p:nvSpPr>
          <p:cNvPr id="870" name="SaaS &amp; outsourcing risk construct 1"/>
          <p:cNvSpPr/>
          <p:nvPr/>
        </p:nvSpPr>
        <p:spPr>
          <a:xfrm>
            <a:off x="4297680" y="3913632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SaaS holds config and metadata only</a:t>
            </a:r>
          </a:p>
        </p:txBody>
      </p:sp>
      <p:sp>
        <p:nvSpPr>
          <p:cNvPr id="871" name="SaaS &amp; outsourcing risk construct 2"/>
          <p:cNvSpPr/>
          <p:nvPr/>
        </p:nvSpPr>
        <p:spPr>
          <a:xfrm>
            <a:off x="4297680" y="4160520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wrap="square" lIns="54864" tIns="0" rIns="54864" bIns="0" rtlCol="0" anchor="ctr"/>
          <a:lstStyle/>
          <a:p>
            <a:pPr algn="ctr"/>
            <a:r>
              <a:rPr sz="1000" b="0" i="0">
                <a:solidFill>
                  <a:srgbClr val="001408"/>
                </a:solidFill>
                <a:latin typeface="Calibri"/>
              </a:rPr>
              <a:t>data planes serve on last-known config</a:t>
            </a:r>
          </a:p>
        </p:txBody>
      </p:sp>
      <p:sp>
        <p:nvSpPr>
          <p:cNvPr id="872" name="Tag ARCHITECTURE"/>
          <p:cNvSpPr/>
          <p:nvPr/>
        </p:nvSpPr>
        <p:spPr>
          <a:xfrm>
            <a:off x="7178040" y="3931920"/>
            <a:ext cx="1005839" cy="182880"/>
          </a:xfrm>
          <a:prstGeom prst="roundRect">
            <a:avLst>
              <a:gd name="adj" fmla="val 50000"/>
            </a:avLst>
          </a:prstGeom>
          <a:solidFill>
            <a:srgbClr val="F3F5F0"/>
          </a:solidFill>
          <a:ln w="9525">
            <a:solidFill>
              <a:srgbClr val="4A8500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4A8500"/>
                </a:solidFill>
                <a:latin typeface="Calibri"/>
              </a:rPr>
              <a:t>ARCHITECTURE</a:t>
            </a:r>
          </a:p>
        </p:txBody>
      </p:sp>
      <p:sp>
        <p:nvSpPr>
          <p:cNvPr id="873" name="SaaS &amp; outsourcing risk proof label"/>
          <p:cNvSpPr txBox="1"/>
          <p:nvPr/>
        </p:nvSpPr>
        <p:spPr>
          <a:xfrm>
            <a:off x="7178040" y="416966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4B5650"/>
                </a:solidFill>
                <a:latin typeface="Calibri"/>
              </a:rPr>
              <a:t>no SaaS in the data path</a:t>
            </a:r>
          </a:p>
        </p:txBody>
      </p:sp>
      <p:sp>
        <p:nvSpPr>
          <p:cNvPr id="874" name="SaaS &amp; outsourcing risk flow"/>
          <p:cNvSpPr/>
          <p:nvPr/>
        </p:nvSpPr>
        <p:spPr>
          <a:xfrm>
            <a:off x="2304288" y="4078224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75" name="SaaS &amp; outsourcing risk flow"/>
          <p:cNvSpPr/>
          <p:nvPr/>
        </p:nvSpPr>
        <p:spPr>
          <a:xfrm>
            <a:off x="4206240" y="4078224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76" name="SaaS &amp; outsourcing risk flow"/>
          <p:cNvSpPr/>
          <p:nvPr/>
        </p:nvSpPr>
        <p:spPr>
          <a:xfrm>
            <a:off x="7077456" y="4078224"/>
            <a:ext cx="54864" cy="128016"/>
          </a:xfrm>
          <a:prstGeom prst="chevron">
            <a:avLst/>
          </a:prstGeom>
          <a:solidFill>
            <a:srgbClr val="4A85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77" name="Footnote"/>
          <p:cNvSpPr txBox="1"/>
          <p:nvPr/>
        </p:nvSpPr>
        <p:spPr>
          <a:xfrm>
            <a:off x="502920" y="4544568"/>
            <a:ext cx="8138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B7069"/>
                </a:solidFill>
                <a:latin typeface="Calibri"/>
              </a:rPr>
              <a:t>Indicative mapping for discussion. Kong supports the controls; GNB compliance validates and the bank certifies compliance.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4A8500"/>
                </a:solidFill>
                <a:latin typeface="Calibri"/>
              </a:rPr>
              <a:t>APPENDIX · CONFIG  </a:t>
            </a:r>
            <a:r>
              <a:rPr sz="1850" b="1" i="0">
                <a:solidFill>
                  <a:srgbClr val="001408"/>
                </a:solidFill>
                <a:latin typeface="Calibri"/>
              </a:rPr>
              <a:t>AI Gateway configuration as code (kongctl)</a:t>
            </a:r>
          </a:p>
        </p:txBody>
      </p:sp>
      <p:sp>
        <p:nvSpPr>
          <p:cNvPr id="813" name="Backup card 1"/>
          <p:cNvSpPr/>
          <p:nvPr/>
        </p:nvSpPr>
        <p:spPr>
          <a:xfrm>
            <a:off x="457200" y="950976"/>
            <a:ext cx="265176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4" name="Backup header 1"/>
          <p:cNvSpPr/>
          <p:nvPr/>
        </p:nvSpPr>
        <p:spPr>
          <a:xfrm>
            <a:off x="457200" y="950976"/>
            <a:ext cx="2651760" cy="402336"/>
          </a:xfrm>
          <a:prstGeom prst="roundRect">
            <a:avLst>
              <a:gd name="adj" fmla="val 12000"/>
            </a:avLst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15" name="ACT 1 tag"/>
          <p:cNvSpPr/>
          <p:nvPr/>
        </p:nvSpPr>
        <p:spPr>
          <a:xfrm>
            <a:off x="566928" y="1060704"/>
            <a:ext cx="530352" cy="192024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1</a:t>
            </a:r>
          </a:p>
        </p:txBody>
      </p:sp>
      <p:sp>
        <p:nvSpPr>
          <p:cNvPr id="816" name="Backup title 1"/>
          <p:cNvSpPr txBox="1"/>
          <p:nvPr/>
        </p:nvSpPr>
        <p:spPr>
          <a:xfrm>
            <a:off x="1188720" y="95097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Model: AI factory with failover</a:t>
            </a:r>
          </a:p>
        </p:txBody>
      </p:sp>
      <p:sp>
        <p:nvSpPr>
          <p:cNvPr id="817" name="Backup code 1 panel"/>
          <p:cNvSpPr/>
          <p:nvPr/>
        </p:nvSpPr>
        <p:spPr>
          <a:xfrm>
            <a:off x="548640" y="1426464"/>
            <a:ext cx="2468879" cy="2423160"/>
          </a:xfrm>
          <a:prstGeom prst="roundRect">
            <a:avLst>
              <a:gd name="adj" fmla="val 4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8" name="Backup code 1"/>
          <p:cNvSpPr txBox="1"/>
          <p:nvPr/>
        </p:nvSpPr>
        <p:spPr>
          <a:xfrm>
            <a:off x="640080" y="1499616"/>
            <a:ext cx="2285999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ai_gateway_models: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- ref: gnb-assistant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ai_gateway: !lookup {id: !env AI_GATEWAY_ID}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name: gnb-assistant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type: model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capabilities: [generate]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formats: [{type: openai}]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targets: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- name: arabic-llm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provider: gnb-ai-factory      # vllm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- name: arabic-llm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provider: gnb-ai-factory-dr   # vllm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config: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balancer: {algorithm: priority}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route: {paths: ["/v1"]}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logging: {payloads: false}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policies: [pii-redact, topic-guard]</a:t>
            </a:r>
          </a:p>
        </p:txBody>
      </p:sp>
      <p:sp>
        <p:nvSpPr>
          <p:cNvPr id="819" name="Backup card 2"/>
          <p:cNvSpPr/>
          <p:nvPr/>
        </p:nvSpPr>
        <p:spPr>
          <a:xfrm>
            <a:off x="3246120" y="950976"/>
            <a:ext cx="265176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0" name="Backup header 2"/>
          <p:cNvSpPr/>
          <p:nvPr/>
        </p:nvSpPr>
        <p:spPr>
          <a:xfrm>
            <a:off x="3246120" y="950976"/>
            <a:ext cx="2651760" cy="402336"/>
          </a:xfrm>
          <a:prstGeom prst="roundRect">
            <a:avLst>
              <a:gd name="adj" fmla="val 12000"/>
            </a:avLst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1" name="ACT 2 tag"/>
          <p:cNvSpPr/>
          <p:nvPr/>
        </p:nvSpPr>
        <p:spPr>
          <a:xfrm>
            <a:off x="3355848" y="1060704"/>
            <a:ext cx="530352" cy="192024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2</a:t>
            </a:r>
          </a:p>
        </p:txBody>
      </p:sp>
      <p:sp>
        <p:nvSpPr>
          <p:cNvPr id="822" name="Backup title 2"/>
          <p:cNvSpPr txBox="1"/>
          <p:nvPr/>
        </p:nvSpPr>
        <p:spPr>
          <a:xfrm>
            <a:off x="3977639" y="95097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Policy: PII redaction on-prem</a:t>
            </a:r>
          </a:p>
        </p:txBody>
      </p:sp>
      <p:sp>
        <p:nvSpPr>
          <p:cNvPr id="823" name="Backup code 2 panel"/>
          <p:cNvSpPr/>
          <p:nvPr/>
        </p:nvSpPr>
        <p:spPr>
          <a:xfrm>
            <a:off x="3337560" y="1426464"/>
            <a:ext cx="2468879" cy="2423160"/>
          </a:xfrm>
          <a:prstGeom prst="roundRect">
            <a:avLst>
              <a:gd name="adj" fmla="val 4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4" name="Backup code 2"/>
          <p:cNvSpPr txBox="1"/>
          <p:nvPr/>
        </p:nvSpPr>
        <p:spPr>
          <a:xfrm>
            <a:off x="3429000" y="1499616"/>
            <a:ext cx="2285999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ai_gateway_policies: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- ref: pii-redact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ai_gateway: !lookup {id: !env AI_GATEWAY_ID}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name: pii-redact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type: ai-sanitizer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enabled: true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config: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anonymize: [email, phone, creditcard,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            custom]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custom_patterns: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- name: emirates_id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  regex: 784-?\d{4}-?\d{7}-?\d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  score: 0.95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host: pii-anonymizer.ai-factory.local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port: 8080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redact_type: placeholder</a:t>
            </a:r>
          </a:p>
        </p:txBody>
      </p:sp>
      <p:sp>
        <p:nvSpPr>
          <p:cNvPr id="825" name="Backup card 3"/>
          <p:cNvSpPr/>
          <p:nvPr/>
        </p:nvSpPr>
        <p:spPr>
          <a:xfrm>
            <a:off x="6035040" y="950976"/>
            <a:ext cx="265176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6" name="Backup header 3"/>
          <p:cNvSpPr/>
          <p:nvPr/>
        </p:nvSpPr>
        <p:spPr>
          <a:xfrm>
            <a:off x="6035040" y="950976"/>
            <a:ext cx="2651760" cy="402336"/>
          </a:xfrm>
          <a:prstGeom prst="roundRect">
            <a:avLst>
              <a:gd name="adj" fmla="val 12000"/>
            </a:avLst>
          </a:prstGeom>
          <a:solidFill>
            <a:srgbClr val="00140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27" name="ACT 1 tag"/>
          <p:cNvSpPr/>
          <p:nvPr/>
        </p:nvSpPr>
        <p:spPr>
          <a:xfrm>
            <a:off x="6144768" y="1060704"/>
            <a:ext cx="530352" cy="192024"/>
          </a:xfrm>
          <a:prstGeom prst="roundRect">
            <a:avLst>
              <a:gd name="adj" fmla="val 50000"/>
            </a:avLst>
          </a:prstGeom>
          <a:solidFill>
            <a:srgbClr val="001408"/>
          </a:solidFill>
          <a:ln>
            <a:noFill/>
          </a:ln>
        </p:spPr>
        <p:txBody>
          <a:bodyPr wrap="none" lIns="18288" tIns="0" rIns="18288" bIns="0" rtlCol="0" anchor="ctr"/>
          <a:lstStyle/>
          <a:p>
            <a:pPr algn="ctr"/>
            <a:r>
              <a:rPr sz="1000" b="1" i="0">
                <a:solidFill>
                  <a:srgbClr val="CCFF00"/>
                </a:solidFill>
                <a:latin typeface="Calibri"/>
              </a:rPr>
              <a:t>►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ACT 1</a:t>
            </a:r>
          </a:p>
        </p:txBody>
      </p:sp>
      <p:sp>
        <p:nvSpPr>
          <p:cNvPr id="828" name="Backup title 3"/>
          <p:cNvSpPr txBox="1"/>
          <p:nvPr/>
        </p:nvSpPr>
        <p:spPr>
          <a:xfrm>
            <a:off x="6766559" y="95097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Deploy, prove, drill</a:t>
            </a:r>
          </a:p>
        </p:txBody>
      </p:sp>
      <p:sp>
        <p:nvSpPr>
          <p:cNvPr id="829" name="Backup code 3 panel"/>
          <p:cNvSpPr/>
          <p:nvPr/>
        </p:nvSpPr>
        <p:spPr>
          <a:xfrm>
            <a:off x="6126479" y="1426464"/>
            <a:ext cx="2468879" cy="2423160"/>
          </a:xfrm>
          <a:prstGeom prst="roundRect">
            <a:avLst>
              <a:gd name="adj" fmla="val 4000"/>
            </a:avLst>
          </a:prstGeom>
          <a:solidFill>
            <a:srgbClr val="F3F5F0"/>
          </a:solidFill>
          <a:ln w="9525">
            <a:solidFill>
              <a:srgbClr val="D3D9C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0" name="Backup code 3"/>
          <p:cNvSpPr txBox="1"/>
          <p:nvPr/>
        </p:nvSpPr>
        <p:spPr>
          <a:xfrm>
            <a:off x="6217919" y="1499616"/>
            <a:ext cx="2285999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1. Entities as code: Git -&gt; CI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$ kongctl diff --mode apply \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    -f gnb-ai-gateway.yaml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$ kongctl apply -f gnb-ai-gateway.yaml</a:t>
            </a:r>
          </a:p>
          <a:p>
            <a:pPr algn="l"/>
            <a:endParaRPr sz="600" b="0" i="0">
              <a:solidFill>
                <a:srgbClr val="001408"/>
              </a:solidFill>
              <a:latin typeface="Consolas"/>
            </a:endParaRP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2. Data plane beside the AI factory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AI Data Plane Certificate (mTLS)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outbound 443 to Konnect only</a:t>
            </a:r>
          </a:p>
          <a:p>
            <a:pPr algn="l"/>
            <a:endParaRPr sz="600" b="0" i="0">
              <a:solidFill>
                <a:srgbClr val="001408"/>
              </a:solidFill>
              <a:latin typeface="Consolas"/>
            </a:endParaRP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3. Prove it stays local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payload logging: off (default)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telemetry: usage, cost, latency</a:t>
            </a:r>
          </a:p>
          <a:p>
            <a:pPr algn="l"/>
            <a:endParaRPr sz="600" b="0" i="0">
              <a:solidFill>
                <a:srgbClr val="001408"/>
              </a:solidFill>
              <a:latin typeface="Consolas"/>
            </a:endParaRP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4. Resilience drill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drain vllm-node-1 -&gt; failover</a:t>
            </a:r>
          </a:p>
          <a:p>
            <a:pPr algn="l"/>
            <a:r>
              <a:rPr sz="600" b="0" i="0">
                <a:solidFill>
                  <a:srgbClr val="001408"/>
                </a:solidFill>
                <a:latin typeface="Consolas"/>
              </a:rPr>
              <a:t>#    block Konnect egress -&gt; serving</a:t>
            </a:r>
          </a:p>
        </p:txBody>
      </p:sp>
      <p:sp>
        <p:nvSpPr>
          <p:cNvPr id="831" name="Label PRE-FLIGHT"/>
          <p:cNvSpPr txBox="1"/>
          <p:nvPr/>
        </p:nvSpPr>
        <p:spPr>
          <a:xfrm>
            <a:off x="502920" y="4087368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A8500"/>
                </a:solidFill>
                <a:latin typeface="Calibri"/>
              </a:rPr>
              <a:t>PRE-FLIGHT</a:t>
            </a:r>
          </a:p>
        </p:txBody>
      </p:sp>
      <p:sp>
        <p:nvSpPr>
          <p:cNvPr id="832" name="Check 1"/>
          <p:cNvSpPr/>
          <p:nvPr/>
        </p:nvSpPr>
        <p:spPr>
          <a:xfrm>
            <a:off x="1280160" y="4041648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00" b="1" i="0">
                <a:solidFill>
                  <a:srgbClr val="4A8500"/>
                </a:solidFill>
                <a:latin typeface="Calibri"/>
              </a:rPr>
              <a:t>✓  </a:t>
            </a:r>
            <a:r>
              <a:rPr sz="900" b="0" i="0">
                <a:solidFill>
                  <a:srgbClr val="001408"/>
                </a:solidFill>
                <a:latin typeface="Calibri"/>
              </a:rPr>
              <a:t>Models + anonymizer warmed up</a:t>
            </a:r>
          </a:p>
        </p:txBody>
      </p:sp>
      <p:sp>
        <p:nvSpPr>
          <p:cNvPr id="833" name="Check 2"/>
          <p:cNvSpPr/>
          <p:nvPr/>
        </p:nvSpPr>
        <p:spPr>
          <a:xfrm>
            <a:off x="3154679" y="4041648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00" b="1" i="0">
                <a:solidFill>
                  <a:srgbClr val="4A8500"/>
                </a:solidFill>
                <a:latin typeface="Calibri"/>
              </a:rPr>
              <a:t>✓  </a:t>
            </a:r>
            <a:r>
              <a:rPr sz="900" b="0" i="0">
                <a:solidFill>
                  <a:srgbClr val="001408"/>
                </a:solidFill>
                <a:latin typeface="Calibri"/>
              </a:rPr>
              <a:t>kongctl baseline re-applied</a:t>
            </a:r>
          </a:p>
        </p:txBody>
      </p:sp>
      <p:sp>
        <p:nvSpPr>
          <p:cNvPr id="834" name="Check 3"/>
          <p:cNvSpPr/>
          <p:nvPr/>
        </p:nvSpPr>
        <p:spPr>
          <a:xfrm>
            <a:off x="5029200" y="4041648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none" lIns="18288" tIns="0" rIns="18288" bIns="0" rtlCol="0" anchor="ctr"/>
          <a:lstStyle/>
          <a:p>
            <a:pPr algn="ctr"/>
            <a:r>
              <a:rPr sz="900" b="1" i="0">
                <a:solidFill>
                  <a:srgbClr val="4A8500"/>
                </a:solidFill>
                <a:latin typeface="Calibri"/>
              </a:rPr>
              <a:t>✓  </a:t>
            </a:r>
            <a:r>
              <a:rPr sz="900" b="0" i="0">
                <a:solidFill>
                  <a:srgbClr val="001408"/>
                </a:solidFill>
                <a:latin typeface="Calibri"/>
              </a:rPr>
              <a:t>Secrets in AI Vault / env only</a:t>
            </a:r>
          </a:p>
        </p:txBody>
      </p:sp>
      <p:sp>
        <p:nvSpPr>
          <p:cNvPr id="835" name="Check 4"/>
          <p:cNvSpPr/>
          <p:nvPr/>
        </p:nvSpPr>
        <p:spPr>
          <a:xfrm>
            <a:off x="6903719" y="4041648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9CC"/>
            </a:solidFill>
          </a:ln>
        </p:spPr>
        <p:txBody>
          <a:bodyPr wrap="square" lIns="36576" tIns="0" rIns="36576" bIns="0" rtlCol="0" anchor="ctr"/>
          <a:lstStyle/>
          <a:p>
            <a:pPr algn="ctr"/>
            <a:r>
              <a:rPr sz="900" b="1" i="0">
                <a:solidFill>
                  <a:srgbClr val="4A8500"/>
                </a:solidFill>
                <a:latin typeface="Calibri"/>
              </a:rPr>
              <a:t>✓  </a:t>
            </a:r>
            <a:r>
              <a:rPr sz="900" b="0" i="0">
                <a:solidFill>
                  <a:srgbClr val="001408"/>
                </a:solidFill>
                <a:latin typeface="Calibri"/>
              </a:rPr>
              <a:t>Backup recording ready</a:t>
            </a:r>
          </a:p>
        </p:txBody>
      </p:sp>
      <p:sp>
        <p:nvSpPr>
          <p:cNvPr id="836" name="Footnote"/>
          <p:cNvSpPr txBox="1"/>
          <p:nvPr/>
        </p:nvSpPr>
        <p:spPr>
          <a:xfrm>
            <a:off x="502920" y="4407408"/>
            <a:ext cx="8138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B7069"/>
                </a:solidFill>
                <a:latin typeface="Calibri"/>
              </a:rPr>
              <a:t>AI Gateway 2.x kongctl format, abbreviated (target weights, ACLs and provider endpoints omitted). Validate against the docs before the session.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5"/>
          <p:cNvSpPr txBox="1">
            <a:spLocks noGrp="1"/>
          </p:cNvSpPr>
          <p:nvPr>
            <p:ph type="sldNum" idx="4294967295"/>
          </p:nvPr>
        </p:nvSpPr>
        <p:spPr>
          <a:xfrm>
            <a:off x="8789343" y="4833675"/>
            <a:ext cx="338700" cy="315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812" name="Slide title"/>
          <p:cNvSpPr txBox="1"/>
          <p:nvPr/>
        </p:nvSpPr>
        <p:spPr>
          <a:xfrm>
            <a:off x="466344" y="365760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4A8500"/>
                </a:solidFill>
                <a:latin typeface="Calibri"/>
              </a:rPr>
              <a:t>SETTING THE SCENE  </a:t>
            </a:r>
            <a:r>
              <a:rPr sz="1850" b="1" i="0">
                <a:solidFill>
                  <a:srgbClr val="001408"/>
                </a:solidFill>
                <a:latin typeface="Calibri"/>
              </a:rPr>
              <a:t>Working assumptions for today</a:t>
            </a:r>
          </a:p>
        </p:txBody>
      </p:sp>
      <p:grpSp>
        <p:nvGrpSpPr>
          <p:cNvPr id="2" name="Scene who"/>
          <p:cNvGrpSpPr/>
          <p:nvPr/>
        </p:nvGrpSpPr>
        <p:grpSpPr>
          <a:xfrm>
            <a:off x="457200" y="960120"/>
            <a:ext cx="2724912" cy="2926080"/>
            <a:chOff x="457200" y="960120"/>
            <a:chExt cx="2724912" cy="2926080"/>
          </a:xfrm>
        </p:grpSpPr>
        <p:sp>
          <p:nvSpPr>
            <p:cNvPr id="813" name="Who card"/>
            <p:cNvSpPr/>
            <p:nvPr/>
          </p:nvSpPr>
          <p:spPr>
            <a:xfrm>
              <a:off x="457200" y="960120"/>
              <a:ext cx="2560320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4" name="Step 1"/>
            <p:cNvSpPr/>
            <p:nvPr/>
          </p:nvSpPr>
          <p:spPr>
            <a:xfrm>
              <a:off x="58521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5" name="Step 1 number"/>
            <p:cNvSpPr txBox="1"/>
            <p:nvPr/>
          </p:nvSpPr>
          <p:spPr>
            <a:xfrm>
              <a:off x="58521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1</a:t>
              </a:r>
            </a:p>
          </p:txBody>
        </p:sp>
        <p:sp>
          <p:nvSpPr>
            <p:cNvPr id="816" name="Step 1 label"/>
            <p:cNvSpPr txBox="1"/>
            <p:nvPr/>
          </p:nvSpPr>
          <p:spPr>
            <a:xfrm>
              <a:off x="896112" y="1051560"/>
              <a:ext cx="228600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4A8500"/>
                  </a:solidFill>
                  <a:latin typeface="Calibri"/>
                </a:rPr>
                <a:t>THE BANK AND THE ROOM</a:t>
              </a:r>
            </a:p>
          </p:txBody>
        </p:sp>
        <p:sp>
          <p:nvSpPr>
            <p:cNvPr id="817" name="Bank badge badge"/>
            <p:cNvSpPr/>
            <p:nvPr/>
          </p:nvSpPr>
          <p:spPr>
            <a:xfrm>
              <a:off x="585216" y="1399032"/>
              <a:ext cx="475488" cy="475488"/>
            </a:xfrm>
            <a:prstGeom prst="ellipse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18" name="Bank badge icon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33" y="1513149"/>
              <a:ext cx="247253" cy="247253"/>
            </a:xfrm>
            <a:prstGeom prst="rect">
              <a:avLst/>
            </a:prstGeom>
          </p:spPr>
        </p:pic>
        <p:sp>
          <p:nvSpPr>
            <p:cNvPr id="819" name="Bank name"/>
            <p:cNvSpPr txBox="1"/>
            <p:nvPr/>
          </p:nvSpPr>
          <p:spPr>
            <a:xfrm>
              <a:off x="1170432" y="1362456"/>
              <a:ext cx="17373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50" b="1" i="0">
                  <a:solidFill>
                    <a:srgbClr val="001408"/>
                  </a:solidFill>
                  <a:latin typeface="Calibri"/>
                </a:rPr>
                <a:t>GNB</a:t>
              </a:r>
            </a:p>
          </p:txBody>
        </p:sp>
        <p:sp>
          <p:nvSpPr>
            <p:cNvPr id="820" name="Bank desc"/>
            <p:cNvSpPr txBox="1"/>
            <p:nvPr/>
          </p:nvSpPr>
          <p:spPr>
            <a:xfrm>
              <a:off x="1170432" y="1636776"/>
              <a:ext cx="17373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50" b="0" i="0">
                  <a:solidFill>
                    <a:srgbClr val="4B5650"/>
                  </a:solidFill>
                  <a:latin typeface="Calibri"/>
                </a:rPr>
                <a:t>Fictional Tier-1 UAE bank: highly regulated, AI-first strategy</a:t>
              </a:r>
            </a:p>
          </p:txBody>
        </p:sp>
        <p:sp>
          <p:nvSpPr>
            <p:cNvPr id="821" name="Meeting pill"/>
            <p:cNvSpPr/>
            <p:nvPr/>
          </p:nvSpPr>
          <p:spPr>
            <a:xfrm>
              <a:off x="585216" y="2002536"/>
              <a:ext cx="2304287" cy="219456"/>
            </a:xfrm>
            <a:prstGeom prst="roundRect">
              <a:avLst>
                <a:gd name="adj" fmla="val 50000"/>
              </a:avLst>
            </a:prstGeom>
            <a:solidFill>
              <a:srgbClr val="F3F5F0"/>
            </a:solidFill>
            <a:ln w="9525">
              <a:solidFill>
                <a:srgbClr val="4A8500"/>
              </a:solidFill>
            </a:ln>
          </p:spPr>
          <p:txBody>
            <a:bodyPr wrap="square" lIns="36576" tIns="0" rIns="36576" bIns="0" rtlCol="0" anchor="ctr"/>
            <a:lstStyle/>
            <a:p>
              <a:pPr algn="ctr"/>
              <a:r>
                <a:rPr sz="800" b="1" i="0">
                  <a:solidFill>
                    <a:srgbClr val="4A8500"/>
                  </a:solidFill>
                  <a:latin typeface="Calibri"/>
                </a:rPr>
                <a:t>2ND MEETING  ·  AFTER DISCOVERY</a:t>
              </a:r>
            </a:p>
          </p:txBody>
        </p:sp>
        <p:cxnSp>
          <p:nvCxnSpPr>
            <p:cNvPr id="822" name="Who divider"/>
            <p:cNvCxnSpPr/>
            <p:nvPr/>
          </p:nvCxnSpPr>
          <p:spPr>
            <a:xfrm>
              <a:off x="585216" y="2331720"/>
              <a:ext cx="2304287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23" name="Room label"/>
            <p:cNvSpPr txBox="1"/>
            <p:nvPr/>
          </p:nvSpPr>
          <p:spPr>
            <a:xfrm>
              <a:off x="585216" y="2386584"/>
              <a:ext cx="230428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IN THE ROOM</a:t>
              </a:r>
            </a:p>
          </p:txBody>
        </p:sp>
        <p:sp>
          <p:nvSpPr>
            <p:cNvPr id="824" name="Room roles"/>
            <p:cNvSpPr txBox="1"/>
            <p:nvPr/>
          </p:nvSpPr>
          <p:spPr>
            <a:xfrm>
              <a:off x="585216" y="2532888"/>
              <a:ext cx="2304287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CIO  ·  AI Platform Owner  ·  Lead Architect</a:t>
              </a:r>
            </a:p>
          </p:txBody>
        </p:sp>
        <p:sp>
          <p:nvSpPr>
            <p:cNvPr id="825" name="CIO constraints"/>
            <p:cNvSpPr/>
            <p:nvPr/>
          </p:nvSpPr>
          <p:spPr>
            <a:xfrm>
              <a:off x="585216" y="2880360"/>
              <a:ext cx="2304287" cy="877824"/>
            </a:xfrm>
            <a:prstGeom prst="roundRect">
              <a:avLst>
                <a:gd name="adj" fmla="val 6000"/>
              </a:avLst>
            </a:prstGeom>
            <a:solidFill>
              <a:srgbClr val="F7F9F4"/>
            </a:solidFill>
            <a:ln w="9525">
              <a:solidFill>
                <a:srgbClr val="4A8500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6" name="CIO constraints label"/>
            <p:cNvSpPr txBox="1"/>
            <p:nvPr/>
          </p:nvSpPr>
          <p:spPr>
            <a:xfrm>
              <a:off x="694944" y="2926080"/>
              <a:ext cx="2103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4A8500"/>
                  </a:solidFill>
                  <a:latin typeface="Calibri"/>
                </a:rPr>
                <a:t>WHAT THE CIO NEEDS</a:t>
              </a:r>
            </a:p>
          </p:txBody>
        </p:sp>
        <p:pic>
          <p:nvPicPr>
            <p:cNvPr id="827" name="Icon FaLock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944" y="3163824"/>
              <a:ext cx="128016" cy="128016"/>
            </a:xfrm>
            <a:prstGeom prst="rect">
              <a:avLst/>
            </a:prstGeom>
          </p:spPr>
        </p:pic>
        <p:sp>
          <p:nvSpPr>
            <p:cNvPr id="828" name="CIO need 1"/>
            <p:cNvSpPr txBox="1"/>
            <p:nvPr/>
          </p:nvSpPr>
          <p:spPr>
            <a:xfrm>
              <a:off x="877824" y="3127248"/>
              <a:ext cx="1920239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security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data protected, in-country</a:t>
              </a:r>
            </a:p>
          </p:txBody>
        </p:sp>
        <p:pic>
          <p:nvPicPr>
            <p:cNvPr id="829" name="Icon FaClipboardCheck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4944" y="3374136"/>
              <a:ext cx="128016" cy="128016"/>
            </a:xfrm>
            <a:prstGeom prst="rect">
              <a:avLst/>
            </a:prstGeom>
          </p:spPr>
        </p:pic>
        <p:sp>
          <p:nvSpPr>
            <p:cNvPr id="830" name="CIO need 2"/>
            <p:cNvSpPr txBox="1"/>
            <p:nvPr/>
          </p:nvSpPr>
          <p:spPr>
            <a:xfrm>
              <a:off x="877824" y="3337560"/>
              <a:ext cx="1920239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governance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every use case compliant</a:t>
              </a:r>
            </a:p>
          </p:txBody>
        </p:sp>
        <p:pic>
          <p:nvPicPr>
            <p:cNvPr id="831" name="Icon FaChartLine" descr="FaChartLine_dar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4944" y="3584448"/>
              <a:ext cx="128016" cy="128016"/>
            </a:xfrm>
            <a:prstGeom prst="rect">
              <a:avLst/>
            </a:prstGeom>
          </p:spPr>
        </p:pic>
        <p:sp>
          <p:nvSpPr>
            <p:cNvPr id="832" name="CIO need 3"/>
            <p:cNvSpPr txBox="1"/>
            <p:nvPr/>
          </p:nvSpPr>
          <p:spPr>
            <a:xfrm>
              <a:off x="877824" y="3547872"/>
              <a:ext cx="1920239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1" i="0">
                  <a:solidFill>
                    <a:srgbClr val="001408"/>
                  </a:solidFill>
                  <a:latin typeface="Calibri"/>
                </a:rPr>
                <a:t>AI tokenomics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the factory pays back</a:t>
              </a:r>
            </a:p>
          </p:txBody>
        </p:sp>
      </p:grpSp>
      <p:grpSp>
        <p:nvGrpSpPr>
          <p:cNvPr id="3" name="Scene factory"/>
          <p:cNvGrpSpPr/>
          <p:nvPr/>
        </p:nvGrpSpPr>
        <p:grpSpPr>
          <a:xfrm>
            <a:off x="3154680" y="960120"/>
            <a:ext cx="2834640" cy="2926080"/>
            <a:chOff x="3154680" y="960120"/>
            <a:chExt cx="2834640" cy="2926080"/>
          </a:xfrm>
        </p:grpSpPr>
        <p:sp>
          <p:nvSpPr>
            <p:cNvPr id="833" name="Factory card"/>
            <p:cNvSpPr/>
            <p:nvPr/>
          </p:nvSpPr>
          <p:spPr>
            <a:xfrm>
              <a:off x="3154680" y="960120"/>
              <a:ext cx="2834640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834" name="Step 2"/>
            <p:cNvSpPr/>
            <p:nvPr/>
          </p:nvSpPr>
          <p:spPr>
            <a:xfrm>
              <a:off x="328269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5" name="Step 2 number"/>
            <p:cNvSpPr txBox="1"/>
            <p:nvPr/>
          </p:nvSpPr>
          <p:spPr>
            <a:xfrm>
              <a:off x="328269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2</a:t>
              </a:r>
            </a:p>
          </p:txBody>
        </p:sp>
        <p:sp>
          <p:nvSpPr>
            <p:cNvPr id="836" name="Step 2 label"/>
            <p:cNvSpPr txBox="1"/>
            <p:nvPr/>
          </p:nvSpPr>
          <p:spPr>
            <a:xfrm>
              <a:off x="3593592" y="1051560"/>
              <a:ext cx="228600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4A8500"/>
                  </a:solidFill>
                  <a:latin typeface="Calibri"/>
                </a:rPr>
                <a:t>THE AI FACTORY AND ITS USE CASES</a:t>
              </a:r>
            </a:p>
          </p:txBody>
        </p:sp>
        <p:sp>
          <p:nvSpPr>
            <p:cNvPr id="837" name="GPU count"/>
            <p:cNvSpPr txBox="1"/>
            <p:nvPr/>
          </p:nvSpPr>
          <p:spPr>
            <a:xfrm>
              <a:off x="3282696" y="1344168"/>
              <a:ext cx="77724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300" b="1" i="0">
                  <a:solidFill>
                    <a:srgbClr val="4A8500"/>
                  </a:solidFill>
                  <a:latin typeface="Calibri"/>
                </a:rPr>
                <a:t>64</a:t>
              </a:r>
            </a:p>
          </p:txBody>
        </p:sp>
        <p:sp>
          <p:nvSpPr>
            <p:cNvPr id="838" name="GPU label"/>
            <p:cNvSpPr txBox="1"/>
            <p:nvPr/>
          </p:nvSpPr>
          <p:spPr>
            <a:xfrm>
              <a:off x="3995928" y="1463040"/>
              <a:ext cx="18288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001408"/>
                  </a:solidFill>
                  <a:latin typeface="Calibri"/>
                </a:rPr>
                <a:t>GPUs on-prem</a:t>
              </a:r>
            </a:p>
          </p:txBody>
        </p:sp>
        <p:pic>
          <p:nvPicPr>
            <p:cNvPr id="840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0984" y="1801368"/>
              <a:ext cx="219456" cy="219456"/>
            </a:xfrm>
            <a:prstGeom prst="rect">
              <a:avLst/>
            </a:prstGeom>
          </p:spPr>
        </p:pic>
        <p:pic>
          <p:nvPicPr>
            <p:cNvPr id="841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21024" y="1801368"/>
              <a:ext cx="219456" cy="219456"/>
            </a:xfrm>
            <a:prstGeom prst="rect">
              <a:avLst/>
            </a:prstGeom>
          </p:spPr>
        </p:pic>
        <p:pic>
          <p:nvPicPr>
            <p:cNvPr id="842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41064" y="1801368"/>
              <a:ext cx="219456" cy="219456"/>
            </a:xfrm>
            <a:prstGeom prst="rect">
              <a:avLst/>
            </a:prstGeom>
          </p:spPr>
        </p:pic>
        <p:pic>
          <p:nvPicPr>
            <p:cNvPr id="843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61104" y="1801368"/>
              <a:ext cx="219456" cy="219456"/>
            </a:xfrm>
            <a:prstGeom prst="rect">
              <a:avLst/>
            </a:prstGeom>
          </p:spPr>
        </p:pic>
        <p:pic>
          <p:nvPicPr>
            <p:cNvPr id="844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81144" y="1801368"/>
              <a:ext cx="219456" cy="219456"/>
            </a:xfrm>
            <a:prstGeom prst="rect">
              <a:avLst/>
            </a:prstGeom>
          </p:spPr>
        </p:pic>
        <p:pic>
          <p:nvPicPr>
            <p:cNvPr id="845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1184" y="1801368"/>
              <a:ext cx="219456" cy="219456"/>
            </a:xfrm>
            <a:prstGeom prst="rect">
              <a:avLst/>
            </a:prstGeom>
          </p:spPr>
        </p:pic>
        <p:pic>
          <p:nvPicPr>
            <p:cNvPr id="846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21224" y="1801368"/>
              <a:ext cx="219456" cy="219456"/>
            </a:xfrm>
            <a:prstGeom prst="rect">
              <a:avLst/>
            </a:prstGeom>
          </p:spPr>
        </p:pic>
        <p:pic>
          <p:nvPicPr>
            <p:cNvPr id="847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41264" y="1801368"/>
              <a:ext cx="219456" cy="219456"/>
            </a:xfrm>
            <a:prstGeom prst="rect">
              <a:avLst/>
            </a:prstGeom>
          </p:spPr>
        </p:pic>
        <p:cxnSp>
          <p:nvCxnSpPr>
            <p:cNvPr id="848" name="Factory divider"/>
            <p:cNvCxnSpPr/>
            <p:nvPr/>
          </p:nvCxnSpPr>
          <p:spPr>
            <a:xfrm>
              <a:off x="3282696" y="2148840"/>
              <a:ext cx="2578608" cy="0"/>
            </a:xfrm>
            <a:prstGeom prst="line">
              <a:avLst/>
            </a:prstGeom>
            <a:ln w="9525">
              <a:solidFill>
                <a:srgbClr val="D3D9CC"/>
              </a:solidFill>
            </a:ln>
          </p:spPr>
        </p:cxnSp>
        <p:sp>
          <p:nvSpPr>
            <p:cNvPr id="849" name="UC label"/>
            <p:cNvSpPr txBox="1"/>
            <p:nvPr/>
          </p:nvSpPr>
          <p:spPr>
            <a:xfrm>
              <a:off x="3282696" y="2203704"/>
              <a:ext cx="257860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00" b="1" i="0">
                  <a:solidFill>
                    <a:srgbClr val="6B7069"/>
                  </a:solidFill>
                  <a:latin typeface="Calibri"/>
                </a:rPr>
                <a:t>12 USE CASES  ·  ALL IN PILOT, POC OR MVP</a:t>
              </a:r>
            </a:p>
          </p:txBody>
        </p:sp>
        <p:sp>
          <p:nvSpPr>
            <p:cNvPr id="850" name="Seg Generative"/>
            <p:cNvSpPr/>
            <p:nvPr/>
          </p:nvSpPr>
          <p:spPr>
            <a:xfrm>
              <a:off x="3282696" y="2404872"/>
              <a:ext cx="1476756" cy="274320"/>
            </a:xfrm>
            <a:prstGeom prst="rect">
              <a:avLst/>
            </a:prstGeom>
            <a:solidFill>
              <a:srgbClr val="4A85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1" name="Seg Generative n"/>
            <p:cNvSpPr txBox="1"/>
            <p:nvPr/>
          </p:nvSpPr>
          <p:spPr>
            <a:xfrm>
              <a:off x="3282696" y="2404872"/>
              <a:ext cx="1476756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50" b="1" i="0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pic>
          <p:nvPicPr>
            <p:cNvPr id="852" name="Icon FaBrain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984" y="2734056"/>
              <a:ext cx="137160" cy="137160"/>
            </a:xfrm>
            <a:prstGeom prst="rect">
              <a:avLst/>
            </a:prstGeom>
          </p:spPr>
        </p:pic>
        <p:sp>
          <p:nvSpPr>
            <p:cNvPr id="853" name="Seg Generative label"/>
            <p:cNvSpPr txBox="1"/>
            <p:nvPr/>
          </p:nvSpPr>
          <p:spPr>
            <a:xfrm>
              <a:off x="3465576" y="2715768"/>
              <a:ext cx="1321308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 dirty="0">
                  <a:solidFill>
                    <a:srgbClr val="001408"/>
                  </a:solidFill>
                  <a:latin typeface="Calibri"/>
                </a:rPr>
                <a:t>Generative</a:t>
              </a:r>
            </a:p>
          </p:txBody>
        </p:sp>
        <p:sp>
          <p:nvSpPr>
            <p:cNvPr id="854" name="Seg Agentic"/>
            <p:cNvSpPr/>
            <p:nvPr/>
          </p:nvSpPr>
          <p:spPr>
            <a:xfrm>
              <a:off x="4786884" y="2404872"/>
              <a:ext cx="1046988" cy="274320"/>
            </a:xfrm>
            <a:prstGeom prst="rect">
              <a:avLst/>
            </a:prstGeom>
            <a:solidFill>
              <a:srgbClr val="0014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Seg Agentic n"/>
            <p:cNvSpPr txBox="1"/>
            <p:nvPr/>
          </p:nvSpPr>
          <p:spPr>
            <a:xfrm>
              <a:off x="4786884" y="2404872"/>
              <a:ext cx="1046988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50" b="1" i="0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pic>
          <p:nvPicPr>
            <p:cNvPr id="856" name="Icon FaRobot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05172" y="2734056"/>
              <a:ext cx="137160" cy="137160"/>
            </a:xfrm>
            <a:prstGeom prst="rect">
              <a:avLst/>
            </a:prstGeom>
          </p:spPr>
        </p:pic>
        <p:sp>
          <p:nvSpPr>
            <p:cNvPr id="857" name="Seg Agentic label"/>
            <p:cNvSpPr txBox="1"/>
            <p:nvPr/>
          </p:nvSpPr>
          <p:spPr>
            <a:xfrm>
              <a:off x="4969764" y="2715768"/>
              <a:ext cx="8915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Agentic</a:t>
              </a:r>
            </a:p>
          </p:txBody>
        </p:sp>
        <p:sp>
          <p:nvSpPr>
            <p:cNvPr id="858" name="UC examples"/>
            <p:cNvSpPr txBox="1"/>
            <p:nvPr/>
          </p:nvSpPr>
          <p:spPr>
            <a:xfrm>
              <a:off x="3282696" y="2953512"/>
              <a:ext cx="2578608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800" b="1" i="0">
                  <a:solidFill>
                    <a:srgbClr val="001408"/>
                  </a:solidFill>
                  <a:latin typeface="Calibri"/>
                </a:rPr>
                <a:t>Generative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copilot · credit memo · AML · knowledge</a:t>
              </a:r>
            </a:p>
            <a:p>
              <a:pPr algn="l">
                <a:spcAft>
                  <a:spcPts val="200"/>
                </a:spcAft>
              </a:pPr>
              <a:r>
                <a:rPr sz="800" b="1" i="0">
                  <a:solidFill>
                    <a:srgbClr val="001408"/>
                  </a:solidFill>
                  <a:latin typeface="Calibri"/>
                </a:rPr>
                <a:t>Agentic  </a:t>
              </a:r>
              <a:r>
                <a:rPr sz="800" b="0" i="0">
                  <a:solidFill>
                    <a:srgbClr val="4B5650"/>
                  </a:solidFill>
                  <a:latin typeface="Calibri"/>
                </a:rPr>
                <a:t>card-ops · KYC · collections · complaints</a:t>
              </a:r>
            </a:p>
          </p:txBody>
        </p:sp>
        <p:sp>
          <p:nvSpPr>
            <p:cNvPr id="859" name="Prod status"/>
            <p:cNvSpPr/>
            <p:nvPr/>
          </p:nvSpPr>
          <p:spPr>
            <a:xfrm>
              <a:off x="3282696" y="3392424"/>
              <a:ext cx="2578608" cy="402336"/>
            </a:xfrm>
            <a:prstGeom prst="roundRect">
              <a:avLst>
                <a:gd name="adj" fmla="val 8000"/>
              </a:avLst>
            </a:prstGeom>
            <a:solidFill>
              <a:srgbClr val="FBECE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0" name="Prod hero"/>
            <p:cNvSpPr txBox="1"/>
            <p:nvPr/>
          </p:nvSpPr>
          <p:spPr>
            <a:xfrm>
              <a:off x="3392424" y="3392424"/>
              <a:ext cx="1005840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700" b="1" i="0">
                  <a:solidFill>
                    <a:srgbClr val="C8553D"/>
                  </a:solidFill>
                  <a:latin typeface="Calibri"/>
                </a:rPr>
                <a:t>0 of 12</a:t>
              </a:r>
            </a:p>
          </p:txBody>
        </p:sp>
        <p:sp>
          <p:nvSpPr>
            <p:cNvPr id="861" name="Prod hero label"/>
            <p:cNvSpPr txBox="1"/>
            <p:nvPr/>
          </p:nvSpPr>
          <p:spPr>
            <a:xfrm>
              <a:off x="4398264" y="3392424"/>
              <a:ext cx="1371600" cy="40233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1" i="0">
                  <a:solidFill>
                    <a:srgbClr val="001408"/>
                  </a:solidFill>
                  <a:latin typeface="Calibri"/>
                </a:rPr>
                <a:t>production-ready today</a:t>
              </a:r>
            </a:p>
          </p:txBody>
        </p:sp>
      </p:grpSp>
      <p:grpSp>
        <p:nvGrpSpPr>
          <p:cNvPr id="4" name="Scene requirements"/>
          <p:cNvGrpSpPr/>
          <p:nvPr/>
        </p:nvGrpSpPr>
        <p:grpSpPr>
          <a:xfrm>
            <a:off x="6126480" y="960120"/>
            <a:ext cx="2724912" cy="2926080"/>
            <a:chOff x="6126480" y="960120"/>
            <a:chExt cx="2724912" cy="2926080"/>
          </a:xfrm>
        </p:grpSpPr>
        <p:sp>
          <p:nvSpPr>
            <p:cNvPr id="862" name="Req card"/>
            <p:cNvSpPr/>
            <p:nvPr/>
          </p:nvSpPr>
          <p:spPr>
            <a:xfrm>
              <a:off x="6126480" y="960120"/>
              <a:ext cx="2560320" cy="29260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3D9CC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3" name="Step 3"/>
            <p:cNvSpPr/>
            <p:nvPr/>
          </p:nvSpPr>
          <p:spPr>
            <a:xfrm>
              <a:off x="6254496" y="1051560"/>
              <a:ext cx="237744" cy="237744"/>
            </a:xfrm>
            <a:prstGeom prst="ellipse">
              <a:avLst/>
            </a:prstGeom>
            <a:solidFill>
              <a:srgbClr val="CCFF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4" name="Step 3 number"/>
            <p:cNvSpPr txBox="1"/>
            <p:nvPr/>
          </p:nvSpPr>
          <p:spPr>
            <a:xfrm>
              <a:off x="6254496" y="1051560"/>
              <a:ext cx="237744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001408"/>
                  </a:solidFill>
                  <a:latin typeface="Calibri"/>
                </a:rPr>
                <a:t>3</a:t>
              </a:r>
            </a:p>
          </p:txBody>
        </p:sp>
        <p:sp>
          <p:nvSpPr>
            <p:cNvPr id="865" name="Step 3 label"/>
            <p:cNvSpPr txBox="1"/>
            <p:nvPr/>
          </p:nvSpPr>
          <p:spPr>
            <a:xfrm>
              <a:off x="6565392" y="1051560"/>
              <a:ext cx="228600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100" b="1" i="0">
                  <a:solidFill>
                    <a:srgbClr val="4A8500"/>
                  </a:solidFill>
                  <a:latin typeface="Calibri"/>
                </a:rPr>
                <a:t>WHAT PRODUCTION REQUIRES</a:t>
              </a:r>
            </a:p>
          </p:txBody>
        </p:sp>
        <p:sp>
          <p:nvSpPr>
            <p:cNvPr id="866" name="Req Connectivity &amp; traffic"/>
            <p:cNvSpPr/>
            <p:nvPr/>
          </p:nvSpPr>
          <p:spPr>
            <a:xfrm>
              <a:off x="6254496" y="13807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67" name="Icon FaRoute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27648" y="1490472"/>
              <a:ext cx="164592" cy="164592"/>
            </a:xfrm>
            <a:prstGeom prst="rect">
              <a:avLst/>
            </a:prstGeom>
          </p:spPr>
        </p:pic>
        <p:sp>
          <p:nvSpPr>
            <p:cNvPr id="868" name="Req Connectivity &amp; traffic label"/>
            <p:cNvSpPr txBox="1"/>
            <p:nvPr/>
          </p:nvSpPr>
          <p:spPr>
            <a:xfrm>
              <a:off x="6547104" y="13807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Connectivity &amp; traffic</a:t>
              </a:r>
            </a:p>
          </p:txBody>
        </p:sp>
        <p:sp>
          <p:nvSpPr>
            <p:cNvPr id="869" name="Req Security &amp; identity"/>
            <p:cNvSpPr/>
            <p:nvPr/>
          </p:nvSpPr>
          <p:spPr>
            <a:xfrm>
              <a:off x="7434071" y="13807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0" name="Icon FaLock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507223" y="1490472"/>
              <a:ext cx="164592" cy="164592"/>
            </a:xfrm>
            <a:prstGeom prst="rect">
              <a:avLst/>
            </a:prstGeom>
          </p:spPr>
        </p:pic>
        <p:sp>
          <p:nvSpPr>
            <p:cNvPr id="871" name="Req Security &amp; identity label"/>
            <p:cNvSpPr txBox="1"/>
            <p:nvPr/>
          </p:nvSpPr>
          <p:spPr>
            <a:xfrm>
              <a:off x="7726679" y="13807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Security &amp; identity</a:t>
              </a:r>
            </a:p>
          </p:txBody>
        </p:sp>
        <p:sp>
          <p:nvSpPr>
            <p:cNvPr id="872" name="Req Model output"/>
            <p:cNvSpPr/>
            <p:nvPr/>
          </p:nvSpPr>
          <p:spPr>
            <a:xfrm>
              <a:off x="6254496" y="1837943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3" name="Icon FaClipboardCheck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1947672"/>
              <a:ext cx="164592" cy="164592"/>
            </a:xfrm>
            <a:prstGeom prst="rect">
              <a:avLst/>
            </a:prstGeom>
          </p:spPr>
        </p:pic>
        <p:sp>
          <p:nvSpPr>
            <p:cNvPr id="874" name="Req Model output label"/>
            <p:cNvSpPr txBox="1"/>
            <p:nvPr/>
          </p:nvSpPr>
          <p:spPr>
            <a:xfrm>
              <a:off x="6547104" y="1837943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Model output</a:t>
              </a:r>
            </a:p>
          </p:txBody>
        </p:sp>
        <p:sp>
          <p:nvSpPr>
            <p:cNvPr id="875" name="Req Risk &amp; compliance"/>
            <p:cNvSpPr/>
            <p:nvPr/>
          </p:nvSpPr>
          <p:spPr>
            <a:xfrm>
              <a:off x="7434071" y="1837943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6" name="Icon FaUserShield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07223" y="1947672"/>
              <a:ext cx="164592" cy="164592"/>
            </a:xfrm>
            <a:prstGeom prst="rect">
              <a:avLst/>
            </a:prstGeom>
          </p:spPr>
        </p:pic>
        <p:sp>
          <p:nvSpPr>
            <p:cNvPr id="877" name="Req Risk &amp; compliance label"/>
            <p:cNvSpPr txBox="1"/>
            <p:nvPr/>
          </p:nvSpPr>
          <p:spPr>
            <a:xfrm>
              <a:off x="7726679" y="1837943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Risk &amp; compliance</a:t>
              </a:r>
            </a:p>
          </p:txBody>
        </p:sp>
        <p:sp>
          <p:nvSpPr>
            <p:cNvPr id="878" name="Req Tokenomics"/>
            <p:cNvSpPr/>
            <p:nvPr/>
          </p:nvSpPr>
          <p:spPr>
            <a:xfrm>
              <a:off x="6254496" y="22951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79" name="Icon FaCoins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27648" y="2404872"/>
              <a:ext cx="164592" cy="164592"/>
            </a:xfrm>
            <a:prstGeom prst="rect">
              <a:avLst/>
            </a:prstGeom>
          </p:spPr>
        </p:pic>
        <p:sp>
          <p:nvSpPr>
            <p:cNvPr id="880" name="Req Tokenomics label"/>
            <p:cNvSpPr txBox="1"/>
            <p:nvPr/>
          </p:nvSpPr>
          <p:spPr>
            <a:xfrm>
              <a:off x="6547104" y="22951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Tokenomics</a:t>
              </a:r>
            </a:p>
          </p:txBody>
        </p:sp>
        <p:sp>
          <p:nvSpPr>
            <p:cNvPr id="881" name="Req Observability"/>
            <p:cNvSpPr/>
            <p:nvPr/>
          </p:nvSpPr>
          <p:spPr>
            <a:xfrm>
              <a:off x="7434071" y="22951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2" name="Icon FaChartBar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507223" y="2404872"/>
              <a:ext cx="164592" cy="164592"/>
            </a:xfrm>
            <a:prstGeom prst="rect">
              <a:avLst/>
            </a:prstGeom>
          </p:spPr>
        </p:pic>
        <p:sp>
          <p:nvSpPr>
            <p:cNvPr id="883" name="Req Observability label"/>
            <p:cNvSpPr txBox="1"/>
            <p:nvPr/>
          </p:nvSpPr>
          <p:spPr>
            <a:xfrm>
              <a:off x="7726679" y="22951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Observability</a:t>
              </a:r>
            </a:p>
          </p:txBody>
        </p:sp>
        <p:sp>
          <p:nvSpPr>
            <p:cNvPr id="884" name="Req Integration"/>
            <p:cNvSpPr/>
            <p:nvPr/>
          </p:nvSpPr>
          <p:spPr>
            <a:xfrm>
              <a:off x="6254496" y="27523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5" name="Icon FaPuzzlePiece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327648" y="2862072"/>
              <a:ext cx="164592" cy="164592"/>
            </a:xfrm>
            <a:prstGeom prst="rect">
              <a:avLst/>
            </a:prstGeom>
          </p:spPr>
        </p:pic>
        <p:sp>
          <p:nvSpPr>
            <p:cNvPr id="886" name="Req Integration label"/>
            <p:cNvSpPr txBox="1"/>
            <p:nvPr/>
          </p:nvSpPr>
          <p:spPr>
            <a:xfrm>
              <a:off x="6547104" y="27523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Integration</a:t>
              </a:r>
            </a:p>
          </p:txBody>
        </p:sp>
        <p:sp>
          <p:nvSpPr>
            <p:cNvPr id="887" name="Req Resilience &amp; DR"/>
            <p:cNvSpPr/>
            <p:nvPr/>
          </p:nvSpPr>
          <p:spPr>
            <a:xfrm>
              <a:off x="7434071" y="2752344"/>
              <a:ext cx="1124712" cy="384048"/>
            </a:xfrm>
            <a:prstGeom prst="roundRect">
              <a:avLst>
                <a:gd name="adj" fmla="val 12000"/>
              </a:avLst>
            </a:prstGeom>
            <a:solidFill>
              <a:srgbClr val="F3F5F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88" name="Icon FaServer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07223" y="2862072"/>
              <a:ext cx="164592" cy="164592"/>
            </a:xfrm>
            <a:prstGeom prst="rect">
              <a:avLst/>
            </a:prstGeom>
          </p:spPr>
        </p:pic>
        <p:sp>
          <p:nvSpPr>
            <p:cNvPr id="889" name="Req Resilience &amp; DR label"/>
            <p:cNvSpPr txBox="1"/>
            <p:nvPr/>
          </p:nvSpPr>
          <p:spPr>
            <a:xfrm>
              <a:off x="7726679" y="2752344"/>
              <a:ext cx="80467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i="0">
                  <a:solidFill>
                    <a:srgbClr val="001408"/>
                  </a:solidFill>
                  <a:latin typeface="Calibri"/>
                </a:rPr>
                <a:t>Resilience &amp; DR</a:t>
              </a:r>
            </a:p>
          </p:txBody>
        </p:sp>
        <p:sp>
          <p:nvSpPr>
            <p:cNvPr id="890" name="Req note"/>
            <p:cNvSpPr txBox="1"/>
            <p:nvPr/>
          </p:nvSpPr>
          <p:spPr>
            <a:xfrm>
              <a:off x="6254496" y="3246120"/>
              <a:ext cx="2304287" cy="5120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i="1">
                  <a:solidFill>
                    <a:srgbClr val="4B5650"/>
                  </a:solidFill>
                  <a:latin typeface="Calibri"/>
                </a:rPr>
                <a:t>Required for every generative and agentic use case before a regulated bank can run it in production.</a:t>
              </a:r>
            </a:p>
          </p:txBody>
        </p:sp>
      </p:grpSp>
      <p:grpSp>
        <p:nvGrpSpPr>
          <p:cNvPr id="5" name="Scene goal"/>
          <p:cNvGrpSpPr/>
          <p:nvPr/>
        </p:nvGrpSpPr>
        <p:grpSpPr>
          <a:xfrm>
            <a:off x="457200" y="3986784"/>
            <a:ext cx="8229600" cy="640080"/>
            <a:chOff x="457200" y="3986784"/>
            <a:chExt cx="8229600" cy="640080"/>
          </a:xfrm>
          <a:solidFill>
            <a:schemeClr val="bg2"/>
          </a:solidFill>
        </p:grpSpPr>
        <p:sp>
          <p:nvSpPr>
            <p:cNvPr id="891" name="Goal band"/>
            <p:cNvSpPr/>
            <p:nvPr/>
          </p:nvSpPr>
          <p:spPr>
            <a:xfrm>
              <a:off x="457200" y="3986784"/>
              <a:ext cx="8229600" cy="640080"/>
            </a:xfrm>
            <a:prstGeom prst="roundRect">
              <a:avLst>
                <a:gd name="adj" fmla="val 8000"/>
              </a:avLst>
            </a:prstGeom>
            <a:grpFill/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2" name="Goal badge"/>
            <p:cNvSpPr/>
            <p:nvPr/>
          </p:nvSpPr>
          <p:spPr>
            <a:xfrm>
              <a:off x="603504" y="4114800"/>
              <a:ext cx="384048" cy="384048"/>
            </a:xfrm>
            <a:prstGeom prst="ellipse">
              <a:avLst/>
            </a:prstGeom>
            <a:grpFill/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pic>
          <p:nvPicPr>
            <p:cNvPr id="893" name="Icon FaBullseye" descr="imag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76656" y="4187952"/>
              <a:ext cx="237744" cy="237744"/>
            </a:xfrm>
            <a:prstGeom prst="rect">
              <a:avLst/>
            </a:prstGeom>
            <a:grpFill/>
          </p:spPr>
        </p:pic>
        <p:sp>
          <p:nvSpPr>
            <p:cNvPr id="894" name="Goal label"/>
            <p:cNvSpPr txBox="1"/>
            <p:nvPr/>
          </p:nvSpPr>
          <p:spPr>
            <a:xfrm>
              <a:off x="1115568" y="4023360"/>
              <a:ext cx="1463040" cy="164592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i="0">
                  <a:solidFill>
                    <a:srgbClr val="CCFF00"/>
                  </a:solidFill>
                  <a:latin typeface="Calibri"/>
                </a:rPr>
                <a:t>4   TODAY’S GOAL</a:t>
              </a:r>
            </a:p>
          </p:txBody>
        </p:sp>
        <p:sp>
          <p:nvSpPr>
            <p:cNvPr id="895" name="Goal text"/>
            <p:cNvSpPr txBox="1"/>
            <p:nvPr/>
          </p:nvSpPr>
          <p:spPr>
            <a:xfrm>
              <a:off x="1115568" y="4187952"/>
              <a:ext cx="7406640" cy="402336"/>
            </a:xfrm>
            <a:prstGeom prst="rect">
              <a:avLst/>
            </a:prstGeom>
            <a:grp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Calibri"/>
                </a:rPr>
                <a:t>Show why the AI connectivity, security and observability layer is </a:t>
              </a:r>
              <a:r>
                <a:rPr sz="1200" b="1" i="0">
                  <a:solidFill>
                    <a:srgbClr val="CCFF00"/>
                  </a:solidFill>
                  <a:latin typeface="Calibri"/>
                </a:rPr>
                <a:t>a must-have</a:t>
              </a:r>
              <a:r>
                <a:rPr sz="1200" b="1" i="0">
                  <a:solidFill>
                    <a:srgbClr val="FFFFFF"/>
                  </a:solidFill>
                  <a:latin typeface="Calibri"/>
                </a:rPr>
                <a:t> in GNB’s AI strategy, and how Kong meets the platform requirements to move generative and agentic use cases </a:t>
              </a:r>
              <a:r>
                <a:rPr sz="1200" b="1" i="0">
                  <a:solidFill>
                    <a:srgbClr val="CCFF00"/>
                  </a:solidFill>
                  <a:latin typeface="Calibri"/>
                </a:rPr>
                <a:t>into production</a:t>
              </a:r>
              <a:r>
                <a:rPr sz="1200" b="1" i="0">
                  <a:solidFill>
                    <a:srgbClr val="FFFFFF"/>
                  </a:solidFill>
                  <a:latin typeface="Calibri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2252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g Theme 2026 [dark]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CCFF00"/>
      </a:hlink>
      <a:folHlink>
        <a:srgbClr val="0097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g Light">
  <a:themeElements>
    <a:clrScheme name="Kong Light">
      <a:dk1>
        <a:srgbClr val="001408"/>
      </a:dk1>
      <a:lt1>
        <a:srgbClr val="FFFFFF"/>
      </a:lt1>
      <a:dk2>
        <a:srgbClr val="4B5650"/>
      </a:dk2>
      <a:lt2>
        <a:srgbClr val="F3F5F0"/>
      </a:lt2>
      <a:accent1>
        <a:srgbClr val="CCFF00"/>
      </a:accent1>
      <a:accent2>
        <a:srgbClr val="4A8500"/>
      </a:accent2>
      <a:accent3>
        <a:srgbClr val="001408"/>
      </a:accent3>
      <a:accent4>
        <a:srgbClr val="DEFF9A"/>
      </a:accent4>
      <a:accent5>
        <a:srgbClr val="4CDC8B"/>
      </a:accent5>
      <a:accent6>
        <a:srgbClr val="4C7FDC"/>
      </a:accent6>
      <a:hlink>
        <a:srgbClr val="4A8500"/>
      </a:hlink>
      <a:folHlink>
        <a:srgbClr val="0097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12467</Words>
  <Application>Microsoft Macintosh PowerPoint</Application>
  <PresentationFormat>On-screen Show (16:9)</PresentationFormat>
  <Paragraphs>1429</Paragraphs>
  <Slides>29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Urbanist</vt:lpstr>
      <vt:lpstr>Space Grotesk</vt:lpstr>
      <vt:lpstr>Arial</vt:lpstr>
      <vt:lpstr>Calibri</vt:lpstr>
      <vt:lpstr>Roboto</vt:lpstr>
      <vt:lpstr>Consolas</vt:lpstr>
      <vt:lpstr>Space Grotesk Medium</vt:lpstr>
      <vt:lpstr>Simple Light</vt:lpstr>
      <vt:lpstr>Kong Theme 2026 [dark]</vt:lpstr>
      <vt:lpstr>Kong Light</vt:lpstr>
      <vt:lpstr>From AI factory to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Saadallah Chebaro</cp:lastModifiedBy>
  <cp:revision>26</cp:revision>
  <dcterms:modified xsi:type="dcterms:W3CDTF">2026-10-29T07:50:55Z</dcterms:modified>
</cp:coreProperties>
</file>